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76" r:id="rId3"/>
    <p:sldId id="277" r:id="rId4"/>
    <p:sldId id="278" r:id="rId5"/>
    <p:sldId id="280" r:id="rId6"/>
    <p:sldId id="281" r:id="rId7"/>
    <p:sldId id="274" r:id="rId8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Poppins" panose="020B0502040204020203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756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06318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6122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3363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8162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5865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5543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0990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394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0" y="3808654"/>
            <a:ext cx="18288000" cy="3915789"/>
          </a:xfrm>
          <a:prstGeom prst="rect">
            <a:avLst/>
          </a:prstGeom>
          <a:solidFill>
            <a:srgbClr val="3B5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237694" y="7976879"/>
            <a:ext cx="7481936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Dariel Enmanuel Cabrera  López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030638" y="4993868"/>
            <a:ext cx="9712800" cy="1545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42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MoreCoast</a:t>
            </a:r>
            <a:endParaRPr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579" y="4191113"/>
            <a:ext cx="2300773" cy="23481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0"/>
            <a:ext cx="1028700" cy="10287000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463783" y="0"/>
            <a:ext cx="7670326" cy="2424691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904862" y="535300"/>
            <a:ext cx="6788168" cy="135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  <a:endParaRPr dirty="0"/>
          </a:p>
        </p:txBody>
      </p:sp>
      <p:sp>
        <p:nvSpPr>
          <p:cNvPr id="153" name="Google Shape;153;p19"/>
          <p:cNvSpPr txBox="1"/>
          <p:nvPr/>
        </p:nvSpPr>
        <p:spPr>
          <a:xfrm>
            <a:off x="1243227" y="2420624"/>
            <a:ext cx="16712263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sz="4800" dirty="0"/>
              <a:t>-</a:t>
            </a:r>
            <a:r>
              <a:rPr lang="es-ES" sz="4800" dirty="0" err="1"/>
              <a:t>Login</a:t>
            </a:r>
            <a:r>
              <a:rPr lang="es-ES" sz="4800" dirty="0"/>
              <a:t> y Autenticación al 80 %</a:t>
            </a:r>
          </a:p>
          <a:p>
            <a:r>
              <a:rPr lang="es-ES" sz="4800" dirty="0"/>
              <a:t>-Módulo de Cálculo al 95 %</a:t>
            </a:r>
          </a:p>
          <a:p>
            <a:r>
              <a:rPr lang="es-ES" sz="4800" dirty="0"/>
              <a:t>-Módulo de Usuario al 80%</a:t>
            </a:r>
          </a:p>
          <a:p>
            <a:r>
              <a:rPr lang="es-ES" sz="4800" dirty="0"/>
              <a:t>-Módulo de trazas al 95 %</a:t>
            </a:r>
          </a:p>
          <a:p>
            <a:r>
              <a:rPr lang="es-ES" sz="4800" dirty="0"/>
              <a:t>-Reportes y Búsqueda al 10 %</a:t>
            </a:r>
          </a:p>
          <a:p>
            <a:pPr marL="685800" indent="-685800">
              <a:buFontTx/>
              <a:buChar char="-"/>
            </a:pPr>
            <a:r>
              <a:rPr lang="es-ES" sz="4800" dirty="0"/>
              <a:t>Microservicios al 0%</a:t>
            </a:r>
          </a:p>
          <a:p>
            <a:pPr marL="685800" indent="-685800">
              <a:buFontTx/>
              <a:buChar char="-"/>
            </a:pPr>
            <a:r>
              <a:rPr lang="es-ES" sz="4800" dirty="0"/>
              <a:t>Inicio al 0%</a:t>
            </a:r>
          </a:p>
        </p:txBody>
      </p:sp>
    </p:spTree>
    <p:extLst>
      <p:ext uri="{BB962C8B-B14F-4D97-AF65-F5344CB8AC3E}">
        <p14:creationId xmlns:p14="http://schemas.microsoft.com/office/powerpoint/2010/main" val="154497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0"/>
            <a:ext cx="1028700" cy="10287000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463783" y="0"/>
            <a:ext cx="7670326" cy="2424691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904862" y="535300"/>
            <a:ext cx="6788168" cy="135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n-US" sz="7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7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Falta ?</a:t>
            </a:r>
            <a:endParaRPr dirty="0"/>
          </a:p>
        </p:txBody>
      </p:sp>
      <p:sp>
        <p:nvSpPr>
          <p:cNvPr id="153" name="Google Shape;153;p19"/>
          <p:cNvSpPr txBox="1"/>
          <p:nvPr/>
        </p:nvSpPr>
        <p:spPr>
          <a:xfrm>
            <a:off x="1243227" y="2420624"/>
            <a:ext cx="16712263" cy="738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sz="4800" dirty="0"/>
              <a:t>-Implementación en la seguridad para que el usuario se autentique según su rol (Administrador o Trabajador)</a:t>
            </a:r>
          </a:p>
          <a:p>
            <a:r>
              <a:rPr lang="es-ES" sz="4800" dirty="0"/>
              <a:t>-En la Gestión de Ubicación mejora en la interfaz para que se muestren la lista de áreas, los cálculos asociados a esa área, la eliminación y edición del área trazada</a:t>
            </a:r>
          </a:p>
          <a:p>
            <a:r>
              <a:rPr lang="es-ES" sz="4800" dirty="0"/>
              <a:t>- En los reportes estadísticos que se muestren gráficos y se pueden exportar(Excel o PDF). Además de poder exportar los datos según el módulo y la búsqueda a  través de filtros</a:t>
            </a:r>
          </a:p>
          <a:p>
            <a:pPr marL="685800" indent="-685800">
              <a:buFontTx/>
              <a:buChar char="-"/>
            </a:pPr>
            <a:r>
              <a:rPr lang="es-ES" sz="4800" dirty="0"/>
              <a:t>Que el sistema haga copias de seguridad </a:t>
            </a:r>
          </a:p>
          <a:p>
            <a:pPr marL="685800" indent="-685800">
              <a:buFontTx/>
              <a:buChar char="-"/>
            </a:pPr>
            <a:r>
              <a:rPr lang="es-ES" sz="4800" dirty="0"/>
              <a:t>Microservicios.</a:t>
            </a:r>
          </a:p>
        </p:txBody>
      </p:sp>
    </p:spTree>
    <p:extLst>
      <p:ext uri="{BB962C8B-B14F-4D97-AF65-F5344CB8AC3E}">
        <p14:creationId xmlns:p14="http://schemas.microsoft.com/office/powerpoint/2010/main" val="232380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0"/>
            <a:ext cx="1028700" cy="10287000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463783" y="0"/>
            <a:ext cx="7670326" cy="2424691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904862" y="535300"/>
            <a:ext cx="6788168" cy="135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n-US" sz="7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7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Falta ?</a:t>
            </a:r>
            <a:endParaRPr dirty="0"/>
          </a:p>
        </p:txBody>
      </p:sp>
      <p:sp>
        <p:nvSpPr>
          <p:cNvPr id="153" name="Google Shape;153;p19"/>
          <p:cNvSpPr txBox="1"/>
          <p:nvPr/>
        </p:nvSpPr>
        <p:spPr>
          <a:xfrm>
            <a:off x="1243227" y="2420624"/>
            <a:ext cx="1671226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sz="4800" dirty="0"/>
              <a:t>-Inicio. ¿Qué información va brindar el sistema?</a:t>
            </a:r>
          </a:p>
          <a:p>
            <a:endParaRPr lang="es-ES" sz="4800" dirty="0"/>
          </a:p>
        </p:txBody>
      </p:sp>
    </p:spTree>
    <p:extLst>
      <p:ext uri="{BB962C8B-B14F-4D97-AF65-F5344CB8AC3E}">
        <p14:creationId xmlns:p14="http://schemas.microsoft.com/office/powerpoint/2010/main" val="372812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0"/>
            <a:ext cx="1028700" cy="10287000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463783" y="0"/>
            <a:ext cx="7670326" cy="2424691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904862" y="535300"/>
            <a:ext cx="6788168" cy="135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dirty="0" err="1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Validaciones</a:t>
            </a:r>
            <a:endParaRPr dirty="0"/>
          </a:p>
        </p:txBody>
      </p:sp>
      <p:sp>
        <p:nvSpPr>
          <p:cNvPr id="153" name="Google Shape;153;p19"/>
          <p:cNvSpPr txBox="1"/>
          <p:nvPr/>
        </p:nvSpPr>
        <p:spPr>
          <a:xfrm>
            <a:off x="1087363" y="2424691"/>
            <a:ext cx="16712263" cy="794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{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label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"Densidad del sedimento (</a:t>
            </a:r>
            <a:r>
              <a:rPr lang="el-GR" sz="3600" b="0" dirty="0">
                <a:solidFill>
                  <a:schemeClr val="tx1"/>
                </a:solidFill>
                <a:effectLst/>
                <a:latin typeface="+mj-lt"/>
              </a:rPr>
              <a:t>ρ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s) [kg/m³]",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name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densidad_a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", min: 1000,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max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3000 },</a:t>
            </a:r>
          </a:p>
          <a:p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            {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label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"Densidad del Mar (</a:t>
            </a:r>
            <a:r>
              <a:rPr lang="el-GR" sz="3600" b="0" dirty="0">
                <a:solidFill>
                  <a:schemeClr val="tx1"/>
                </a:solidFill>
                <a:effectLst/>
                <a:latin typeface="+mj-lt"/>
              </a:rPr>
              <a:t>ρ) [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kg/m³]",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name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densidad_m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", min: 9</a:t>
            </a:r>
            <a:r>
              <a:rPr lang="es-ES" sz="3600" dirty="0">
                <a:solidFill>
                  <a:schemeClr val="tx1"/>
                </a:solidFill>
                <a:latin typeface="+mj-lt"/>
              </a:rPr>
              <a:t>00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max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1500 },</a:t>
            </a:r>
          </a:p>
          <a:p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            {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label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"Coeficiente de Porosidad (n) ",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name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"coeficiente", min: 0,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max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1, step: 0.01 },</a:t>
            </a:r>
          </a:p>
          <a:p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            {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label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"Índice de Rompiente (k) ",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name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indice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", min: 0, max:2, step: 0.01 },</a:t>
            </a:r>
          </a:p>
          <a:p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            {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label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"Altura (Hb) [m]",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name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"altura", min: 0.1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max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 20 },</a:t>
            </a:r>
          </a:p>
          <a:p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            {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label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"Ángulo (</a:t>
            </a:r>
            <a:r>
              <a:rPr lang="el-GR" sz="3600" b="0" dirty="0">
                <a:solidFill>
                  <a:schemeClr val="tx1"/>
                </a:solidFill>
                <a:effectLst/>
                <a:latin typeface="+mj-lt"/>
              </a:rPr>
              <a:t>α) [°]",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name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angulo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", min: 0,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max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lang="es-ES" sz="3600" dirty="0">
                <a:solidFill>
                  <a:schemeClr val="tx1"/>
                </a:solidFill>
                <a:latin typeface="+mj-lt"/>
              </a:rPr>
              <a:t>180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 },</a:t>
            </a:r>
          </a:p>
          <a:p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            {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label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"Aceleración de la Gravedad (g) [m/s²]",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name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aceleracion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", min: 9.70,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max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9.90 },</a:t>
            </a:r>
          </a:p>
          <a:p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            {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label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"Medición Práctica (P) [m³]", </a:t>
            </a:r>
            <a:r>
              <a:rPr lang="es-ES" sz="3600" b="0" dirty="0" err="1">
                <a:solidFill>
                  <a:schemeClr val="tx1"/>
                </a:solidFill>
                <a:effectLst/>
                <a:latin typeface="+mj-lt"/>
              </a:rPr>
              <a:t>name</a:t>
            </a:r>
            <a:r>
              <a:rPr lang="es-ES" sz="3600" b="0" dirty="0">
                <a:solidFill>
                  <a:schemeClr val="tx1"/>
                </a:solidFill>
                <a:effectLst/>
                <a:latin typeface="+mj-lt"/>
              </a:rPr>
              <a:t>: "P", min: 0 },</a:t>
            </a:r>
          </a:p>
          <a:p>
            <a:endParaRPr lang="es-ES" sz="4800" dirty="0"/>
          </a:p>
        </p:txBody>
      </p:sp>
    </p:spTree>
    <p:extLst>
      <p:ext uri="{BB962C8B-B14F-4D97-AF65-F5344CB8AC3E}">
        <p14:creationId xmlns:p14="http://schemas.microsoft.com/office/powerpoint/2010/main" val="3879228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0"/>
            <a:ext cx="1028700" cy="10287000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403273" y="1"/>
            <a:ext cx="7730836" cy="1787236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749916" y="27781"/>
            <a:ext cx="6788168" cy="135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Ecuación</a:t>
            </a:r>
            <a:endParaRPr dirty="0"/>
          </a:p>
        </p:txBody>
      </p:sp>
      <p:sp>
        <p:nvSpPr>
          <p:cNvPr id="153" name="Google Shape;153;p19"/>
          <p:cNvSpPr txBox="1"/>
          <p:nvPr/>
        </p:nvSpPr>
        <p:spPr>
          <a:xfrm>
            <a:off x="1215736" y="1517249"/>
            <a:ext cx="17778845" cy="102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try {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const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N =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densidad_a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*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Math.sqrt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aceleracion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const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D = 16 *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Math.sqrt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indice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) * (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densidad_a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densidad_m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) * (1 - coeficiente);</a:t>
            </a:r>
          </a:p>
          <a:p>
            <a:br>
              <a:rPr lang="es-ES" sz="2400" b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if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(D === 0) {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throw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new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HttpException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('División por cero no permitida',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HttpStatus.BAD_REQUEST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}</a:t>
            </a:r>
          </a:p>
          <a:p>
            <a:br>
              <a:rPr lang="es-ES" sz="2400" b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const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alturaPotencia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Math.pow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(altura, 5);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const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seno =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Math.sin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(2 *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angulo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br>
              <a:rPr lang="es-ES" sz="2400" b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const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Q = (N / D) *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Math.sqrt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alturaPotencia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) * seno;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if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isNaN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(Q)) {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throw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new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HttpException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('Resultado no es un número válido',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HttpStatus.BAD_REQUEST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    }</a:t>
            </a:r>
          </a:p>
          <a:p>
            <a:br>
              <a:rPr lang="es-ES" sz="2400" b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return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Q;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  } catch (error) {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if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(error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instanceof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HttpException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) {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throw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error;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    }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   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throw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 new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HttpException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('Error en el cálculo', </a:t>
            </a:r>
            <a:r>
              <a:rPr lang="es-ES" sz="2400" b="0" dirty="0" err="1">
                <a:solidFill>
                  <a:schemeClr val="tx1"/>
                </a:solidFill>
                <a:effectLst/>
                <a:latin typeface="+mn-lt"/>
              </a:rPr>
              <a:t>HttpStatus.INTERNAL_SERVER_ERROR</a:t>
            </a:r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r>
              <a:rPr lang="es-ES" sz="2400" b="0" dirty="0">
                <a:solidFill>
                  <a:schemeClr val="tx1"/>
                </a:solidFill>
                <a:effectLst/>
                <a:latin typeface="+mn-lt"/>
              </a:rPr>
              <a:t>        }</a:t>
            </a:r>
          </a:p>
          <a:p>
            <a:r>
              <a:rPr lang="es-E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s-ES" sz="4800" dirty="0"/>
          </a:p>
        </p:txBody>
      </p:sp>
    </p:spTree>
    <p:extLst>
      <p:ext uri="{BB962C8B-B14F-4D97-AF65-F5344CB8AC3E}">
        <p14:creationId xmlns:p14="http://schemas.microsoft.com/office/powerpoint/2010/main" val="169455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/>
          <p:nvPr/>
        </p:nvSpPr>
        <p:spPr>
          <a:xfrm>
            <a:off x="0" y="-103451"/>
            <a:ext cx="8529633" cy="10493903"/>
          </a:xfrm>
          <a:prstGeom prst="rect">
            <a:avLst/>
          </a:prstGeom>
          <a:gradFill>
            <a:gsLst>
              <a:gs pos="0">
                <a:srgbClr val="14C5C3"/>
              </a:gs>
              <a:gs pos="100000">
                <a:srgbClr val="4E7AD9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5"/>
          <p:cNvSpPr txBox="1"/>
          <p:nvPr/>
        </p:nvSpPr>
        <p:spPr>
          <a:xfrm>
            <a:off x="8749553" y="1884979"/>
            <a:ext cx="9538447" cy="357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sz="4800" dirty="0"/>
              <a:t>Si todo esto que te he dicho te parece interesante te invito que seas parte de esta investigación</a:t>
            </a:r>
          </a:p>
          <a:p>
            <a:endParaRPr lang="es-ES" sz="2800" dirty="0"/>
          </a:p>
          <a:p>
            <a:r>
              <a:rPr lang="es-ES" sz="6000" dirty="0" err="1">
                <a:solidFill>
                  <a:srgbClr val="0070C0"/>
                </a:solidFill>
              </a:rPr>
              <a:t>MoreCoasts</a:t>
            </a:r>
            <a:r>
              <a:rPr lang="es-ES" sz="6000">
                <a:solidFill>
                  <a:srgbClr val="0070C0"/>
                </a:solidFill>
              </a:rPr>
              <a:t> cuida </a:t>
            </a:r>
            <a:r>
              <a:rPr lang="es-ES" sz="6000" dirty="0">
                <a:solidFill>
                  <a:srgbClr val="0070C0"/>
                </a:solidFill>
              </a:rPr>
              <a:t>tu playa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207475"/>
            <a:ext cx="1834307" cy="1872050"/>
          </a:xfrm>
          <a:prstGeom prst="rect">
            <a:avLst/>
          </a:prstGeom>
        </p:spPr>
      </p:pic>
      <p:sp>
        <p:nvSpPr>
          <p:cNvPr id="7" name="Google Shape;88;p13"/>
          <p:cNvSpPr txBox="1"/>
          <p:nvPr/>
        </p:nvSpPr>
        <p:spPr>
          <a:xfrm>
            <a:off x="-2320422" y="4681835"/>
            <a:ext cx="9712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MoreCoast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3689913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811</Words>
  <Application>Microsoft Office PowerPoint</Application>
  <PresentationFormat>Personalizado</PresentationFormat>
  <Paragraphs>53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Poppins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Dariel Cabrera</cp:lastModifiedBy>
  <cp:revision>16</cp:revision>
  <dcterms:modified xsi:type="dcterms:W3CDTF">2025-05-12T17:24:06Z</dcterms:modified>
</cp:coreProperties>
</file>