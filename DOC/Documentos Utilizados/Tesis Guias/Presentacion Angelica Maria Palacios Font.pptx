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6" r:id="rId29"/>
    <p:sldId id="287" r:id="rId3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103045-1E19-44F4-9B97-D3FDE9565491}" type="datetimeFigureOut">
              <a:rPr lang="es-ES" smtClean="0"/>
              <a:t>18/11/2023</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AA600D-92C5-4AA6-82B8-4946BB5A7705}" type="slidenum">
              <a:rPr lang="es-ES" smtClean="0"/>
              <a:t>‹Nº›</a:t>
            </a:fld>
            <a:endParaRPr lang="es-ES"/>
          </a:p>
        </p:txBody>
      </p:sp>
    </p:spTree>
    <p:extLst>
      <p:ext uri="{BB962C8B-B14F-4D97-AF65-F5344CB8AC3E}">
        <p14:creationId xmlns:p14="http://schemas.microsoft.com/office/powerpoint/2010/main" val="3069668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D32D563-9025-492F-95A6-4524906F57BD}" type="slidenum">
              <a:rPr lang="es-CU" smtClean="0"/>
              <a:pPr/>
              <a:t>3</a:t>
            </a:fld>
            <a:endParaRPr lang="es-CU"/>
          </a:p>
        </p:txBody>
      </p:sp>
    </p:spTree>
    <p:extLst>
      <p:ext uri="{BB962C8B-B14F-4D97-AF65-F5344CB8AC3E}">
        <p14:creationId xmlns:p14="http://schemas.microsoft.com/office/powerpoint/2010/main" val="2615684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D32D563-9025-492F-95A6-4524906F57BD}" type="slidenum">
              <a:rPr lang="es-CU" smtClean="0"/>
              <a:pPr/>
              <a:t>4</a:t>
            </a:fld>
            <a:endParaRPr lang="es-CU"/>
          </a:p>
        </p:txBody>
      </p:sp>
    </p:spTree>
    <p:extLst>
      <p:ext uri="{BB962C8B-B14F-4D97-AF65-F5344CB8AC3E}">
        <p14:creationId xmlns:p14="http://schemas.microsoft.com/office/powerpoint/2010/main" val="4294447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D32D563-9025-492F-95A6-4524906F57BD}" type="slidenum">
              <a:rPr lang="es-CU" smtClean="0"/>
              <a:pPr/>
              <a:t>5</a:t>
            </a:fld>
            <a:endParaRPr lang="es-CU"/>
          </a:p>
        </p:txBody>
      </p:sp>
    </p:spTree>
    <p:extLst>
      <p:ext uri="{BB962C8B-B14F-4D97-AF65-F5344CB8AC3E}">
        <p14:creationId xmlns:p14="http://schemas.microsoft.com/office/powerpoint/2010/main" val="3086432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D32D563-9025-492F-95A6-4524906F57BD}" type="slidenum">
              <a:rPr lang="es-CU" smtClean="0"/>
              <a:pPr/>
              <a:t>6</a:t>
            </a:fld>
            <a:endParaRPr lang="es-CU"/>
          </a:p>
        </p:txBody>
      </p:sp>
    </p:spTree>
    <p:extLst>
      <p:ext uri="{BB962C8B-B14F-4D97-AF65-F5344CB8AC3E}">
        <p14:creationId xmlns:p14="http://schemas.microsoft.com/office/powerpoint/2010/main" val="4226171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ES"/>
          </a:p>
        </p:txBody>
      </p:sp>
      <p:sp>
        <p:nvSpPr>
          <p:cNvPr id="4" name="Marcador de fecha 3"/>
          <p:cNvSpPr>
            <a:spLocks noGrp="1"/>
          </p:cNvSpPr>
          <p:nvPr>
            <p:ph type="dt" sz="half" idx="10"/>
          </p:nvPr>
        </p:nvSpPr>
        <p:spPr/>
        <p:txBody>
          <a:bodyPr/>
          <a:lstStyle/>
          <a:p>
            <a:fld id="{F033ECC7-D781-4B5E-9C9F-C1DF4E8B0174}"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373091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033ECC7-D781-4B5E-9C9F-C1DF4E8B0174}"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262648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F033ECC7-D781-4B5E-9C9F-C1DF4E8B0174}"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1784839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F033ECC7-D781-4B5E-9C9F-C1DF4E8B0174}" type="datetimeFigureOut">
              <a:rPr lang="es-ES" smtClean="0"/>
              <a:t>18/11/2023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1940833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F033ECC7-D781-4B5E-9C9F-C1DF4E8B0174}" type="datetimeFigureOut">
              <a:rPr lang="es-ES" smtClean="0"/>
              <a:t>18/11/2023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315912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F033ECC7-D781-4B5E-9C9F-C1DF4E8B0174}" type="datetimeFigureOut">
              <a:rPr lang="es-ES" smtClean="0"/>
              <a:t>18/11/2023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416866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033ECC7-D781-4B5E-9C9F-C1DF4E8B0174}" type="datetimeFigureOut">
              <a:rPr lang="es-ES" smtClean="0"/>
              <a:t>18/11/2023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3344920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F033ECC7-D781-4B5E-9C9F-C1DF4E8B0174}" type="datetimeFigureOut">
              <a:rPr lang="es-ES" smtClean="0"/>
              <a:t>18/11/2023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1095063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F033ECC7-D781-4B5E-9C9F-C1DF4E8B0174}" type="datetimeFigureOut">
              <a:rPr lang="es-ES" smtClean="0"/>
              <a:t>18/11/2023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225192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033ECC7-D781-4B5E-9C9F-C1DF4E8B0174}"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3022950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033ECC7-D781-4B5E-9C9F-C1DF4E8B0174}"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F6E0733-77B8-4DC2-85FF-9D3FDF00463E}" type="slidenum">
              <a:rPr lang="es-ES" smtClean="0"/>
              <a:t>‹Nº›</a:t>
            </a:fld>
            <a:endParaRPr lang="es-ES"/>
          </a:p>
        </p:txBody>
      </p:sp>
    </p:spTree>
    <p:extLst>
      <p:ext uri="{BB962C8B-B14F-4D97-AF65-F5344CB8AC3E}">
        <p14:creationId xmlns:p14="http://schemas.microsoft.com/office/powerpoint/2010/main" val="3091363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33ECC7-D781-4B5E-9C9F-C1DF4E8B0174}" type="datetimeFigureOut">
              <a:rPr lang="es-ES" smtClean="0"/>
              <a:t>18/11/2023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6E0733-77B8-4DC2-85FF-9D3FDF00463E}" type="slidenum">
              <a:rPr lang="es-ES" smtClean="0"/>
              <a:t>‹Nº›</a:t>
            </a:fld>
            <a:endParaRPr lang="es-ES"/>
          </a:p>
        </p:txBody>
      </p:sp>
    </p:spTree>
    <p:extLst>
      <p:ext uri="{BB962C8B-B14F-4D97-AF65-F5344CB8AC3E}">
        <p14:creationId xmlns:p14="http://schemas.microsoft.com/office/powerpoint/2010/main" val="2474775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7.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1.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00" y="1518"/>
            <a:ext cx="4932040" cy="6857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CuadroTexto"/>
          <p:cNvSpPr txBox="1"/>
          <p:nvPr/>
        </p:nvSpPr>
        <p:spPr>
          <a:xfrm>
            <a:off x="5667372" y="3286124"/>
            <a:ext cx="5000628" cy="3046988"/>
          </a:xfrm>
          <a:prstGeom prst="rect">
            <a:avLst/>
          </a:prstGeom>
          <a:noFill/>
        </p:spPr>
        <p:txBody>
          <a:bodyPr wrap="square" rtlCol="0">
            <a:spAutoFit/>
          </a:bodyPr>
          <a:lstStyle/>
          <a:p>
            <a:endParaRPr lang="es-US" b="1" dirty="0">
              <a:latin typeface="Arial" panose="020B0604020202020204" pitchFamily="34" charset="0"/>
              <a:cs typeface="Arial" panose="020B0604020202020204" pitchFamily="34" charset="0"/>
            </a:endParaRPr>
          </a:p>
          <a:p>
            <a:r>
              <a:rPr lang="es-US" b="1" dirty="0" smtClean="0">
                <a:latin typeface="Arial" panose="020B0604020202020204" pitchFamily="34" charset="0"/>
                <a:cs typeface="Arial" panose="020B0604020202020204" pitchFamily="34" charset="0"/>
              </a:rPr>
              <a:t>Titulo: </a:t>
            </a:r>
            <a:r>
              <a:rPr lang="es-CU" b="1" dirty="0"/>
              <a:t>Aplicación </a:t>
            </a:r>
            <a:r>
              <a:rPr lang="es-CU" b="1" dirty="0" smtClean="0"/>
              <a:t>M</a:t>
            </a:r>
            <a:r>
              <a:rPr lang="es-ES" b="1" dirty="0" err="1" smtClean="0"/>
              <a:t>ó</a:t>
            </a:r>
            <a:r>
              <a:rPr lang="es-CU" b="1" dirty="0" smtClean="0"/>
              <a:t>vil </a:t>
            </a:r>
            <a:r>
              <a:rPr lang="es-CU" b="1" dirty="0"/>
              <a:t>para el desarrollo cognitivo en niños con TDAH: Un Enfoque a Través de Herramientas Interactivas.</a:t>
            </a:r>
            <a:endParaRPr lang="es-ES" dirty="0"/>
          </a:p>
          <a:p>
            <a:pPr algn="ctr"/>
            <a:endParaRPr lang="es-ES" b="1" dirty="0">
              <a:latin typeface="Arial" pitchFamily="34" charset="0"/>
              <a:cs typeface="Arial" pitchFamily="34" charset="0"/>
            </a:endParaRPr>
          </a:p>
          <a:p>
            <a:r>
              <a:rPr lang="es-US" b="1" dirty="0"/>
              <a:t>Autor: </a:t>
            </a:r>
            <a:r>
              <a:rPr lang="es-ES" b="1" dirty="0" smtClean="0"/>
              <a:t>Angelica María Palacios Font</a:t>
            </a:r>
            <a:endParaRPr lang="en-US" dirty="0"/>
          </a:p>
          <a:p>
            <a:r>
              <a:rPr lang="es-US" b="1" dirty="0"/>
              <a:t>Tutores:</a:t>
            </a:r>
            <a:r>
              <a:rPr lang="es-US" dirty="0"/>
              <a:t> </a:t>
            </a:r>
            <a:r>
              <a:rPr lang="es-US" b="1" dirty="0"/>
              <a:t>Dr.ª. Sonia Morejón Labrada</a:t>
            </a:r>
            <a:endParaRPr lang="en-US" dirty="0"/>
          </a:p>
          <a:p>
            <a:r>
              <a:rPr lang="es-US" b="1" dirty="0"/>
              <a:t>               Ing.</a:t>
            </a:r>
            <a:r>
              <a:rPr lang="es-US" dirty="0"/>
              <a:t> </a:t>
            </a:r>
            <a:r>
              <a:rPr lang="es-US" b="1" dirty="0"/>
              <a:t>Carlos Alberto Balbuena Peña</a:t>
            </a:r>
            <a:r>
              <a:rPr lang="es-US" dirty="0"/>
              <a:t>.</a:t>
            </a:r>
            <a:endParaRPr lang="en-US" dirty="0"/>
          </a:p>
          <a:p>
            <a:pPr algn="ctr"/>
            <a:endParaRPr lang="es-ES" sz="2000" dirty="0">
              <a:latin typeface="Arial" pitchFamily="34" charset="0"/>
              <a:cs typeface="Arial" pitchFamily="34" charset="0"/>
            </a:endParaRPr>
          </a:p>
          <a:p>
            <a:pPr algn="ctr"/>
            <a:endParaRPr lang="es-ES" sz="2800" dirty="0"/>
          </a:p>
        </p:txBody>
      </p:sp>
      <p:pic>
        <p:nvPicPr>
          <p:cNvPr id="4" name="Imagen 3">
            <a:extLst>
              <a:ext uri="{FF2B5EF4-FFF2-40B4-BE49-F238E27FC236}">
                <a16:creationId xmlns:a16="http://schemas.microsoft.com/office/drawing/2014/main" id="{F9426497-8D2A-465C-90A7-BE88633EC3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6132" y="142852"/>
            <a:ext cx="2357454" cy="1714512"/>
          </a:xfrm>
          <a:prstGeom prst="rect">
            <a:avLst/>
          </a:prstGeom>
        </p:spPr>
      </p:pic>
      <p:sp>
        <p:nvSpPr>
          <p:cNvPr id="9" name="7 CuadroTexto">
            <a:extLst>
              <a:ext uri="{FF2B5EF4-FFF2-40B4-BE49-F238E27FC236}">
                <a16:creationId xmlns:a16="http://schemas.microsoft.com/office/drawing/2014/main" id="{CAACE971-E2BD-4737-9C5A-C2515903FA95}"/>
              </a:ext>
            </a:extLst>
          </p:cNvPr>
          <p:cNvSpPr txBox="1"/>
          <p:nvPr/>
        </p:nvSpPr>
        <p:spPr>
          <a:xfrm>
            <a:off x="5951984" y="5877273"/>
            <a:ext cx="3818540" cy="1323439"/>
          </a:xfrm>
          <a:prstGeom prst="rect">
            <a:avLst/>
          </a:prstGeom>
          <a:noFill/>
        </p:spPr>
        <p:txBody>
          <a:bodyPr wrap="square" rtlCol="0">
            <a:spAutoFit/>
          </a:bodyPr>
          <a:lstStyle/>
          <a:p>
            <a:pPr algn="ctr"/>
            <a:r>
              <a:rPr lang="es-ES" sz="2000" dirty="0">
                <a:latin typeface="Arial" pitchFamily="34" charset="0"/>
                <a:cs typeface="Arial" pitchFamily="34" charset="0"/>
              </a:rPr>
              <a:t>Curso</a:t>
            </a:r>
            <a:r>
              <a:rPr lang="es-ES" sz="2000" b="1" dirty="0">
                <a:latin typeface="Arial" pitchFamily="34" charset="0"/>
                <a:cs typeface="Arial" pitchFamily="34" charset="0"/>
              </a:rPr>
              <a:t> </a:t>
            </a:r>
            <a:r>
              <a:rPr lang="es-ES" sz="2000" dirty="0" smtClean="0">
                <a:latin typeface="Arial" pitchFamily="34" charset="0"/>
                <a:cs typeface="Arial" pitchFamily="34" charset="0"/>
              </a:rPr>
              <a:t>2022-2023</a:t>
            </a:r>
            <a:endParaRPr lang="es-ES" sz="2000" dirty="0">
              <a:latin typeface="Arial" pitchFamily="34" charset="0"/>
              <a:cs typeface="Arial" pitchFamily="34" charset="0"/>
            </a:endParaRPr>
          </a:p>
          <a:p>
            <a:pPr algn="ctr"/>
            <a:r>
              <a:rPr lang="en-US" sz="2000" dirty="0">
                <a:latin typeface="Arial" pitchFamily="34" charset="0"/>
                <a:cs typeface="Arial" pitchFamily="34" charset="0"/>
              </a:rPr>
              <a:t>Santiago de Cuba</a:t>
            </a:r>
            <a:endParaRPr lang="es-ES" sz="2000" dirty="0">
              <a:latin typeface="Arial" pitchFamily="34" charset="0"/>
              <a:cs typeface="Arial" pitchFamily="34" charset="0"/>
            </a:endParaRPr>
          </a:p>
          <a:p>
            <a:pPr algn="ctr"/>
            <a:endParaRPr lang="es-ES" sz="2000" dirty="0">
              <a:latin typeface="Arial" pitchFamily="34" charset="0"/>
              <a:cs typeface="Arial" pitchFamily="34" charset="0"/>
            </a:endParaRPr>
          </a:p>
          <a:p>
            <a:pPr algn="ctr"/>
            <a:endParaRPr lang="es-ES" sz="2000" dirty="0">
              <a:latin typeface="Arial" pitchFamily="34" charset="0"/>
              <a:cs typeface="Arial" pitchFamily="34" charset="0"/>
            </a:endParaRPr>
          </a:p>
        </p:txBody>
      </p:sp>
      <p:sp>
        <p:nvSpPr>
          <p:cNvPr id="3" name="Marcador de número de diapositiva 2">
            <a:extLst>
              <a:ext uri="{FF2B5EF4-FFF2-40B4-BE49-F238E27FC236}">
                <a16:creationId xmlns:a16="http://schemas.microsoft.com/office/drawing/2014/main" id="{84B37DB0-F4BC-46EF-BCEB-8B865EB51E2D}"/>
              </a:ext>
            </a:extLst>
          </p:cNvPr>
          <p:cNvSpPr>
            <a:spLocks noGrp="1"/>
          </p:cNvSpPr>
          <p:nvPr>
            <p:ph type="sldNum" sz="quarter" idx="12"/>
          </p:nvPr>
        </p:nvSpPr>
        <p:spPr>
          <a:xfrm>
            <a:off x="8534400" y="6357959"/>
            <a:ext cx="2133600" cy="365125"/>
          </a:xfrm>
        </p:spPr>
        <p:txBody>
          <a:bodyPr/>
          <a:lstStyle/>
          <a:p>
            <a:r>
              <a:rPr lang="es-ES" dirty="0" smtClean="0"/>
              <a:t>   </a:t>
            </a:r>
            <a:fld id="{132FADFE-3B8F-471C-ABF0-DBC7717ECBBC}" type="slidenum">
              <a:rPr lang="es-ES" smtClean="0"/>
              <a:pPr/>
              <a:t>1</a:t>
            </a:fld>
            <a:endParaRPr lang="es-ES" dirty="0"/>
          </a:p>
        </p:txBody>
      </p:sp>
      <p:sp>
        <p:nvSpPr>
          <p:cNvPr id="7" name="6 Rectángulo"/>
          <p:cNvSpPr/>
          <p:nvPr/>
        </p:nvSpPr>
        <p:spPr>
          <a:xfrm>
            <a:off x="5881686" y="1857365"/>
            <a:ext cx="4572000" cy="1277273"/>
          </a:xfrm>
          <a:prstGeom prst="rect">
            <a:avLst/>
          </a:prstGeom>
        </p:spPr>
        <p:txBody>
          <a:bodyPr wrap="square">
            <a:spAutoFit/>
          </a:bodyPr>
          <a:lstStyle/>
          <a:p>
            <a:pPr algn="ctr">
              <a:spcAft>
                <a:spcPts val="600"/>
              </a:spcAft>
            </a:pPr>
            <a:r>
              <a:rPr lang="es-ES" dirty="0">
                <a:latin typeface="Arial" pitchFamily="34" charset="0"/>
                <a:ea typeface="Calibri" panose="020F0502020204030204" pitchFamily="34" charset="0"/>
                <a:cs typeface="Arial" pitchFamily="34" charset="0"/>
              </a:rPr>
              <a:t>Facultad de Ingeniería en Telecomunicaciones, Informática y Biomédica</a:t>
            </a:r>
          </a:p>
          <a:p>
            <a:pPr algn="ctr">
              <a:spcAft>
                <a:spcPts val="600"/>
              </a:spcAft>
            </a:pPr>
            <a:r>
              <a:rPr lang="es-ES" dirty="0">
                <a:latin typeface="Arial" pitchFamily="34" charset="0"/>
                <a:ea typeface="Calibri" panose="020F0502020204030204" pitchFamily="34" charset="0"/>
                <a:cs typeface="Arial" pitchFamily="34" charset="0"/>
              </a:rPr>
              <a:t>Departamento de Informática</a:t>
            </a:r>
          </a:p>
        </p:txBody>
      </p:sp>
    </p:spTree>
    <p:extLst>
      <p:ext uri="{BB962C8B-B14F-4D97-AF65-F5344CB8AC3E}">
        <p14:creationId xmlns:p14="http://schemas.microsoft.com/office/powerpoint/2010/main" val="25979498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anose="020B0604020202020204" pitchFamily="34" charset="0"/>
                <a:cs typeface="Arial" pitchFamily="34" charset="0"/>
              </a:rPr>
              <a:t>¿</a:t>
            </a:r>
            <a:r>
              <a:rPr lang="es-ES" sz="2400" b="1" dirty="0" smtClean="0">
                <a:solidFill>
                  <a:schemeClr val="bg1"/>
                </a:solidFill>
              </a:rPr>
              <a:t>Cuáles son las características clave del trastorno del TDAH?</a:t>
            </a:r>
            <a:endParaRPr lang="es-ES" sz="2400" b="1" dirty="0">
              <a:solidFill>
                <a:schemeClr val="bg1"/>
              </a:solidFill>
              <a:latin typeface="Arial" pitchFamily="34" charset="0"/>
              <a:cs typeface="Arial" pitchFamily="34" charset="0"/>
            </a:endParaRPr>
          </a:p>
        </p:txBody>
      </p:sp>
      <p:sp>
        <p:nvSpPr>
          <p:cNvPr id="3" name="2 Marcador de contenido"/>
          <p:cNvSpPr>
            <a:spLocks noGrp="1"/>
          </p:cNvSpPr>
          <p:nvPr>
            <p:ph idx="1"/>
          </p:nvPr>
        </p:nvSpPr>
        <p:spPr>
          <a:xfrm>
            <a:off x="1688759" y="1349883"/>
            <a:ext cx="8229600" cy="4525963"/>
          </a:xfrm>
        </p:spPr>
        <p:txBody>
          <a:bodyPr>
            <a:normAutofit/>
          </a:bodyPr>
          <a:lstStyle/>
          <a:p>
            <a:pPr marL="0" indent="0">
              <a:buNone/>
            </a:pPr>
            <a:r>
              <a:rPr lang="es-ES" sz="2500" dirty="0" smtClean="0"/>
              <a:t>		El síndrome se caracterizaría:</a:t>
            </a: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0DB4E322-1AD2-48E6-AE58-D05B0A16748F}"/>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a:t>
            </a:fld>
            <a:endParaRPr lang="es-ES" dirty="0"/>
          </a:p>
        </p:txBody>
      </p:sp>
      <p:sp>
        <p:nvSpPr>
          <p:cNvPr id="7" name="Rectángulo 6"/>
          <p:cNvSpPr/>
          <p:nvPr/>
        </p:nvSpPr>
        <p:spPr>
          <a:xfrm>
            <a:off x="7727315" y="3935273"/>
            <a:ext cx="1763405" cy="871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Inquietud</a:t>
            </a:r>
            <a:endParaRPr lang="es-ES" dirty="0"/>
          </a:p>
        </p:txBody>
      </p:sp>
      <p:sp>
        <p:nvSpPr>
          <p:cNvPr id="16" name="Rectángulo 15"/>
          <p:cNvSpPr/>
          <p:nvPr/>
        </p:nvSpPr>
        <p:spPr>
          <a:xfrm>
            <a:off x="1552078" y="2080897"/>
            <a:ext cx="1715959" cy="878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Problemas de </a:t>
            </a:r>
            <a:r>
              <a:rPr lang="es-ES" dirty="0" smtClean="0"/>
              <a:t>Retención en la Memoria</a:t>
            </a:r>
            <a:endParaRPr lang="en-US" dirty="0"/>
          </a:p>
        </p:txBody>
      </p:sp>
      <p:sp>
        <p:nvSpPr>
          <p:cNvPr id="17" name="Rectángulo 16"/>
          <p:cNvSpPr/>
          <p:nvPr/>
        </p:nvSpPr>
        <p:spPr>
          <a:xfrm>
            <a:off x="7727315" y="2025505"/>
            <a:ext cx="1763405" cy="933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Déficit de Atención</a:t>
            </a:r>
            <a:endParaRPr lang="en-US" dirty="0"/>
          </a:p>
        </p:txBody>
      </p:sp>
      <p:sp>
        <p:nvSpPr>
          <p:cNvPr id="18" name="Rectángulo 17"/>
          <p:cNvSpPr/>
          <p:nvPr/>
        </p:nvSpPr>
        <p:spPr>
          <a:xfrm>
            <a:off x="1552078" y="3898000"/>
            <a:ext cx="1715959" cy="908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Hiperactividad</a:t>
            </a:r>
            <a:endParaRPr lang="es-ES" dirty="0"/>
          </a:p>
        </p:txBody>
      </p:sp>
      <p:sp>
        <p:nvSpPr>
          <p:cNvPr id="15" name="Rectángulo 14"/>
          <p:cNvSpPr/>
          <p:nvPr/>
        </p:nvSpPr>
        <p:spPr>
          <a:xfrm>
            <a:off x="4796189" y="2848288"/>
            <a:ext cx="1645920" cy="1049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Falta de autocontrol</a:t>
            </a:r>
            <a:endParaRPr lang="es-ES" dirty="0"/>
          </a:p>
        </p:txBody>
      </p:sp>
      <p:pic>
        <p:nvPicPr>
          <p:cNvPr id="19" name="Imagen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2541" y="4806875"/>
            <a:ext cx="3135679" cy="1837179"/>
          </a:xfrm>
          <a:prstGeom prst="rect">
            <a:avLst/>
          </a:prstGeom>
        </p:spPr>
      </p:pic>
    </p:spTree>
    <p:extLst>
      <p:ext uri="{BB962C8B-B14F-4D97-AF65-F5344CB8AC3E}">
        <p14:creationId xmlns:p14="http://schemas.microsoft.com/office/powerpoint/2010/main" val="1143227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anose="020B0604020202020204" pitchFamily="34" charset="0"/>
                <a:cs typeface="Arial" panose="020B0604020202020204" pitchFamily="34" charset="0"/>
              </a:rPr>
              <a:t>Situación P</a:t>
            </a:r>
            <a:r>
              <a:rPr lang="en-US" sz="2400" b="1" dirty="0" smtClean="0">
                <a:solidFill>
                  <a:schemeClr val="bg1"/>
                </a:solidFill>
                <a:latin typeface="Arial" panose="020B0604020202020204" pitchFamily="34" charset="0"/>
                <a:cs typeface="Arial" panose="020B0604020202020204" pitchFamily="34" charset="0"/>
              </a:rPr>
              <a:t>roblémica</a:t>
            </a:r>
            <a:endParaRPr lang="es-ES" sz="2400" b="1" dirty="0">
              <a:solidFill>
                <a:schemeClr val="bg1"/>
              </a:solidFill>
              <a:latin typeface="Arial" panose="020B0604020202020204" pitchFamily="34" charset="0"/>
              <a:cs typeface="Arial" panose="020B0604020202020204" pitchFamily="34" charset="0"/>
            </a:endParaRPr>
          </a:p>
        </p:txBody>
      </p:sp>
      <p:sp>
        <p:nvSpPr>
          <p:cNvPr id="3" name="2 Marcador de contenido"/>
          <p:cNvSpPr>
            <a:spLocks noGrp="1"/>
          </p:cNvSpPr>
          <p:nvPr>
            <p:ph idx="1"/>
          </p:nvPr>
        </p:nvSpPr>
        <p:spPr>
          <a:xfrm>
            <a:off x="235133" y="1094695"/>
            <a:ext cx="9490720" cy="4480559"/>
          </a:xfrm>
        </p:spPr>
        <p:txBody>
          <a:bodyPr>
            <a:normAutofit/>
          </a:bodyPr>
          <a:lstStyle/>
          <a:p>
            <a:pPr marL="0" indent="0" algn="just">
              <a:buNone/>
            </a:pPr>
            <a:r>
              <a:rPr lang="es-ES" sz="2000" dirty="0" smtClean="0">
                <a:latin typeface="Arial" pitchFamily="34" charset="0"/>
                <a:cs typeface="Arial" pitchFamily="34" charset="0"/>
              </a:rPr>
              <a:t>En el entorno educativo de Cuba, la convivencia de niños con Trastorno por Déficit de Atención e Hiperactividad (TDAH) plantea retos significativos para educadores y padres. La complejidad en diagnosticar y tratar a tiempo estos trastornos dificulta la planificación de actividades efectivas para mejorar la concentración, retención en la memoria y el desarrollo de habilidades comunicativas apropiadas para su edad. La escasez de herramientas cognitivas adaptadas y la limitada accesibilidad a centros especializados intensifican estos desafíos. A pesar de la existencia de juegos y aplicaciones móviles diseñadas para abordar el TDAH, su adaptación al contexto cubano y las restricciones de acceso subrayan la necesidad imperante de desarrollar una aplicación móvil específica que satisfaga de manera efectiva las necesidades de estos niños en el entorno cubano.</a:t>
            </a:r>
            <a:endParaRPr lang="es-ES" sz="1400" dirty="0">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0DB4E322-1AD2-48E6-AE58-D05B0A16748F}"/>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3</a:t>
            </a:fld>
            <a:endParaRPr lang="es-ES" dirty="0"/>
          </a:p>
        </p:txBody>
      </p:sp>
      <p:pic>
        <p:nvPicPr>
          <p:cNvPr id="5" name="Imagen 4"/>
          <p:cNvPicPr>
            <a:picLocks noChangeAspect="1"/>
          </p:cNvPicPr>
          <p:nvPr/>
        </p:nvPicPr>
        <p:blipFill>
          <a:blip r:embed="rId5"/>
          <a:stretch>
            <a:fillRect/>
          </a:stretch>
        </p:blipFill>
        <p:spPr>
          <a:xfrm>
            <a:off x="8059783" y="4116490"/>
            <a:ext cx="3664130" cy="2533864"/>
          </a:xfrm>
          <a:prstGeom prst="rect">
            <a:avLst/>
          </a:prstGeom>
        </p:spPr>
      </p:pic>
    </p:spTree>
    <p:extLst>
      <p:ext uri="{BB962C8B-B14F-4D97-AF65-F5344CB8AC3E}">
        <p14:creationId xmlns:p14="http://schemas.microsoft.com/office/powerpoint/2010/main" val="28121681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anose="020B0604020202020204" pitchFamily="34" charset="0"/>
                <a:cs typeface="Arial" panose="020B0604020202020204" pitchFamily="34" charset="0"/>
              </a:rPr>
              <a:t>Aplicaciones y trabajos hechos en el ámbito internacional </a:t>
            </a:r>
          </a:p>
        </p:txBody>
      </p:sp>
      <p:sp>
        <p:nvSpPr>
          <p:cNvPr id="3" name="2 Marcador de contenido"/>
          <p:cNvSpPr>
            <a:spLocks noGrp="1"/>
          </p:cNvSpPr>
          <p:nvPr>
            <p:ph idx="1"/>
          </p:nvPr>
        </p:nvSpPr>
        <p:spPr>
          <a:xfrm>
            <a:off x="1855694" y="1076393"/>
            <a:ext cx="8812306" cy="5646691"/>
          </a:xfrm>
        </p:spPr>
        <p:txBody>
          <a:bodyPr>
            <a:normAutofit/>
          </a:bodyPr>
          <a:lstStyle/>
          <a:p>
            <a:pPr marL="0" indent="0">
              <a:buNone/>
            </a:pPr>
            <a:r>
              <a:rPr lang="es-ES" sz="2500" b="1" dirty="0"/>
              <a:t>Título</a:t>
            </a:r>
            <a:r>
              <a:rPr lang="es-ES" sz="2500" dirty="0"/>
              <a:t>: </a:t>
            </a:r>
            <a:r>
              <a:rPr lang="es-ES" i="1" dirty="0"/>
              <a:t>Globos para niños</a:t>
            </a:r>
            <a:r>
              <a:rPr lang="es-ES" sz="2300" dirty="0"/>
              <a:t/>
            </a:r>
            <a:br>
              <a:rPr lang="es-ES" sz="2300" dirty="0"/>
            </a:br>
            <a:endParaRPr lang="es-ES" sz="2300" dirty="0"/>
          </a:p>
          <a:p>
            <a:pPr marL="0" indent="0">
              <a:buNone/>
            </a:pPr>
            <a:endParaRPr lang="es-ES" sz="2300" dirty="0" smtClean="0"/>
          </a:p>
          <a:p>
            <a:pPr marL="0" indent="0">
              <a:buNone/>
            </a:pPr>
            <a:endParaRPr lang="es-ES" sz="2300" dirty="0"/>
          </a:p>
          <a:p>
            <a:pPr marL="0" indent="0">
              <a:buNone/>
            </a:pPr>
            <a:endParaRPr lang="es-ES" sz="2300" dirty="0" smtClean="0"/>
          </a:p>
          <a:p>
            <a:pPr marL="0" indent="0">
              <a:buNone/>
            </a:pPr>
            <a:endParaRPr lang="es-ES" sz="2300" dirty="0"/>
          </a:p>
          <a:p>
            <a:pPr marL="0" indent="0">
              <a:buNone/>
            </a:pPr>
            <a:r>
              <a:rPr lang="es-ES" sz="2300" dirty="0"/>
              <a:t/>
            </a:r>
            <a:br>
              <a:rPr lang="es-ES" sz="2300" dirty="0"/>
            </a:br>
            <a:r>
              <a:rPr lang="es-ES" sz="2300" dirty="0"/>
              <a:t/>
            </a:r>
            <a:br>
              <a:rPr lang="es-ES" sz="2300" dirty="0"/>
            </a:br>
            <a:r>
              <a:rPr lang="es-ES" sz="2500" b="1" dirty="0"/>
              <a:t>Título</a:t>
            </a:r>
            <a:r>
              <a:rPr lang="es-ES" sz="2500" dirty="0"/>
              <a:t>: </a:t>
            </a:r>
            <a:r>
              <a:rPr lang="es-ES" i="1" dirty="0"/>
              <a:t>TDAH Trainer: </a:t>
            </a:r>
            <a:endParaRPr lang="es-ES" dirty="0"/>
          </a:p>
          <a:p>
            <a:pPr marL="0" indent="0">
              <a:buNone/>
            </a:pPr>
            <a:r>
              <a:rPr lang="es-ES" sz="2300" dirty="0"/>
              <a:t/>
            </a:r>
            <a:br>
              <a:rPr lang="es-ES" sz="2300" dirty="0"/>
            </a:br>
            <a:r>
              <a:rPr lang="es-ES" dirty="0"/>
              <a:t/>
            </a:r>
            <a:br>
              <a:rPr lang="es-ES" dirty="0"/>
            </a:br>
            <a:endParaRPr lang="es-ES" sz="1800" dirty="0">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0DB4E322-1AD2-48E6-AE58-D05B0A16748F}"/>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4</a:t>
            </a:fld>
            <a:endParaRPr lang="es-ES" dirty="0"/>
          </a:p>
        </p:txBody>
      </p:sp>
      <p:pic>
        <p:nvPicPr>
          <p:cNvPr id="9" name="Imagen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35649" y="4725023"/>
            <a:ext cx="1949699" cy="1936956"/>
          </a:xfrm>
          <a:prstGeom prst="rect">
            <a:avLst/>
          </a:prstGeom>
        </p:spPr>
      </p:pic>
      <p:pic>
        <p:nvPicPr>
          <p:cNvPr id="10" name="Imagen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05051" y="4689446"/>
            <a:ext cx="2623212" cy="1972533"/>
          </a:xfrm>
          <a:prstGeom prst="rect">
            <a:avLst/>
          </a:prstGeom>
        </p:spPr>
      </p:pic>
      <p:pic>
        <p:nvPicPr>
          <p:cNvPr id="5" name="Imagen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41083" y="1767075"/>
            <a:ext cx="4944165" cy="2267266"/>
          </a:xfrm>
          <a:prstGeom prst="rect">
            <a:avLst/>
          </a:prstGeom>
        </p:spPr>
      </p:pic>
    </p:spTree>
    <p:extLst>
      <p:ext uri="{BB962C8B-B14F-4D97-AF65-F5344CB8AC3E}">
        <p14:creationId xmlns:p14="http://schemas.microsoft.com/office/powerpoint/2010/main" val="37106392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rPr>
              <a:t>Aplicaciones y trabajos hechos en el ámbito nacional </a:t>
            </a:r>
            <a:endParaRPr lang="es-ES" sz="2400" b="1" dirty="0">
              <a:solidFill>
                <a:schemeClr val="bg1"/>
              </a:solidFill>
              <a:latin typeface="Arial" panose="020B0604020202020204" pitchFamily="34" charset="0"/>
              <a:cs typeface="Arial" panose="020B0604020202020204" pitchFamily="34" charset="0"/>
            </a:endParaRPr>
          </a:p>
        </p:txBody>
      </p:sp>
      <p:sp>
        <p:nvSpPr>
          <p:cNvPr id="3" name="2 Marcador de contenido"/>
          <p:cNvSpPr>
            <a:spLocks noGrp="1"/>
          </p:cNvSpPr>
          <p:nvPr>
            <p:ph idx="1"/>
          </p:nvPr>
        </p:nvSpPr>
        <p:spPr>
          <a:xfrm>
            <a:off x="1519255" y="1178614"/>
            <a:ext cx="9305499" cy="5238299"/>
          </a:xfrm>
        </p:spPr>
        <p:txBody>
          <a:bodyPr>
            <a:noAutofit/>
          </a:bodyPr>
          <a:lstStyle/>
          <a:p>
            <a:pPr lvl="0"/>
            <a:r>
              <a:rPr lang="es-MX" i="1" dirty="0"/>
              <a:t>Identifica las figuras</a:t>
            </a:r>
            <a:r>
              <a:rPr lang="es-MX" dirty="0"/>
              <a:t>: Útil para que el niño aprenda las figuras geométricas.</a:t>
            </a:r>
            <a:endParaRPr lang="es-ES" dirty="0"/>
          </a:p>
          <a:p>
            <a:pPr lvl="0"/>
            <a:r>
              <a:rPr lang="es-MX" i="1" dirty="0"/>
              <a:t>Rompecabezas:</a:t>
            </a:r>
            <a:r>
              <a:rPr lang="es-MX" dirty="0"/>
              <a:t> Educativo, entretenido y útil para infantes.</a:t>
            </a:r>
            <a:endParaRPr lang="es-ES" dirty="0"/>
          </a:p>
          <a:p>
            <a:pPr lvl="0"/>
            <a:r>
              <a:rPr lang="es-MX" i="1" dirty="0"/>
              <a:t>Ejercita la memoria:</a:t>
            </a:r>
            <a:r>
              <a:rPr lang="es-MX" dirty="0"/>
              <a:t> Encontrar los pares de cartas y ejercita la memoria con este juego.</a:t>
            </a:r>
            <a:endParaRPr lang="es-ES" dirty="0"/>
          </a:p>
          <a:p>
            <a:r>
              <a:rPr lang="es-ES" u="sng" dirty="0"/>
              <a:t>Autor: Rafael Benito Pérez Labañino.</a:t>
            </a:r>
            <a:endParaRPr lang="es-ES" dirty="0"/>
          </a:p>
          <a:p>
            <a:pPr lvl="0"/>
            <a:r>
              <a:rPr lang="es-MX" i="1" dirty="0"/>
              <a:t>DODO:</a:t>
            </a:r>
            <a:r>
              <a:rPr lang="es-MX" dirty="0"/>
              <a:t> Juego destinado para desarrollar las habilidades en niños con TDAH. Sucede que el videojuego presenta algunos problemas, hay niveles que están inhabilitados. Aunque la intención era de tener una gran variedad de actividades para el niño, tiene pocos juegos en los que se interactúa, más que no tiene un sistema de puntuación y registro.</a:t>
            </a:r>
            <a:endParaRPr lang="es-ES" dirty="0"/>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0DB4E322-1AD2-48E6-AE58-D05B0A16748F}"/>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5</a:t>
            </a:fld>
            <a:endParaRPr lang="es-ES" dirty="0"/>
          </a:p>
        </p:txBody>
      </p:sp>
    </p:spTree>
    <p:extLst>
      <p:ext uri="{BB962C8B-B14F-4D97-AF65-F5344CB8AC3E}">
        <p14:creationId xmlns:p14="http://schemas.microsoft.com/office/powerpoint/2010/main" val="36017763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itchFamily="34" charset="0"/>
                <a:cs typeface="Arial" pitchFamily="34" charset="0"/>
              </a:rPr>
              <a:t>Problema Científico</a:t>
            </a:r>
          </a:p>
        </p:txBody>
      </p:sp>
      <p:sp>
        <p:nvSpPr>
          <p:cNvPr id="3" name="2 Marcador de contenido"/>
          <p:cNvSpPr>
            <a:spLocks noGrp="1"/>
          </p:cNvSpPr>
          <p:nvPr>
            <p:ph idx="1"/>
          </p:nvPr>
        </p:nvSpPr>
        <p:spPr>
          <a:xfrm>
            <a:off x="1981200" y="1484785"/>
            <a:ext cx="8229600" cy="4525963"/>
          </a:xfrm>
        </p:spPr>
        <p:txBody>
          <a:bodyPr>
            <a:normAutofit/>
          </a:bodyPr>
          <a:lstStyle/>
          <a:p>
            <a:pPr marL="0" indent="0">
              <a:buNone/>
            </a:pPr>
            <a:r>
              <a:rPr lang="es-ES" dirty="0"/>
              <a:t>¿Cómo contribuir a la atención diferenciada de niños que presentan trastornos y déficit de atención e hiperactividad en la educación primaria?</a:t>
            </a:r>
            <a:endParaRPr lang="es-ES" sz="1800" dirty="0">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0DB4E322-1AD2-48E6-AE58-D05B0A16748F}"/>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6</a:t>
            </a:fld>
            <a:endParaRPr lang="es-ES" dirty="0"/>
          </a:p>
        </p:txBody>
      </p:sp>
      <p:pic>
        <p:nvPicPr>
          <p:cNvPr id="5" name="Imagen 4"/>
          <p:cNvPicPr>
            <a:picLocks noChangeAspect="1"/>
          </p:cNvPicPr>
          <p:nvPr/>
        </p:nvPicPr>
        <p:blipFill>
          <a:blip r:embed="rId5"/>
          <a:stretch>
            <a:fillRect/>
          </a:stretch>
        </p:blipFill>
        <p:spPr>
          <a:xfrm>
            <a:off x="1432560" y="3207785"/>
            <a:ext cx="3452949" cy="3276286"/>
          </a:xfrm>
          <a:prstGeom prst="rect">
            <a:avLst/>
          </a:prstGeom>
        </p:spPr>
      </p:pic>
      <p:pic>
        <p:nvPicPr>
          <p:cNvPr id="7" name="Imagen 6"/>
          <p:cNvPicPr>
            <a:picLocks noChangeAspect="1"/>
          </p:cNvPicPr>
          <p:nvPr/>
        </p:nvPicPr>
        <p:blipFill>
          <a:blip r:embed="rId6"/>
          <a:stretch>
            <a:fillRect/>
          </a:stretch>
        </p:blipFill>
        <p:spPr>
          <a:xfrm>
            <a:off x="5880539" y="3144460"/>
            <a:ext cx="4597368" cy="3154320"/>
          </a:xfrm>
          <a:prstGeom prst="rect">
            <a:avLst/>
          </a:prstGeom>
        </p:spPr>
      </p:pic>
    </p:spTree>
    <p:extLst>
      <p:ext uri="{BB962C8B-B14F-4D97-AF65-F5344CB8AC3E}">
        <p14:creationId xmlns:p14="http://schemas.microsoft.com/office/powerpoint/2010/main" val="19980538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itchFamily="34" charset="0"/>
                <a:cs typeface="Arial" pitchFamily="34" charset="0"/>
              </a:rPr>
              <a:t>Objetivo General</a:t>
            </a:r>
            <a:endParaRPr lang="es-ES" sz="2400" b="1" dirty="0">
              <a:solidFill>
                <a:schemeClr val="bg1"/>
              </a:solidFill>
            </a:endParaRPr>
          </a:p>
        </p:txBody>
      </p:sp>
      <p:sp>
        <p:nvSpPr>
          <p:cNvPr id="3" name="2 Marcador de contenido"/>
          <p:cNvSpPr>
            <a:spLocks noGrp="1"/>
          </p:cNvSpPr>
          <p:nvPr>
            <p:ph idx="1"/>
          </p:nvPr>
        </p:nvSpPr>
        <p:spPr>
          <a:xfrm>
            <a:off x="1919536" y="1410941"/>
            <a:ext cx="8944082" cy="1577919"/>
          </a:xfrm>
        </p:spPr>
        <p:txBody>
          <a:bodyPr>
            <a:noAutofit/>
          </a:bodyPr>
          <a:lstStyle/>
          <a:p>
            <a:pPr marL="0" indent="0" algn="just">
              <a:buNone/>
            </a:pPr>
            <a:r>
              <a:rPr lang="es-ES" dirty="0"/>
              <a:t>Implementar un videojuego para teléfonos inteligentes que contribuya al desarrollo de habilidades neurocognitivas en niños con Trastornos y Déficit de Atención e Hiperactividad de la educación primaria.</a:t>
            </a:r>
            <a:endParaRPr lang="es-ES" sz="2000" dirty="0">
              <a:latin typeface="Arial" panose="020B0604020202020204" pitchFamily="34" charset="0"/>
              <a:cs typeface="Arial" panose="020B0604020202020204" pitchFamily="34" charset="0"/>
            </a:endParaRPr>
          </a:p>
          <a:p>
            <a:pPr marL="0" indent="0" algn="just">
              <a:buNone/>
            </a:pPr>
            <a:endParaRPr lang="en-US" sz="2000" dirty="0">
              <a:latin typeface="Arial" panose="020B0604020202020204" pitchFamily="34" charset="0"/>
              <a:cs typeface="Arial" panose="020B0604020202020204" pitchFamily="34" charset="0"/>
            </a:endParaRPr>
          </a:p>
          <a:p>
            <a:pPr marL="0" indent="0" algn="just">
              <a:buNone/>
            </a:pPr>
            <a:endParaRPr lang="es-ES" sz="2400" dirty="0">
              <a:latin typeface="Arial" panose="020B0604020202020204" pitchFamily="34" charset="0"/>
              <a:cs typeface="Arial" panose="020B0604020202020204" pitchFamily="34" charset="0"/>
            </a:endParaRPr>
          </a:p>
          <a:p>
            <a:pPr marL="0" indent="0" algn="just">
              <a:buNone/>
            </a:pPr>
            <a:endParaRPr lang="es-ES" sz="2400" dirty="0">
              <a:latin typeface="Arial" panose="020B0604020202020204" pitchFamily="34" charset="0"/>
              <a:cs typeface="Arial" panose="020B0604020202020204" pitchFamily="34" charset="0"/>
            </a:endParaRPr>
          </a:p>
          <a:p>
            <a:pPr marL="0" indent="0" algn="just">
              <a:buNone/>
            </a:pPr>
            <a:endParaRPr lang="es-ES" sz="2400"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42503268-651E-4E05-83DD-CC305A3893AE}"/>
              </a:ext>
            </a:extLst>
          </p:cNvPr>
          <p:cNvSpPr>
            <a:spLocks noGrp="1"/>
          </p:cNvSpPr>
          <p:nvPr>
            <p:ph type="sldNum" sz="quarter" idx="12"/>
          </p:nvPr>
        </p:nvSpPr>
        <p:spPr/>
        <p:txBody>
          <a:bodyPr/>
          <a:lstStyle/>
          <a:p>
            <a:fld id="{132FADFE-3B8F-471C-ABF0-DBC7717ECBBC}" type="slidenum">
              <a:rPr lang="es-ES" smtClean="0"/>
              <a:pPr/>
              <a:t>7</a:t>
            </a:fld>
            <a:endParaRPr lang="es-ES" dirty="0"/>
          </a:p>
        </p:txBody>
      </p:sp>
      <p:pic>
        <p:nvPicPr>
          <p:cNvPr id="6" name="Imagen 5"/>
          <p:cNvPicPr>
            <a:picLocks noChangeAspect="1"/>
          </p:cNvPicPr>
          <p:nvPr/>
        </p:nvPicPr>
        <p:blipFill>
          <a:blip r:embed="rId4"/>
          <a:stretch>
            <a:fillRect/>
          </a:stretch>
        </p:blipFill>
        <p:spPr>
          <a:xfrm>
            <a:off x="6166495" y="2729505"/>
            <a:ext cx="3324225" cy="3886200"/>
          </a:xfrm>
          <a:prstGeom prst="rect">
            <a:avLst/>
          </a:prstGeom>
        </p:spPr>
      </p:pic>
    </p:spTree>
    <p:extLst>
      <p:ext uri="{BB962C8B-B14F-4D97-AF65-F5344CB8AC3E}">
        <p14:creationId xmlns:p14="http://schemas.microsoft.com/office/powerpoint/2010/main" val="31420340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itchFamily="34" charset="0"/>
                <a:cs typeface="Arial" pitchFamily="34" charset="0"/>
              </a:rPr>
              <a:t>Objetivos Específicos</a:t>
            </a:r>
            <a:endParaRPr lang="es-ES" sz="2400" b="1" dirty="0">
              <a:solidFill>
                <a:schemeClr val="bg1"/>
              </a:solidFill>
            </a:endParaRPr>
          </a:p>
        </p:txBody>
      </p:sp>
      <p:sp>
        <p:nvSpPr>
          <p:cNvPr id="3" name="2 Marcador de contenido"/>
          <p:cNvSpPr>
            <a:spLocks noGrp="1"/>
          </p:cNvSpPr>
          <p:nvPr>
            <p:ph idx="1"/>
          </p:nvPr>
        </p:nvSpPr>
        <p:spPr>
          <a:xfrm>
            <a:off x="1946899" y="1420925"/>
            <a:ext cx="8229600" cy="4525963"/>
          </a:xfrm>
        </p:spPr>
        <p:txBody>
          <a:bodyPr>
            <a:normAutofit/>
          </a:bodyPr>
          <a:lstStyle/>
          <a:p>
            <a:pPr lvl="0"/>
            <a:r>
              <a:rPr lang="es-MX" dirty="0"/>
              <a:t>Realizar el estado del arte que permita determinar las características y patrones de las aplicaciones para niños con TDAH.</a:t>
            </a:r>
            <a:endParaRPr lang="es-ES" dirty="0"/>
          </a:p>
          <a:p>
            <a:pPr lvl="0"/>
            <a:r>
              <a:rPr lang="es-MX" dirty="0"/>
              <a:t>Diseño de actividades dirigidas a la estimulación cognitiva de niños con TDAH.</a:t>
            </a:r>
            <a:endParaRPr lang="es-ES" dirty="0"/>
          </a:p>
          <a:p>
            <a:pPr lvl="0"/>
            <a:r>
              <a:rPr lang="es-MX" dirty="0"/>
              <a:t>Implementación de la aplicación móvil para niños con TDAH</a:t>
            </a:r>
            <a:endParaRPr lang="es-ES" dirty="0"/>
          </a:p>
          <a:p>
            <a:pPr lvl="0"/>
            <a:r>
              <a:rPr lang="es-MX" dirty="0"/>
              <a:t>Prueba de satisfacción con usuarios reales en el contexto escolar.</a:t>
            </a:r>
            <a:endParaRPr lang="es-ES" dirty="0"/>
          </a:p>
          <a:p>
            <a:pPr lvl="0" algn="just">
              <a:buFont typeface="Wingdings" pitchFamily="2" charset="2"/>
              <a:buChar char="ü"/>
            </a:pPr>
            <a:endParaRPr lang="en-US" sz="2000" dirty="0">
              <a:latin typeface="Arial" pitchFamily="34" charset="0"/>
              <a:cs typeface="Arial" pitchFamily="34" charset="0"/>
            </a:endParaRPr>
          </a:p>
          <a:p>
            <a:pPr lvl="0" algn="just">
              <a:buNone/>
            </a:pPr>
            <a:endParaRPr lang="es-ES" sz="2000" dirty="0">
              <a:latin typeface="Arial" pitchFamily="34" charset="0"/>
              <a:cs typeface="Arial" pitchFamily="34" charset="0"/>
            </a:endParaRPr>
          </a:p>
          <a:p>
            <a:pPr marL="0" indent="0" algn="just">
              <a:buNone/>
            </a:pPr>
            <a:endParaRPr lang="es-ES" sz="2400" dirty="0">
              <a:latin typeface="Arial" pitchFamily="34" charset="0"/>
              <a:cs typeface="Arial" pitchFamily="34" charset="0"/>
            </a:endParaRPr>
          </a:p>
          <a:p>
            <a:pPr marL="0" indent="0" algn="just">
              <a:buNone/>
            </a:pPr>
            <a:endParaRPr lang="es-ES" sz="2400" dirty="0">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428EFCC7-99EA-4516-8E55-99E86025E635}"/>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8</a:t>
            </a:fld>
            <a:endParaRPr lang="es-ES" dirty="0"/>
          </a:p>
        </p:txBody>
      </p:sp>
      <p:pic>
        <p:nvPicPr>
          <p:cNvPr id="5" name="Imagen 4"/>
          <p:cNvPicPr>
            <a:picLocks noChangeAspect="1"/>
          </p:cNvPicPr>
          <p:nvPr/>
        </p:nvPicPr>
        <p:blipFill>
          <a:blip r:embed="rId4"/>
          <a:stretch>
            <a:fillRect/>
          </a:stretch>
        </p:blipFill>
        <p:spPr>
          <a:xfrm>
            <a:off x="9324975" y="4186395"/>
            <a:ext cx="2686050" cy="2105025"/>
          </a:xfrm>
          <a:prstGeom prst="rect">
            <a:avLst/>
          </a:prstGeom>
        </p:spPr>
      </p:pic>
    </p:spTree>
    <p:extLst>
      <p:ext uri="{BB962C8B-B14F-4D97-AF65-F5344CB8AC3E}">
        <p14:creationId xmlns:p14="http://schemas.microsoft.com/office/powerpoint/2010/main" val="30451956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itchFamily="34" charset="0"/>
                <a:cs typeface="Arial" pitchFamily="34" charset="0"/>
              </a:rPr>
              <a:t>Objeto de Estudio</a:t>
            </a:r>
            <a:endParaRPr lang="es-ES" sz="2400" b="1" dirty="0">
              <a:solidFill>
                <a:schemeClr val="bg1"/>
              </a:solidFill>
            </a:endParaRPr>
          </a:p>
        </p:txBody>
      </p:sp>
      <p:sp>
        <p:nvSpPr>
          <p:cNvPr id="3" name="2 Marcador de contenido"/>
          <p:cNvSpPr>
            <a:spLocks noGrp="1"/>
          </p:cNvSpPr>
          <p:nvPr>
            <p:ph idx="1"/>
          </p:nvPr>
        </p:nvSpPr>
        <p:spPr>
          <a:xfrm>
            <a:off x="1919536" y="1632945"/>
            <a:ext cx="8005098" cy="4545931"/>
          </a:xfrm>
        </p:spPr>
        <p:txBody>
          <a:bodyPr>
            <a:noAutofit/>
          </a:bodyPr>
          <a:lstStyle/>
          <a:p>
            <a:pPr marL="0" indent="0">
              <a:buNone/>
            </a:pPr>
            <a:r>
              <a:rPr lang="es-ES" dirty="0"/>
              <a:t>La estimulación cognitiva con el uso de las tecnologías de la información y la comunicación (TIC)</a:t>
            </a:r>
            <a:endParaRPr lang="es-ES" sz="2400"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42503268-651E-4E05-83DD-CC305A3893AE}"/>
              </a:ext>
            </a:extLst>
          </p:cNvPr>
          <p:cNvSpPr>
            <a:spLocks noGrp="1"/>
          </p:cNvSpPr>
          <p:nvPr>
            <p:ph type="sldNum" sz="quarter" idx="12"/>
          </p:nvPr>
        </p:nvSpPr>
        <p:spPr/>
        <p:txBody>
          <a:bodyPr/>
          <a:lstStyle/>
          <a:p>
            <a:fld id="{132FADFE-3B8F-471C-ABF0-DBC7717ECBBC}" type="slidenum">
              <a:rPr lang="es-ES" smtClean="0"/>
              <a:pPr/>
              <a:t>9</a:t>
            </a:fld>
            <a:endParaRPr lang="es-ES" dirty="0"/>
          </a:p>
        </p:txBody>
      </p:sp>
      <p:pic>
        <p:nvPicPr>
          <p:cNvPr id="6" name="Imagen 5"/>
          <p:cNvPicPr>
            <a:picLocks noChangeAspect="1"/>
          </p:cNvPicPr>
          <p:nvPr/>
        </p:nvPicPr>
        <p:blipFill>
          <a:blip r:embed="rId4"/>
          <a:stretch>
            <a:fillRect/>
          </a:stretch>
        </p:blipFill>
        <p:spPr>
          <a:xfrm>
            <a:off x="2983622" y="3092767"/>
            <a:ext cx="5876925" cy="2867025"/>
          </a:xfrm>
          <a:prstGeom prst="rect">
            <a:avLst/>
          </a:prstGeom>
        </p:spPr>
      </p:pic>
    </p:spTree>
    <p:extLst>
      <p:ext uri="{BB962C8B-B14F-4D97-AF65-F5344CB8AC3E}">
        <p14:creationId xmlns:p14="http://schemas.microsoft.com/office/powerpoint/2010/main" val="38570190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47135"/>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itchFamily="34" charset="0"/>
                <a:cs typeface="Arial" pitchFamily="34" charset="0"/>
              </a:rPr>
              <a:t>Campo de Acción</a:t>
            </a:r>
            <a:endParaRPr lang="es-ES" sz="2400" b="1" dirty="0">
              <a:solidFill>
                <a:schemeClr val="bg1"/>
              </a:solidFill>
            </a:endParaRPr>
          </a:p>
        </p:txBody>
      </p:sp>
      <p:sp>
        <p:nvSpPr>
          <p:cNvPr id="3" name="2 Marcador de contenido"/>
          <p:cNvSpPr>
            <a:spLocks noGrp="1"/>
          </p:cNvSpPr>
          <p:nvPr>
            <p:ph idx="1"/>
          </p:nvPr>
        </p:nvSpPr>
        <p:spPr>
          <a:xfrm>
            <a:off x="1919536" y="1410941"/>
            <a:ext cx="8005098" cy="4545931"/>
          </a:xfrm>
        </p:spPr>
        <p:txBody>
          <a:bodyPr>
            <a:noAutofit/>
          </a:bodyPr>
          <a:lstStyle/>
          <a:p>
            <a:pPr marL="0" indent="0">
              <a:buNone/>
            </a:pPr>
            <a:r>
              <a:rPr lang="es-ES" dirty="0"/>
              <a:t>Gamificación para el desarrollo de habilidades neurocognitivas en los niños con TDAH.</a:t>
            </a:r>
            <a:endParaRPr lang="es-ES" sz="2400"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42503268-651E-4E05-83DD-CC305A3893AE}"/>
              </a:ext>
            </a:extLst>
          </p:cNvPr>
          <p:cNvSpPr>
            <a:spLocks noGrp="1"/>
          </p:cNvSpPr>
          <p:nvPr>
            <p:ph type="sldNum" sz="quarter" idx="12"/>
          </p:nvPr>
        </p:nvSpPr>
        <p:spPr/>
        <p:txBody>
          <a:bodyPr/>
          <a:lstStyle/>
          <a:p>
            <a:fld id="{132FADFE-3B8F-471C-ABF0-DBC7717ECBBC}" type="slidenum">
              <a:rPr lang="es-ES" smtClean="0"/>
              <a:pPr/>
              <a:t>10</a:t>
            </a:fld>
            <a:endParaRPr lang="es-ES"/>
          </a:p>
        </p:txBody>
      </p:sp>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0099" y="2766197"/>
            <a:ext cx="4259716" cy="3190675"/>
          </a:xfrm>
          <a:prstGeom prst="rect">
            <a:avLst/>
          </a:prstGeom>
        </p:spPr>
      </p:pic>
    </p:spTree>
    <p:extLst>
      <p:ext uri="{BB962C8B-B14F-4D97-AF65-F5344CB8AC3E}">
        <p14:creationId xmlns:p14="http://schemas.microsoft.com/office/powerpoint/2010/main" val="27526739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itchFamily="34" charset="0"/>
                <a:cs typeface="Arial" pitchFamily="34" charset="0"/>
              </a:rPr>
              <a:t>Hipótesis</a:t>
            </a:r>
          </a:p>
        </p:txBody>
      </p:sp>
      <p:sp>
        <p:nvSpPr>
          <p:cNvPr id="3" name="2 Marcador de contenido"/>
          <p:cNvSpPr>
            <a:spLocks noGrp="1"/>
          </p:cNvSpPr>
          <p:nvPr>
            <p:ph idx="1"/>
          </p:nvPr>
        </p:nvSpPr>
        <p:spPr>
          <a:xfrm>
            <a:off x="2014914" y="1652913"/>
            <a:ext cx="8229600" cy="4525963"/>
          </a:xfrm>
        </p:spPr>
        <p:txBody>
          <a:bodyPr>
            <a:noAutofit/>
          </a:bodyPr>
          <a:lstStyle/>
          <a:p>
            <a:pPr marL="0" indent="0">
              <a:buNone/>
            </a:pPr>
            <a:r>
              <a:rPr lang="es-ES" dirty="0"/>
              <a:t>Si se implementa un videojuego para teléfonos inteligentes que desarrolle habilidades neurocognitivas en niños con Trastornos y Déficit de Atención e Hiperactividad aprovechando las potencialidades de las tecnologías y los dispositivos móviles contribuirá a mejorar la atención diferenciada de maestros y padres.</a:t>
            </a: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11</a:t>
            </a:fld>
            <a:endParaRPr lang="es-ES" dirty="0"/>
          </a:p>
        </p:txBody>
      </p:sp>
      <p:pic>
        <p:nvPicPr>
          <p:cNvPr id="9" name="Imagen 8"/>
          <p:cNvPicPr>
            <a:picLocks noChangeAspect="1"/>
          </p:cNvPicPr>
          <p:nvPr/>
        </p:nvPicPr>
        <p:blipFill>
          <a:blip r:embed="rId4"/>
          <a:stretch>
            <a:fillRect/>
          </a:stretch>
        </p:blipFill>
        <p:spPr>
          <a:xfrm>
            <a:off x="6833828" y="4208136"/>
            <a:ext cx="4223233" cy="2060281"/>
          </a:xfrm>
          <a:prstGeom prst="rect">
            <a:avLst/>
          </a:prstGeom>
        </p:spPr>
      </p:pic>
    </p:spTree>
    <p:extLst>
      <p:ext uri="{BB962C8B-B14F-4D97-AF65-F5344CB8AC3E}">
        <p14:creationId xmlns:p14="http://schemas.microsoft.com/office/powerpoint/2010/main" val="17502389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a:solidFill>
                  <a:schemeClr val="bg1"/>
                </a:solidFill>
                <a:latin typeface="Arial" pitchFamily="34" charset="0"/>
                <a:cs typeface="Arial" pitchFamily="34" charset="0"/>
              </a:rPr>
              <a:t>Herramientas y lenguajes de desarrollo</a:t>
            </a:r>
          </a:p>
        </p:txBody>
      </p:sp>
      <p:sp>
        <p:nvSpPr>
          <p:cNvPr id="3" name="2 Marcador de contenido"/>
          <p:cNvSpPr>
            <a:spLocks noGrp="1"/>
          </p:cNvSpPr>
          <p:nvPr>
            <p:ph idx="1"/>
          </p:nvPr>
        </p:nvSpPr>
        <p:spPr>
          <a:xfrm>
            <a:off x="936249" y="644449"/>
            <a:ext cx="9257211" cy="5159023"/>
          </a:xfrm>
        </p:spPr>
        <p:txBody>
          <a:bodyPr>
            <a:normAutofit/>
          </a:bodyPr>
          <a:lstStyle/>
          <a:p>
            <a:pPr marL="0" indent="0" algn="ctr">
              <a:buNone/>
            </a:pPr>
            <a:endParaRPr lang="en-US" sz="1000" b="1" dirty="0">
              <a:latin typeface="Arial" pitchFamily="34" charset="0"/>
              <a:cs typeface="Arial" pitchFamily="34" charset="0"/>
            </a:endParaRPr>
          </a:p>
          <a:p>
            <a:pPr algn="ctr">
              <a:buNone/>
            </a:pPr>
            <a:endParaRPr lang="es-ES" sz="1600" dirty="0">
              <a:latin typeface="Arial" pitchFamily="34" charset="0"/>
              <a:cs typeface="Arial" pitchFamily="34" charset="0"/>
            </a:endParaRPr>
          </a:p>
          <a:p>
            <a:pPr>
              <a:buNone/>
            </a:pPr>
            <a:r>
              <a:rPr lang="en-US" sz="2400" b="1" dirty="0" smtClean="0">
                <a:latin typeface="Arial" pitchFamily="34" charset="0"/>
                <a:cs typeface="Arial" pitchFamily="34" charset="0"/>
              </a:rPr>
              <a:t>                                  Herramientas:</a:t>
            </a:r>
            <a:endParaRPr lang="en-US" sz="2400" b="1" dirty="0">
              <a:latin typeface="Arial" pitchFamily="34" charset="0"/>
              <a:cs typeface="Arial" pitchFamily="34" charset="0"/>
            </a:endParaRPr>
          </a:p>
          <a:p>
            <a:pPr>
              <a:buNone/>
            </a:pPr>
            <a:endParaRPr lang="en-US" sz="2000" b="1" dirty="0">
              <a:latin typeface="Arial" pitchFamily="34" charset="0"/>
              <a:cs typeface="Arial" pitchFamily="34" charset="0"/>
            </a:endParaRPr>
          </a:p>
          <a:p>
            <a:pPr>
              <a:buNone/>
            </a:pPr>
            <a:endParaRPr lang="en-US" sz="2000" b="1" dirty="0">
              <a:latin typeface="Arial" pitchFamily="34" charset="0"/>
              <a:cs typeface="Arial" pitchFamily="34" charset="0"/>
            </a:endParaRPr>
          </a:p>
          <a:p>
            <a:pPr>
              <a:buNone/>
            </a:pPr>
            <a:endParaRPr lang="en-US" sz="2000" b="1" dirty="0">
              <a:latin typeface="Arial" pitchFamily="34" charset="0"/>
              <a:cs typeface="Arial" pitchFamily="34" charset="0"/>
            </a:endParaRPr>
          </a:p>
          <a:p>
            <a:pPr>
              <a:buNone/>
            </a:pPr>
            <a:endParaRPr lang="en-US" sz="2000" b="1" dirty="0">
              <a:latin typeface="Arial" pitchFamily="34" charset="0"/>
              <a:cs typeface="Arial" pitchFamily="34" charset="0"/>
            </a:endParaRPr>
          </a:p>
          <a:p>
            <a:pPr>
              <a:buNone/>
            </a:pPr>
            <a:endParaRPr lang="en-US" sz="2000" b="1" dirty="0">
              <a:latin typeface="Arial" pitchFamily="34" charset="0"/>
              <a:cs typeface="Arial" pitchFamily="34" charset="0"/>
            </a:endParaRPr>
          </a:p>
          <a:p>
            <a:pPr>
              <a:buNone/>
            </a:pPr>
            <a:endParaRPr lang="en-US" sz="2000" b="1" dirty="0">
              <a:latin typeface="Arial" pitchFamily="34" charset="0"/>
              <a:cs typeface="Arial" pitchFamily="34" charset="0"/>
            </a:endParaRPr>
          </a:p>
          <a:p>
            <a:pPr>
              <a:buNone/>
            </a:pPr>
            <a:endParaRPr lang="es-MX" sz="2000" dirty="0">
              <a:latin typeface="Arial" pitchFamily="34" charset="0"/>
              <a:cs typeface="Arial" pitchFamily="34" charset="0"/>
            </a:endParaRPr>
          </a:p>
          <a:p>
            <a:pPr marL="0" indent="0" algn="just">
              <a:buNone/>
            </a:pPr>
            <a:endParaRPr lang="es-ES" sz="1600" dirty="0">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pic>
        <p:nvPicPr>
          <p:cNvPr id="6" name="5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5305" y="2002074"/>
            <a:ext cx="2672478" cy="885232"/>
          </a:xfrm>
          <a:prstGeom prst="rect">
            <a:avLst/>
          </a:prstGeom>
        </p:spPr>
      </p:pic>
      <p:pic>
        <p:nvPicPr>
          <p:cNvPr id="9" name="Picture 2" descr="C:\Users\david\Downloads\axur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156" y="4138417"/>
            <a:ext cx="2435343" cy="437112"/>
          </a:xfrm>
          <a:prstGeom prst="rect">
            <a:avLst/>
          </a:prstGeom>
          <a:noFill/>
          <a:extLst>
            <a:ext uri="{909E8E84-426E-40DD-AFC4-6F175D3DCCD1}">
              <a14:hiddenFill xmlns:a14="http://schemas.microsoft.com/office/drawing/2010/main">
                <a:solidFill>
                  <a:srgbClr val="FFFFFF"/>
                </a:solidFill>
              </a14:hiddenFill>
            </a:ext>
          </a:extLst>
        </p:spPr>
      </p:pic>
      <p:sp>
        <p:nvSpPr>
          <p:cNvPr id="10" name="9 Rectángulo"/>
          <p:cNvSpPr/>
          <p:nvPr/>
        </p:nvSpPr>
        <p:spPr>
          <a:xfrm>
            <a:off x="697875" y="4732863"/>
            <a:ext cx="1355793" cy="369332"/>
          </a:xfrm>
          <a:prstGeom prst="rect">
            <a:avLst/>
          </a:prstGeom>
        </p:spPr>
        <p:txBody>
          <a:bodyPr wrap="square">
            <a:spAutoFit/>
          </a:bodyPr>
          <a:lstStyle/>
          <a:p>
            <a:r>
              <a:rPr lang="es-MX" dirty="0">
                <a:latin typeface="Arial" pitchFamily="34" charset="0"/>
                <a:cs typeface="Arial" pitchFamily="34" charset="0"/>
              </a:rPr>
              <a:t>Axure RP9</a:t>
            </a:r>
          </a:p>
        </p:txBody>
      </p:sp>
      <p:pic>
        <p:nvPicPr>
          <p:cNvPr id="11" name="10 Imagen"/>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64568" y="1958424"/>
            <a:ext cx="2428892" cy="1214446"/>
          </a:xfrm>
          <a:prstGeom prst="rect">
            <a:avLst/>
          </a:prstGeom>
        </p:spPr>
      </p:pic>
      <p:sp>
        <p:nvSpPr>
          <p:cNvPr id="12" name="11 Rectángulo"/>
          <p:cNvSpPr/>
          <p:nvPr/>
        </p:nvSpPr>
        <p:spPr>
          <a:xfrm>
            <a:off x="2651578" y="2979883"/>
            <a:ext cx="4847802" cy="369332"/>
          </a:xfrm>
          <a:prstGeom prst="rect">
            <a:avLst/>
          </a:prstGeom>
        </p:spPr>
        <p:txBody>
          <a:bodyPr wrap="none">
            <a:spAutoFit/>
          </a:bodyPr>
          <a:lstStyle/>
          <a:p>
            <a:r>
              <a:rPr lang="en-US" dirty="0">
                <a:latin typeface="Arial" pitchFamily="34" charset="0"/>
                <a:cs typeface="Arial" pitchFamily="34" charset="0"/>
              </a:rPr>
              <a:t>Android Studio Electric Eel | 2022.1.1 Patch 2</a:t>
            </a:r>
            <a:endParaRPr lang="es-MX" dirty="0">
              <a:latin typeface="Arial" pitchFamily="34" charset="0"/>
              <a:cs typeface="Arial" pitchFamily="34" charset="0"/>
            </a:endParaRPr>
          </a:p>
        </p:txBody>
      </p:sp>
      <p:sp>
        <p:nvSpPr>
          <p:cNvPr id="4" name="Marcador de número de diapositiva 3">
            <a:extLst>
              <a:ext uri="{FF2B5EF4-FFF2-40B4-BE49-F238E27FC236}">
                <a16:creationId xmlns:a16="http://schemas.microsoft.com/office/drawing/2014/main" id="{5972DFA0-54E6-4359-8072-26B941AA9BBB}"/>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12</a:t>
            </a:fld>
            <a:endParaRPr lang="es-ES" dirty="0"/>
          </a:p>
        </p:txBody>
      </p:sp>
      <p:pic>
        <p:nvPicPr>
          <p:cNvPr id="13" name="12 Imagen" descr="Sin título.png"/>
          <p:cNvPicPr>
            <a:picLocks noChangeAspect="1"/>
          </p:cNvPicPr>
          <p:nvPr/>
        </p:nvPicPr>
        <p:blipFill>
          <a:blip r:embed="rId7" cstate="print"/>
          <a:stretch>
            <a:fillRect/>
          </a:stretch>
        </p:blipFill>
        <p:spPr>
          <a:xfrm>
            <a:off x="3683677" y="3647438"/>
            <a:ext cx="2071702" cy="1019459"/>
          </a:xfrm>
          <a:prstGeom prst="rect">
            <a:avLst/>
          </a:prstGeom>
        </p:spPr>
      </p:pic>
      <p:sp>
        <p:nvSpPr>
          <p:cNvPr id="7" name="Rectángulo redondeado 6"/>
          <p:cNvSpPr/>
          <p:nvPr/>
        </p:nvSpPr>
        <p:spPr>
          <a:xfrm>
            <a:off x="3754815" y="1227871"/>
            <a:ext cx="2185974" cy="4310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ángulo redondeado 14"/>
          <p:cNvSpPr/>
          <p:nvPr/>
        </p:nvSpPr>
        <p:spPr>
          <a:xfrm>
            <a:off x="7886027" y="1365801"/>
            <a:ext cx="2185974" cy="4860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n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83948" y="5073228"/>
            <a:ext cx="1601614" cy="1601614"/>
          </a:xfrm>
          <a:prstGeom prst="rect">
            <a:avLst/>
          </a:prstGeom>
        </p:spPr>
      </p:pic>
      <p:pic>
        <p:nvPicPr>
          <p:cNvPr id="17" name="Imagen 1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2151" y="1634781"/>
            <a:ext cx="1939799" cy="1939799"/>
          </a:xfrm>
          <a:prstGeom prst="rect">
            <a:avLst/>
          </a:prstGeom>
        </p:spPr>
      </p:pic>
      <p:pic>
        <p:nvPicPr>
          <p:cNvPr id="16" name="Imagen 15"/>
          <p:cNvPicPr>
            <a:picLocks noChangeAspect="1"/>
          </p:cNvPicPr>
          <p:nvPr/>
        </p:nvPicPr>
        <p:blipFill>
          <a:blip r:embed="rId10"/>
          <a:stretch>
            <a:fillRect/>
          </a:stretch>
        </p:blipFill>
        <p:spPr>
          <a:xfrm>
            <a:off x="272928" y="1149442"/>
            <a:ext cx="2639797" cy="646232"/>
          </a:xfrm>
          <a:prstGeom prst="rect">
            <a:avLst/>
          </a:prstGeom>
        </p:spPr>
      </p:pic>
      <p:sp>
        <p:nvSpPr>
          <p:cNvPr id="18" name="CuadroTexto 17"/>
          <p:cNvSpPr txBox="1"/>
          <p:nvPr/>
        </p:nvSpPr>
        <p:spPr>
          <a:xfrm>
            <a:off x="8263465" y="1400047"/>
            <a:ext cx="1455848" cy="461665"/>
          </a:xfrm>
          <a:prstGeom prst="rect">
            <a:avLst/>
          </a:prstGeom>
          <a:noFill/>
        </p:spPr>
        <p:txBody>
          <a:bodyPr wrap="none" rtlCol="0">
            <a:spAutoFit/>
          </a:bodyPr>
          <a:lstStyle/>
          <a:p>
            <a:r>
              <a:rPr lang="es-ES" sz="2400" b="1" dirty="0" smtClean="0"/>
              <a:t>Lenguajes</a:t>
            </a:r>
            <a:endParaRPr lang="es-ES" sz="2400" b="1" dirty="0"/>
          </a:p>
        </p:txBody>
      </p:sp>
    </p:spTree>
    <p:extLst>
      <p:ext uri="{BB962C8B-B14F-4D97-AF65-F5344CB8AC3E}">
        <p14:creationId xmlns:p14="http://schemas.microsoft.com/office/powerpoint/2010/main" val="6410574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n-US" sz="2400" b="1" dirty="0" smtClean="0">
                <a:solidFill>
                  <a:schemeClr val="bg1"/>
                </a:solidFill>
                <a:latin typeface="Arial" pitchFamily="34" charset="0"/>
                <a:cs typeface="Arial" pitchFamily="34" charset="0"/>
              </a:rPr>
              <a:t>		Lexica</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E213AA52-2804-459E-A4E1-43F5D9A794E0}"/>
              </a:ext>
            </a:extLst>
          </p:cNvPr>
          <p:cNvSpPr>
            <a:spLocks noGrp="1"/>
          </p:cNvSpPr>
          <p:nvPr>
            <p:ph type="sldNum" sz="quarter" idx="12"/>
          </p:nvPr>
        </p:nvSpPr>
        <p:spPr/>
        <p:txBody>
          <a:bodyPr/>
          <a:lstStyle/>
          <a:p>
            <a:fld id="{132FADFE-3B8F-471C-ABF0-DBC7717ECBBC}" type="slidenum">
              <a:rPr lang="es-ES" smtClean="0"/>
              <a:pPr/>
              <a:t>13</a:t>
            </a:fld>
            <a:endParaRPr lang="es-ES"/>
          </a:p>
        </p:txBody>
      </p:sp>
      <p:pic>
        <p:nvPicPr>
          <p:cNvPr id="3" name="Imagen 2"/>
          <p:cNvPicPr>
            <a:picLocks noChangeAspect="1"/>
          </p:cNvPicPr>
          <p:nvPr/>
        </p:nvPicPr>
        <p:blipFill>
          <a:blip r:embed="rId4"/>
          <a:stretch>
            <a:fillRect/>
          </a:stretch>
        </p:blipFill>
        <p:spPr>
          <a:xfrm>
            <a:off x="933401" y="1143000"/>
            <a:ext cx="10087298" cy="4839789"/>
          </a:xfrm>
          <a:prstGeom prst="rect">
            <a:avLst/>
          </a:prstGeom>
        </p:spPr>
      </p:pic>
      <p:sp>
        <p:nvSpPr>
          <p:cNvPr id="5" name="Rectángulo 4"/>
          <p:cNvSpPr/>
          <p:nvPr/>
        </p:nvSpPr>
        <p:spPr>
          <a:xfrm>
            <a:off x="4079776" y="2379450"/>
            <a:ext cx="4228201" cy="1800664"/>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51275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n-US" sz="2400" b="1" dirty="0" smtClean="0">
                <a:solidFill>
                  <a:schemeClr val="bg1"/>
                </a:solidFill>
                <a:latin typeface="Arial" pitchFamily="34" charset="0"/>
                <a:cs typeface="Arial" pitchFamily="34" charset="0"/>
              </a:rPr>
              <a:t>		Lexica</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E213AA52-2804-459E-A4E1-43F5D9A794E0}"/>
              </a:ext>
            </a:extLst>
          </p:cNvPr>
          <p:cNvSpPr>
            <a:spLocks noGrp="1"/>
          </p:cNvSpPr>
          <p:nvPr>
            <p:ph type="sldNum" sz="quarter" idx="12"/>
          </p:nvPr>
        </p:nvSpPr>
        <p:spPr/>
        <p:txBody>
          <a:bodyPr/>
          <a:lstStyle/>
          <a:p>
            <a:fld id="{132FADFE-3B8F-471C-ABF0-DBC7717ECBBC}" type="slidenum">
              <a:rPr lang="es-ES" smtClean="0"/>
              <a:pPr/>
              <a:t>14</a:t>
            </a:fld>
            <a:endParaRPr lang="es-ES"/>
          </a:p>
        </p:txBody>
      </p:sp>
      <p:pic>
        <p:nvPicPr>
          <p:cNvPr id="3" name="Imagen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9657" y="1076393"/>
            <a:ext cx="8107681" cy="5674012"/>
          </a:xfrm>
          <a:prstGeom prst="rect">
            <a:avLst/>
          </a:prstGeom>
        </p:spPr>
      </p:pic>
      <p:sp>
        <p:nvSpPr>
          <p:cNvPr id="5" name="Rectángulo redondeado 4"/>
          <p:cNvSpPr/>
          <p:nvPr/>
        </p:nvSpPr>
        <p:spPr>
          <a:xfrm>
            <a:off x="2999657" y="1240971"/>
            <a:ext cx="3087634" cy="158060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redondeado 5"/>
          <p:cNvSpPr/>
          <p:nvPr/>
        </p:nvSpPr>
        <p:spPr>
          <a:xfrm>
            <a:off x="3122888" y="2821577"/>
            <a:ext cx="3087634" cy="457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10425714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7"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n-US" sz="2400" b="1" dirty="0">
                <a:solidFill>
                  <a:schemeClr val="bg1"/>
                </a:solidFill>
                <a:latin typeface="Arial" pitchFamily="34" charset="0"/>
                <a:cs typeface="Arial" pitchFamily="34" charset="0"/>
              </a:rPr>
              <a:t>Metolodología de Desarrollo</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E213AA52-2804-459E-A4E1-43F5D9A794E0}"/>
              </a:ext>
            </a:extLst>
          </p:cNvPr>
          <p:cNvSpPr>
            <a:spLocks noGrp="1"/>
          </p:cNvSpPr>
          <p:nvPr>
            <p:ph type="sldNum" sz="quarter" idx="12"/>
          </p:nvPr>
        </p:nvSpPr>
        <p:spPr/>
        <p:txBody>
          <a:bodyPr/>
          <a:lstStyle/>
          <a:p>
            <a:fld id="{132FADFE-3B8F-471C-ABF0-DBC7717ECBBC}" type="slidenum">
              <a:rPr lang="es-ES" smtClean="0"/>
              <a:pPr/>
              <a:t>15</a:t>
            </a:fld>
            <a:endParaRPr lang="es-ES"/>
          </a:p>
        </p:txBody>
      </p:sp>
      <p:pic>
        <p:nvPicPr>
          <p:cNvPr id="6" name="Imagen 5"/>
          <p:cNvPicPr>
            <a:picLocks noChangeAspect="1"/>
          </p:cNvPicPr>
          <p:nvPr/>
        </p:nvPicPr>
        <p:blipFill rotWithShape="1">
          <a:blip r:embed="rId4"/>
          <a:srcRect b="9581"/>
          <a:stretch/>
        </p:blipFill>
        <p:spPr>
          <a:xfrm>
            <a:off x="982026" y="1143000"/>
            <a:ext cx="9829666" cy="4957354"/>
          </a:xfrm>
          <a:prstGeom prst="rect">
            <a:avLst/>
          </a:prstGeom>
        </p:spPr>
      </p:pic>
    </p:spTree>
    <p:extLst>
      <p:ext uri="{BB962C8B-B14F-4D97-AF65-F5344CB8AC3E}">
        <p14:creationId xmlns:p14="http://schemas.microsoft.com/office/powerpoint/2010/main" val="39043858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Propuesta del Sistema</a:t>
            </a:r>
            <a:endParaRPr lang="es-ES" sz="2400" b="1" dirty="0">
              <a:solidFill>
                <a:schemeClr val="bg1"/>
              </a:solidFill>
              <a:latin typeface="Arial" pitchFamily="34" charset="0"/>
              <a:cs typeface="Arial" pitchFamily="34" charset="0"/>
            </a:endParaRPr>
          </a:p>
        </p:txBody>
      </p:sp>
      <p:sp>
        <p:nvSpPr>
          <p:cNvPr id="3" name="2 Marcador de contenido"/>
          <p:cNvSpPr>
            <a:spLocks noGrp="1"/>
          </p:cNvSpPr>
          <p:nvPr>
            <p:ph idx="1"/>
          </p:nvPr>
        </p:nvSpPr>
        <p:spPr>
          <a:xfrm>
            <a:off x="878444" y="1251912"/>
            <a:ext cx="10042103" cy="4525963"/>
          </a:xfrm>
        </p:spPr>
        <p:txBody>
          <a:bodyPr>
            <a:noAutofit/>
          </a:bodyPr>
          <a:lstStyle/>
          <a:p>
            <a:pPr marL="0" indent="0">
              <a:buNone/>
            </a:pPr>
            <a:r>
              <a:rPr lang="es-ES" sz="2500" dirty="0" smtClean="0"/>
              <a:t>Esta investigación se centra en desarrollar una aplicación Android con mini juegos diseñados para estimular eficazmente habilidades neurocognitivas en niños con TDAH, abordando desafíos como falta de atención, problemas de memoria y falta de autocontrol. El propósito es mejorar la accesibilidad al desarrollo cognitivo, con la perspectiva de compartir datos con especialistas para el monitoreo y evaluación del progreso. La aplicación incluye un sistema de puntuación en los mini juegos para verificar la efectividad en la mejora de las habilidades en niños con TDAH, guiada por la activa promoción del desarrollo neurocognitivo en este grupo.</a:t>
            </a:r>
            <a:endParaRPr lang="en-US" sz="2500" dirty="0"/>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16</a:t>
            </a:fld>
            <a:endParaRPr lang="es-ES" dirty="0"/>
          </a:p>
        </p:txBody>
      </p:sp>
      <p:pic>
        <p:nvPicPr>
          <p:cNvPr id="6" name="Imagen 5"/>
          <p:cNvPicPr>
            <a:picLocks noChangeAspect="1"/>
          </p:cNvPicPr>
          <p:nvPr/>
        </p:nvPicPr>
        <p:blipFill>
          <a:blip r:embed="rId4"/>
          <a:stretch>
            <a:fillRect/>
          </a:stretch>
        </p:blipFill>
        <p:spPr>
          <a:xfrm>
            <a:off x="9442823" y="3998958"/>
            <a:ext cx="2344434" cy="2303097"/>
          </a:xfrm>
          <a:prstGeom prst="rect">
            <a:avLst/>
          </a:prstGeom>
        </p:spPr>
      </p:pic>
    </p:spTree>
    <p:extLst>
      <p:ext uri="{BB962C8B-B14F-4D97-AF65-F5344CB8AC3E}">
        <p14:creationId xmlns:p14="http://schemas.microsoft.com/office/powerpoint/2010/main" val="394346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Requisitos Funcionales</a:t>
            </a:r>
            <a:endParaRPr lang="es-ES" sz="2400" b="1" dirty="0">
              <a:solidFill>
                <a:schemeClr val="bg1"/>
              </a:solidFill>
              <a:latin typeface="Arial" pitchFamily="34" charset="0"/>
              <a:cs typeface="Arial" pitchFamily="34" charset="0"/>
            </a:endParaRPr>
          </a:p>
        </p:txBody>
      </p:sp>
      <p:sp>
        <p:nvSpPr>
          <p:cNvPr id="3" name="2 Marcador de contenido"/>
          <p:cNvSpPr>
            <a:spLocks noGrp="1"/>
          </p:cNvSpPr>
          <p:nvPr>
            <p:ph idx="1"/>
          </p:nvPr>
        </p:nvSpPr>
        <p:spPr>
          <a:xfrm>
            <a:off x="1140119" y="644297"/>
            <a:ext cx="10503241" cy="6078787"/>
          </a:xfrm>
        </p:spPr>
        <p:txBody>
          <a:bodyPr>
            <a:noAutofit/>
          </a:bodyPr>
          <a:lstStyle/>
          <a:p>
            <a:pPr marL="0" indent="0">
              <a:buNone/>
            </a:pPr>
            <a:endParaRPr lang="es-ES" sz="2500" b="1" dirty="0" smtClean="0"/>
          </a:p>
          <a:p>
            <a:pPr>
              <a:buFont typeface="Wingdings" panose="05000000000000000000" pitchFamily="2" charset="2"/>
              <a:buChar char="Ø"/>
            </a:pPr>
            <a:r>
              <a:rPr lang="es-ES" sz="2400" b="1" dirty="0" smtClean="0"/>
              <a:t>RF1</a:t>
            </a:r>
            <a:r>
              <a:rPr lang="es-ES" sz="2400" dirty="0" smtClean="0"/>
              <a:t>-Registrar </a:t>
            </a:r>
            <a:r>
              <a:rPr lang="es-ES" sz="2400" dirty="0"/>
              <a:t>al jugador </a:t>
            </a:r>
            <a:endParaRPr lang="en-US" sz="2400" dirty="0"/>
          </a:p>
          <a:p>
            <a:pPr>
              <a:buFont typeface="Wingdings" panose="05000000000000000000" pitchFamily="2" charset="2"/>
              <a:buChar char="Ø"/>
            </a:pPr>
            <a:r>
              <a:rPr lang="es-ES" sz="2400" b="1" dirty="0"/>
              <a:t>RF2</a:t>
            </a:r>
            <a:r>
              <a:rPr lang="es-ES" sz="2400" dirty="0"/>
              <a:t>-Mini juego </a:t>
            </a:r>
            <a:r>
              <a:rPr lang="es-ES" sz="2400" dirty="0" smtClean="0"/>
              <a:t>“Memorama” </a:t>
            </a:r>
            <a:r>
              <a:rPr lang="es-ES" sz="2400" dirty="0"/>
              <a:t>para desarrollar </a:t>
            </a:r>
            <a:r>
              <a:rPr lang="es-ES" sz="2400" dirty="0" smtClean="0"/>
              <a:t>la memoria y atención.</a:t>
            </a:r>
            <a:endParaRPr lang="en-US" sz="2400" dirty="0"/>
          </a:p>
          <a:p>
            <a:pPr>
              <a:buFont typeface="Wingdings" panose="05000000000000000000" pitchFamily="2" charset="2"/>
              <a:buChar char="Ø"/>
            </a:pPr>
            <a:r>
              <a:rPr lang="es-ES" sz="2400" b="1" dirty="0"/>
              <a:t>RF3-</a:t>
            </a:r>
            <a:r>
              <a:rPr lang="es-ES" sz="2400" dirty="0"/>
              <a:t> Mini juego </a:t>
            </a:r>
            <a:r>
              <a:rPr lang="es-ES" sz="2400" dirty="0" smtClean="0"/>
              <a:t>“Secuencia de Colores” </a:t>
            </a:r>
            <a:r>
              <a:rPr lang="es-ES" sz="2400" dirty="0"/>
              <a:t>para desarrollar </a:t>
            </a:r>
            <a:r>
              <a:rPr lang="es-ES" sz="2400" dirty="0" smtClean="0"/>
              <a:t>memoria y atención.</a:t>
            </a:r>
            <a:endParaRPr lang="en-US" sz="2400" dirty="0"/>
          </a:p>
          <a:p>
            <a:pPr>
              <a:buFont typeface="Wingdings" panose="05000000000000000000" pitchFamily="2" charset="2"/>
              <a:buChar char="Ø"/>
            </a:pPr>
            <a:r>
              <a:rPr lang="es-ES" sz="2400" b="1" dirty="0"/>
              <a:t>RF4-</a:t>
            </a:r>
            <a:r>
              <a:rPr lang="es-ES" sz="2400" dirty="0"/>
              <a:t> Mini juego </a:t>
            </a:r>
            <a:r>
              <a:rPr lang="es-ES" sz="2400" dirty="0" smtClean="0"/>
              <a:t>“Mini-Historias” </a:t>
            </a:r>
            <a:r>
              <a:rPr lang="es-ES" sz="2400" dirty="0"/>
              <a:t>para </a:t>
            </a:r>
            <a:r>
              <a:rPr lang="es-ES" sz="2400" dirty="0" smtClean="0"/>
              <a:t>decidir y relacionar objetos con actividades del día a día .</a:t>
            </a:r>
            <a:endParaRPr lang="en-US" sz="2400" dirty="0"/>
          </a:p>
          <a:p>
            <a:pPr>
              <a:buFont typeface="Wingdings" panose="05000000000000000000" pitchFamily="2" charset="2"/>
              <a:buChar char="Ø"/>
            </a:pPr>
            <a:r>
              <a:rPr lang="es-ES" sz="2400" b="1" dirty="0"/>
              <a:t>RF5-</a:t>
            </a:r>
            <a:r>
              <a:rPr lang="es-ES" sz="2400" dirty="0"/>
              <a:t> Mini juego </a:t>
            </a:r>
            <a:r>
              <a:rPr lang="es-ES" sz="2400" dirty="0" smtClean="0"/>
              <a:t>“Puzzle” e</a:t>
            </a:r>
            <a:r>
              <a:rPr lang="es-ES" sz="2400" dirty="0" smtClean="0"/>
              <a:t>stimula </a:t>
            </a:r>
            <a:r>
              <a:rPr lang="es-ES" sz="2400" dirty="0"/>
              <a:t>la resolución de problemas, pensamiento crítico y mejora habilidades motoras</a:t>
            </a:r>
            <a:r>
              <a:rPr lang="es-ES" sz="2400" dirty="0" smtClean="0"/>
              <a:t>.</a:t>
            </a:r>
          </a:p>
          <a:p>
            <a:pPr>
              <a:buFont typeface="Wingdings" panose="05000000000000000000" pitchFamily="2" charset="2"/>
              <a:buChar char="Ø"/>
            </a:pPr>
            <a:r>
              <a:rPr lang="es-ES" sz="2400" dirty="0" smtClean="0"/>
              <a:t>Mini juego “Encuentra la Sombra” </a:t>
            </a:r>
            <a:r>
              <a:rPr lang="es-ES" sz="2400" dirty="0"/>
              <a:t>Mejora la atención, concentración y habilidades visuales</a:t>
            </a:r>
            <a:r>
              <a:rPr lang="es-ES" sz="2400" dirty="0" smtClean="0"/>
              <a:t>.</a:t>
            </a:r>
          </a:p>
          <a:p>
            <a:pPr>
              <a:buFont typeface="Wingdings" panose="05000000000000000000" pitchFamily="2" charset="2"/>
              <a:buChar char="Ø"/>
            </a:pPr>
            <a:r>
              <a:rPr lang="es-ES" sz="2400" b="1" dirty="0" smtClean="0"/>
              <a:t>RF6-</a:t>
            </a:r>
            <a:r>
              <a:rPr lang="es-ES" sz="2400" dirty="0" smtClean="0"/>
              <a:t>Emitir </a:t>
            </a:r>
            <a:r>
              <a:rPr lang="es-ES" sz="2400" dirty="0"/>
              <a:t>una puntuación general de manera independiente para cada mini juego.</a:t>
            </a:r>
            <a:endParaRPr lang="en-US" sz="2400" dirty="0"/>
          </a:p>
          <a:p>
            <a:pPr>
              <a:buFont typeface="Wingdings" panose="05000000000000000000" pitchFamily="2" charset="2"/>
              <a:buChar char="Ø"/>
            </a:pPr>
            <a:r>
              <a:rPr lang="es-ES" sz="2400" b="1" dirty="0"/>
              <a:t>RF7-</a:t>
            </a:r>
            <a:r>
              <a:rPr lang="es-ES" sz="2400" dirty="0"/>
              <a:t>Mostrar el registro del trabajo del niño. </a:t>
            </a:r>
            <a:endParaRPr lang="en-US" sz="2400" dirty="0"/>
          </a:p>
          <a:p>
            <a:pPr>
              <a:buFont typeface="Wingdings" panose="05000000000000000000" pitchFamily="2" charset="2"/>
              <a:buChar char="Ø"/>
            </a:pPr>
            <a:r>
              <a:rPr lang="es-ES" sz="2400" b="1" dirty="0"/>
              <a:t>RF8-</a:t>
            </a:r>
            <a:r>
              <a:rPr lang="es-ES" sz="2400" dirty="0"/>
              <a:t>Mostrar un acerca de.</a:t>
            </a:r>
            <a:endParaRPr lang="en-US" sz="2400" dirty="0"/>
          </a:p>
          <a:p>
            <a:pPr marL="0" indent="0">
              <a:buNone/>
            </a:pPr>
            <a:endParaRPr lang="en-US" dirty="0"/>
          </a:p>
          <a:p>
            <a:pPr algn="just">
              <a:buNone/>
            </a:pPr>
            <a:endParaRPr lang="es-ES" sz="2000" dirty="0">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17</a:t>
            </a:fld>
            <a:endParaRPr lang="es-ES" dirty="0"/>
          </a:p>
        </p:txBody>
      </p:sp>
    </p:spTree>
    <p:extLst>
      <p:ext uri="{BB962C8B-B14F-4D97-AF65-F5344CB8AC3E}">
        <p14:creationId xmlns:p14="http://schemas.microsoft.com/office/powerpoint/2010/main" val="229411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Requisitos No Funcionales</a:t>
            </a:r>
            <a:endParaRPr lang="es-ES" sz="2400" b="1" dirty="0">
              <a:solidFill>
                <a:schemeClr val="bg1"/>
              </a:solidFill>
              <a:latin typeface="Arial" pitchFamily="34" charset="0"/>
              <a:cs typeface="Arial" pitchFamily="34" charset="0"/>
            </a:endParaRPr>
          </a:p>
        </p:txBody>
      </p:sp>
      <p:sp>
        <p:nvSpPr>
          <p:cNvPr id="3" name="2 Marcador de contenido"/>
          <p:cNvSpPr>
            <a:spLocks noGrp="1"/>
          </p:cNvSpPr>
          <p:nvPr>
            <p:ph idx="1"/>
          </p:nvPr>
        </p:nvSpPr>
        <p:spPr>
          <a:xfrm>
            <a:off x="2413495" y="1076393"/>
            <a:ext cx="8840666" cy="5535917"/>
          </a:xfrm>
        </p:spPr>
        <p:txBody>
          <a:bodyPr>
            <a:noAutofit/>
          </a:bodyPr>
          <a:lstStyle/>
          <a:p>
            <a:pPr marL="0" indent="0">
              <a:buNone/>
            </a:pPr>
            <a:r>
              <a:rPr lang="es-ES" sz="2500" dirty="0"/>
              <a:t>Los </a:t>
            </a:r>
            <a:r>
              <a:rPr lang="es-ES" sz="2500" b="1" dirty="0"/>
              <a:t>Requisitos no funcionales</a:t>
            </a:r>
            <a:r>
              <a:rPr lang="es-ES" sz="2500" dirty="0"/>
              <a:t> o “historias técnicas” son propiedades o cualidades que el producto debe </a:t>
            </a:r>
            <a:r>
              <a:rPr lang="es-ES" sz="2500" dirty="0" smtClean="0"/>
              <a:t>tener.</a:t>
            </a:r>
            <a:endParaRPr lang="es-ES" sz="2500" dirty="0"/>
          </a:p>
          <a:p>
            <a:pPr>
              <a:buFont typeface="Wingdings" panose="05000000000000000000" pitchFamily="2" charset="2"/>
              <a:buChar char="Ø"/>
            </a:pPr>
            <a:r>
              <a:rPr lang="es-ES" sz="2500" dirty="0"/>
              <a:t>Disponibilidad: La aplicación debe funcionar sin restricciones de tiempo o ubicación.</a:t>
            </a:r>
          </a:p>
          <a:p>
            <a:pPr>
              <a:buFont typeface="Wingdings" panose="05000000000000000000" pitchFamily="2" charset="2"/>
              <a:buChar char="Ø"/>
            </a:pPr>
            <a:r>
              <a:rPr lang="es-ES" sz="2500" dirty="0"/>
              <a:t>Rendimiento: La transición entre mini juegos y la actualización en tiempo real de puntajes deben ser rápidas y eficientes.</a:t>
            </a:r>
          </a:p>
          <a:p>
            <a:pPr>
              <a:buFont typeface="Wingdings" panose="05000000000000000000" pitchFamily="2" charset="2"/>
              <a:buChar char="Ø"/>
            </a:pPr>
            <a:r>
              <a:rPr lang="es-ES" sz="2500" dirty="0"/>
              <a:t>Usabilidad: La interfaz gráfica debe ser fácil de usar y permitir una navegación sencilla.</a:t>
            </a:r>
          </a:p>
          <a:p>
            <a:pPr>
              <a:buFont typeface="Wingdings" panose="05000000000000000000" pitchFamily="2" charset="2"/>
              <a:buChar char="Ø"/>
            </a:pPr>
            <a:r>
              <a:rPr lang="es-ES" sz="2500" dirty="0"/>
              <a:t>Implementación: La aplicación está programada en Java en Android Studio para un procesamiento rápido de datos.</a:t>
            </a:r>
          </a:p>
          <a:p>
            <a:pPr>
              <a:buFont typeface="Wingdings" panose="05000000000000000000" pitchFamily="2" charset="2"/>
              <a:buChar char="Ø"/>
            </a:pPr>
            <a:r>
              <a:rPr lang="es-ES" sz="2500" dirty="0"/>
              <a:t>Seguridad: Cada jugador tiene un perfil personalizado con nombre y edad para una experiencia adaptada y segura.</a:t>
            </a:r>
          </a:p>
          <a:p>
            <a:pPr>
              <a:buFont typeface="Wingdings" panose="05000000000000000000" pitchFamily="2" charset="2"/>
              <a:buChar char="Ø"/>
            </a:pPr>
            <a:r>
              <a:rPr lang="es-ES" sz="2500" dirty="0"/>
              <a:t>Software: Se recomienda usar dispositivos Android con versión 7.0 o superior.</a:t>
            </a:r>
          </a:p>
          <a:p>
            <a:pPr marL="0" indent="0">
              <a:buNone/>
            </a:pPr>
            <a:endParaRPr lang="en-US" sz="2000" dirty="0"/>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18</a:t>
            </a:fld>
            <a:endParaRPr lang="es-ES" dirty="0"/>
          </a:p>
        </p:txBody>
      </p:sp>
    </p:spTree>
    <p:extLst>
      <p:ext uri="{BB962C8B-B14F-4D97-AF65-F5344CB8AC3E}">
        <p14:creationId xmlns:p14="http://schemas.microsoft.com/office/powerpoint/2010/main" val="29087932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Historias de Usuario</a:t>
            </a:r>
            <a:endParaRPr lang="es-ES" sz="2400" b="1" dirty="0">
              <a:solidFill>
                <a:schemeClr val="bg1"/>
              </a:solidFill>
              <a:latin typeface="Arial" pitchFamily="34" charset="0"/>
              <a:cs typeface="Arial" pitchFamily="34" charset="0"/>
            </a:endParaRPr>
          </a:p>
        </p:txBody>
      </p:sp>
      <p:sp>
        <p:nvSpPr>
          <p:cNvPr id="3" name="2 Marcador de contenido"/>
          <p:cNvSpPr>
            <a:spLocks noGrp="1"/>
          </p:cNvSpPr>
          <p:nvPr>
            <p:ph idx="1"/>
          </p:nvPr>
        </p:nvSpPr>
        <p:spPr>
          <a:xfrm>
            <a:off x="2014914" y="1652913"/>
            <a:ext cx="8653086" cy="4525963"/>
          </a:xfrm>
        </p:spPr>
        <p:txBody>
          <a:bodyPr>
            <a:noAutofit/>
          </a:bodyPr>
          <a:lstStyle/>
          <a:p>
            <a:pPr marL="0" indent="0">
              <a:buNone/>
            </a:pPr>
            <a:r>
              <a:rPr lang="es-ES" sz="2500" dirty="0"/>
              <a:t>Para la implementación de la aplicación móvil se confeccionaron cuatro historias de usuarios:  </a:t>
            </a:r>
            <a:endParaRPr lang="en-US" sz="2500" dirty="0"/>
          </a:p>
          <a:p>
            <a:pPr lvl="0" fontAlgn="base">
              <a:buFont typeface="Wingdings" panose="05000000000000000000" pitchFamily="2" charset="2"/>
              <a:buChar char="Ø"/>
            </a:pPr>
            <a:r>
              <a:rPr lang="es-US" sz="2400" dirty="0"/>
              <a:t>Registro de Jugadores </a:t>
            </a:r>
            <a:endParaRPr lang="es-US" sz="2400" dirty="0" smtClean="0"/>
          </a:p>
          <a:p>
            <a:pPr lvl="0" fontAlgn="base">
              <a:buFont typeface="Wingdings" panose="05000000000000000000" pitchFamily="2" charset="2"/>
              <a:buChar char="Ø"/>
            </a:pPr>
            <a:r>
              <a:rPr lang="es-US" sz="2500" dirty="0" smtClean="0"/>
              <a:t>Jugar </a:t>
            </a:r>
            <a:r>
              <a:rPr lang="es-US" sz="2500" dirty="0"/>
              <a:t>Mini juego de </a:t>
            </a:r>
            <a:r>
              <a:rPr lang="es-US" sz="2500" dirty="0" smtClean="0"/>
              <a:t>"Memorama" para </a:t>
            </a:r>
            <a:r>
              <a:rPr lang="es-US" sz="2500" dirty="0"/>
              <a:t>desarrollar </a:t>
            </a:r>
            <a:r>
              <a:rPr lang="es-US" sz="2500" dirty="0" smtClean="0"/>
              <a:t>la memoria.</a:t>
            </a:r>
            <a:endParaRPr lang="en-US" sz="2500" dirty="0"/>
          </a:p>
          <a:p>
            <a:pPr lvl="0" fontAlgn="base">
              <a:buFont typeface="Wingdings" panose="05000000000000000000" pitchFamily="2" charset="2"/>
              <a:buChar char="Ø"/>
            </a:pPr>
            <a:r>
              <a:rPr lang="es-US" sz="2500" dirty="0"/>
              <a:t>Jugar Mini juegos </a:t>
            </a:r>
            <a:r>
              <a:rPr lang="es-US" sz="2500" dirty="0" smtClean="0"/>
              <a:t>“Secuencia de Colores” </a:t>
            </a:r>
            <a:r>
              <a:rPr lang="es-US" sz="2500" dirty="0"/>
              <a:t>para desarrollar </a:t>
            </a:r>
            <a:r>
              <a:rPr lang="es-US" sz="2500" dirty="0" smtClean="0"/>
              <a:t>la memoria.</a:t>
            </a:r>
            <a:endParaRPr lang="en-US" sz="2500" dirty="0"/>
          </a:p>
          <a:p>
            <a:pPr lvl="0" fontAlgn="base">
              <a:buFont typeface="Wingdings" panose="05000000000000000000" pitchFamily="2" charset="2"/>
              <a:buChar char="Ø"/>
            </a:pPr>
            <a:r>
              <a:rPr lang="es-US" sz="2500" dirty="0"/>
              <a:t>Jugar Mini juegos </a:t>
            </a:r>
            <a:r>
              <a:rPr lang="es-US" sz="2500" dirty="0" smtClean="0"/>
              <a:t>“Mini Historias” para desarrollar la memoria.</a:t>
            </a:r>
            <a:endParaRPr lang="en-US" sz="2500" dirty="0"/>
          </a:p>
          <a:p>
            <a:pPr marL="0" indent="0">
              <a:buNone/>
            </a:pPr>
            <a:endParaRPr lang="en-US" sz="2000" dirty="0"/>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19</a:t>
            </a:fld>
            <a:endParaRPr lang="es-ES" dirty="0"/>
          </a:p>
        </p:txBody>
      </p:sp>
    </p:spTree>
    <p:extLst>
      <p:ext uri="{BB962C8B-B14F-4D97-AF65-F5344CB8AC3E}">
        <p14:creationId xmlns:p14="http://schemas.microsoft.com/office/powerpoint/2010/main" val="1409649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Historias de Usuario</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20</a:t>
            </a:fld>
            <a:endParaRPr lang="es-ES" dirty="0"/>
          </a:p>
        </p:txBody>
      </p:sp>
      <p:pic>
        <p:nvPicPr>
          <p:cNvPr id="9" name="Imagen 8"/>
          <p:cNvPicPr/>
          <p:nvPr/>
        </p:nvPicPr>
        <p:blipFill>
          <a:blip r:embed="rId4">
            <a:extLst>
              <a:ext uri="{28A0092B-C50C-407E-A947-70E740481C1C}">
                <a14:useLocalDpi xmlns:a14="http://schemas.microsoft.com/office/drawing/2010/main" val="0"/>
              </a:ext>
            </a:extLst>
          </a:blip>
          <a:stretch>
            <a:fillRect/>
          </a:stretch>
        </p:blipFill>
        <p:spPr>
          <a:xfrm>
            <a:off x="2194197" y="1108109"/>
            <a:ext cx="7929517" cy="5462508"/>
          </a:xfrm>
          <a:prstGeom prst="rect">
            <a:avLst/>
          </a:prstGeom>
        </p:spPr>
      </p:pic>
    </p:spTree>
    <p:extLst>
      <p:ext uri="{BB962C8B-B14F-4D97-AF65-F5344CB8AC3E}">
        <p14:creationId xmlns:p14="http://schemas.microsoft.com/office/powerpoint/2010/main" val="2719015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Tareas De Ingeniería </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21</a:t>
            </a:fld>
            <a:endParaRPr lang="es-ES" dirty="0"/>
          </a:p>
        </p:txBody>
      </p:sp>
      <p:pic>
        <p:nvPicPr>
          <p:cNvPr id="6" name="Imagen 5"/>
          <p:cNvPicPr>
            <a:picLocks noChangeAspect="1"/>
          </p:cNvPicPr>
          <p:nvPr/>
        </p:nvPicPr>
        <p:blipFill>
          <a:blip r:embed="rId4"/>
          <a:stretch>
            <a:fillRect/>
          </a:stretch>
        </p:blipFill>
        <p:spPr>
          <a:xfrm>
            <a:off x="1558031" y="1416028"/>
            <a:ext cx="9038449" cy="4774259"/>
          </a:xfrm>
          <a:prstGeom prst="rect">
            <a:avLst/>
          </a:prstGeom>
        </p:spPr>
      </p:pic>
    </p:spTree>
    <p:extLst>
      <p:ext uri="{BB962C8B-B14F-4D97-AF65-F5344CB8AC3E}">
        <p14:creationId xmlns:p14="http://schemas.microsoft.com/office/powerpoint/2010/main" val="588797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Arquitectura del Sistema</a:t>
            </a:r>
            <a:endParaRPr lang="es-ES" sz="2400" b="1" dirty="0">
              <a:solidFill>
                <a:schemeClr val="bg1"/>
              </a:solidFill>
              <a:latin typeface="Arial" pitchFamily="34" charset="0"/>
              <a:cs typeface="Arial" pitchFamily="34" charset="0"/>
            </a:endParaRPr>
          </a:p>
        </p:txBody>
      </p:sp>
      <p:sp>
        <p:nvSpPr>
          <p:cNvPr id="3" name="2 Marcador de contenido"/>
          <p:cNvSpPr>
            <a:spLocks noGrp="1"/>
          </p:cNvSpPr>
          <p:nvPr>
            <p:ph idx="1"/>
          </p:nvPr>
        </p:nvSpPr>
        <p:spPr>
          <a:xfrm>
            <a:off x="2458705" y="1322083"/>
            <a:ext cx="8653086" cy="5035876"/>
          </a:xfrm>
        </p:spPr>
        <p:txBody>
          <a:bodyPr>
            <a:noAutofit/>
          </a:bodyPr>
          <a:lstStyle/>
          <a:p>
            <a:pPr marL="0" indent="0" algn="just">
              <a:buNone/>
            </a:pPr>
            <a:r>
              <a:rPr lang="es-ES" sz="2400" dirty="0" smtClean="0"/>
              <a:t>La aplicación móvil sigue una arquitectura de 2 capas con una capa de presentación y una capa de lógica del negocio, la parte que se encarga de cómo se ve usa algo llamado ViewModel para manejar la forma en que interactúas con la aplicación. La otra parte, que maneja cómo funcionan las cosas, realiza tareas como ejecutar mini juegos que te ayudan a obtener puntos. Este enfoque de dos partes ayuda a organizar claramente quién hace qué en la aplicación y hace que sea más fácil mantenerla funcionando bien.</a:t>
            </a:r>
            <a:endParaRPr lang="en-US" sz="2500" dirty="0"/>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22</a:t>
            </a:fld>
            <a:endParaRPr lang="es-ES" dirty="0"/>
          </a:p>
        </p:txBody>
      </p:sp>
      <p:pic>
        <p:nvPicPr>
          <p:cNvPr id="7" name="Imagen 6"/>
          <p:cNvPicPr/>
          <p:nvPr/>
        </p:nvPicPr>
        <p:blipFill>
          <a:blip r:embed="rId4">
            <a:extLst>
              <a:ext uri="{28A0092B-C50C-407E-A947-70E740481C1C}">
                <a14:useLocalDpi xmlns:a14="http://schemas.microsoft.com/office/drawing/2010/main" val="0"/>
              </a:ext>
            </a:extLst>
          </a:blip>
          <a:stretch>
            <a:fillRect/>
          </a:stretch>
        </p:blipFill>
        <p:spPr>
          <a:xfrm>
            <a:off x="4079776" y="3971109"/>
            <a:ext cx="4125909" cy="2386850"/>
          </a:xfrm>
          <a:prstGeom prst="rect">
            <a:avLst/>
          </a:prstGeom>
        </p:spPr>
      </p:pic>
    </p:spTree>
    <p:extLst>
      <p:ext uri="{BB962C8B-B14F-4D97-AF65-F5344CB8AC3E}">
        <p14:creationId xmlns:p14="http://schemas.microsoft.com/office/powerpoint/2010/main" val="7752974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Estructura del Directorio</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23</a:t>
            </a:fld>
            <a:endParaRPr lang="es-ES" dirty="0"/>
          </a:p>
        </p:txBody>
      </p:sp>
      <p:pic>
        <p:nvPicPr>
          <p:cNvPr id="7" name="Imagen 6" descr="C:\Users\Angelica\Downloads\app.PNG"/>
          <p:cNvPicPr/>
          <p:nvPr/>
        </p:nvPicPr>
        <p:blipFill>
          <a:blip r:embed="rId4">
            <a:extLst>
              <a:ext uri="{28A0092B-C50C-407E-A947-70E740481C1C}">
                <a14:useLocalDpi xmlns:a14="http://schemas.microsoft.com/office/drawing/2010/main" val="0"/>
              </a:ext>
            </a:extLst>
          </a:blip>
          <a:srcRect/>
          <a:stretch>
            <a:fillRect/>
          </a:stretch>
        </p:blipFill>
        <p:spPr bwMode="auto">
          <a:xfrm>
            <a:off x="4079776" y="903878"/>
            <a:ext cx="3273244" cy="5691527"/>
          </a:xfrm>
          <a:prstGeom prst="rect">
            <a:avLst/>
          </a:prstGeom>
          <a:noFill/>
          <a:ln>
            <a:noFill/>
          </a:ln>
        </p:spPr>
      </p:pic>
    </p:spTree>
    <p:extLst>
      <p:ext uri="{BB962C8B-B14F-4D97-AF65-F5344CB8AC3E}">
        <p14:creationId xmlns:p14="http://schemas.microsoft.com/office/powerpoint/2010/main" val="1125470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		Validaciones</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24</a:t>
            </a:fld>
            <a:endParaRPr lang="es-ES" dirty="0"/>
          </a:p>
        </p:txBody>
      </p:sp>
      <p:sp>
        <p:nvSpPr>
          <p:cNvPr id="5" name="Rectángulo 4"/>
          <p:cNvSpPr/>
          <p:nvPr/>
        </p:nvSpPr>
        <p:spPr>
          <a:xfrm>
            <a:off x="3558695" y="1093325"/>
            <a:ext cx="3788281" cy="369332"/>
          </a:xfrm>
          <a:prstGeom prst="rect">
            <a:avLst/>
          </a:prstGeom>
        </p:spPr>
        <p:txBody>
          <a:bodyPr wrap="none">
            <a:spAutoFit/>
          </a:bodyPr>
          <a:lstStyle/>
          <a:p>
            <a:r>
              <a:rPr lang="es-US" b="1" dirty="0">
                <a:latin typeface="Arial" panose="020B0604020202020204" pitchFamily="34" charset="0"/>
                <a:ea typeface="Calibri" panose="020F0502020204030204" pitchFamily="34" charset="0"/>
              </a:rPr>
              <a:t>Validación de entrada de usuario</a:t>
            </a:r>
            <a:endParaRPr lang="en-US" dirty="0"/>
          </a:p>
        </p:txBody>
      </p:sp>
      <p:sp>
        <p:nvSpPr>
          <p:cNvPr id="6" name="Rectángulo redondeado 5"/>
          <p:cNvSpPr/>
          <p:nvPr/>
        </p:nvSpPr>
        <p:spPr>
          <a:xfrm>
            <a:off x="3558695" y="1098478"/>
            <a:ext cx="3788281" cy="369332"/>
          </a:xfrm>
          <a:prstGeom prst="roundRect">
            <a:avLst/>
          </a:prstGeom>
          <a:noFill/>
          <a:ln>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p:cNvPicPr/>
          <p:nvPr/>
        </p:nvPicPr>
        <p:blipFill>
          <a:blip r:embed="rId4">
            <a:extLst>
              <a:ext uri="{28A0092B-C50C-407E-A947-70E740481C1C}">
                <a14:useLocalDpi xmlns:a14="http://schemas.microsoft.com/office/drawing/2010/main" val="0"/>
              </a:ext>
            </a:extLst>
          </a:blip>
          <a:stretch>
            <a:fillRect/>
          </a:stretch>
        </p:blipFill>
        <p:spPr>
          <a:xfrm>
            <a:off x="1254033" y="1397726"/>
            <a:ext cx="9614263" cy="5133703"/>
          </a:xfrm>
          <a:prstGeom prst="rect">
            <a:avLst/>
          </a:prstGeom>
        </p:spPr>
      </p:pic>
    </p:spTree>
    <p:extLst>
      <p:ext uri="{BB962C8B-B14F-4D97-AF65-F5344CB8AC3E}">
        <p14:creationId xmlns:p14="http://schemas.microsoft.com/office/powerpoint/2010/main" val="2730830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pPr algn="ctr"/>
            <a:r>
              <a:rPr lang="es-ES" sz="2400" b="1" dirty="0" smtClean="0">
                <a:solidFill>
                  <a:schemeClr val="bg1"/>
                </a:solidFill>
                <a:latin typeface="Arial" pitchFamily="34" charset="0"/>
                <a:cs typeface="Arial" pitchFamily="34" charset="0"/>
              </a:rPr>
              <a:t>Validaciones</a:t>
            </a:r>
            <a:endParaRPr lang="es-ES" sz="2400" b="1" dirty="0">
              <a:solidFill>
                <a:schemeClr val="bg1"/>
              </a:solidFill>
              <a:latin typeface="Arial" pitchFamily="34" charset="0"/>
              <a:cs typeface="Arial" pitchFamily="34" charset="0"/>
            </a:endParaRP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25</a:t>
            </a:fld>
            <a:endParaRPr lang="es-ES" dirty="0"/>
          </a:p>
        </p:txBody>
      </p:sp>
      <p:sp>
        <p:nvSpPr>
          <p:cNvPr id="5" name="Rectángulo 4"/>
          <p:cNvSpPr/>
          <p:nvPr/>
        </p:nvSpPr>
        <p:spPr>
          <a:xfrm>
            <a:off x="4891106" y="1143000"/>
            <a:ext cx="4113434" cy="369332"/>
          </a:xfrm>
          <a:prstGeom prst="rect">
            <a:avLst/>
          </a:prstGeom>
        </p:spPr>
        <p:txBody>
          <a:bodyPr wrap="none">
            <a:spAutoFit/>
          </a:bodyPr>
          <a:lstStyle/>
          <a:p>
            <a:r>
              <a:rPr lang="es-US" b="1" dirty="0"/>
              <a:t>Validación para ingresar a los mini juegos</a:t>
            </a:r>
            <a:endParaRPr lang="en-US" b="1" dirty="0"/>
          </a:p>
        </p:txBody>
      </p:sp>
      <p:sp>
        <p:nvSpPr>
          <p:cNvPr id="6" name="Rectángulo redondeado 5"/>
          <p:cNvSpPr/>
          <p:nvPr/>
        </p:nvSpPr>
        <p:spPr>
          <a:xfrm>
            <a:off x="4891106" y="1142999"/>
            <a:ext cx="4262771" cy="369333"/>
          </a:xfrm>
          <a:prstGeom prst="roundRect">
            <a:avLst/>
          </a:prstGeom>
          <a:noFill/>
          <a:ln>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p:cNvPicPr>
            <a:picLocks noChangeAspect="1"/>
          </p:cNvPicPr>
          <p:nvPr/>
        </p:nvPicPr>
        <p:blipFill>
          <a:blip r:embed="rId4"/>
          <a:stretch>
            <a:fillRect/>
          </a:stretch>
        </p:blipFill>
        <p:spPr>
          <a:xfrm>
            <a:off x="926974" y="1578938"/>
            <a:ext cx="10601915" cy="4845627"/>
          </a:xfrm>
          <a:prstGeom prst="rect">
            <a:avLst/>
          </a:prstGeom>
        </p:spPr>
      </p:pic>
    </p:spTree>
    <p:extLst>
      <p:ext uri="{BB962C8B-B14F-4D97-AF65-F5344CB8AC3E}">
        <p14:creationId xmlns:p14="http://schemas.microsoft.com/office/powerpoint/2010/main" val="8238698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pPr algn="ctr"/>
            <a:r>
              <a:rPr lang="es-ES" sz="2400" b="1" dirty="0">
                <a:solidFill>
                  <a:schemeClr val="bg1"/>
                </a:solidFill>
                <a:latin typeface="Arial" pitchFamily="34" charset="0"/>
                <a:cs typeface="Arial" pitchFamily="34" charset="0"/>
              </a:rPr>
              <a:t>Pruebas de Aceptación </a:t>
            </a: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26</a:t>
            </a:fld>
            <a:endParaRPr lang="es-ES" dirty="0"/>
          </a:p>
        </p:txBody>
      </p:sp>
      <p:pic>
        <p:nvPicPr>
          <p:cNvPr id="7" name="Imagen 6"/>
          <p:cNvPicPr/>
          <p:nvPr/>
        </p:nvPicPr>
        <p:blipFill>
          <a:blip r:embed="rId4">
            <a:extLst>
              <a:ext uri="{28A0092B-C50C-407E-A947-70E740481C1C}">
                <a14:useLocalDpi xmlns:a14="http://schemas.microsoft.com/office/drawing/2010/main" val="0"/>
              </a:ext>
            </a:extLst>
          </a:blip>
          <a:stretch>
            <a:fillRect/>
          </a:stretch>
        </p:blipFill>
        <p:spPr>
          <a:xfrm>
            <a:off x="1515291" y="2008051"/>
            <a:ext cx="9326880" cy="3778795"/>
          </a:xfrm>
          <a:prstGeom prst="rect">
            <a:avLst/>
          </a:prstGeom>
        </p:spPr>
      </p:pic>
      <p:sp>
        <p:nvSpPr>
          <p:cNvPr id="3" name="Rectángulo 2"/>
          <p:cNvSpPr/>
          <p:nvPr/>
        </p:nvSpPr>
        <p:spPr>
          <a:xfrm>
            <a:off x="3493380" y="1436938"/>
            <a:ext cx="2685351" cy="369332"/>
          </a:xfrm>
          <a:prstGeom prst="rect">
            <a:avLst/>
          </a:prstGeom>
        </p:spPr>
        <p:txBody>
          <a:bodyPr wrap="none">
            <a:spAutoFit/>
          </a:bodyPr>
          <a:lstStyle/>
          <a:p>
            <a:r>
              <a:rPr lang="es-ES" b="1" dirty="0">
                <a:latin typeface="Arial" panose="020B0604020202020204" pitchFamily="34" charset="0"/>
                <a:ea typeface="Calibri" panose="020F0502020204030204" pitchFamily="34" charset="0"/>
              </a:rPr>
              <a:t>Registro de Jugadores</a:t>
            </a:r>
            <a:endParaRPr lang="es-ES" dirty="0"/>
          </a:p>
        </p:txBody>
      </p:sp>
    </p:spTree>
    <p:extLst>
      <p:ext uri="{BB962C8B-B14F-4D97-AF65-F5344CB8AC3E}">
        <p14:creationId xmlns:p14="http://schemas.microsoft.com/office/powerpoint/2010/main" val="3276542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r>
              <a:rPr lang="es-ES" sz="2400" b="1" dirty="0" smtClean="0">
                <a:solidFill>
                  <a:schemeClr val="bg1"/>
                </a:solidFill>
                <a:latin typeface="Arial" pitchFamily="34" charset="0"/>
                <a:cs typeface="Arial" pitchFamily="34" charset="0"/>
              </a:rPr>
              <a:t>Conclusiones Generales</a:t>
            </a:r>
            <a:endParaRPr lang="es-ES" sz="2400" b="1" dirty="0">
              <a:solidFill>
                <a:schemeClr val="bg1"/>
              </a:solidFill>
              <a:latin typeface="Arial" pitchFamily="34" charset="0"/>
              <a:cs typeface="Arial" pitchFamily="34" charset="0"/>
            </a:endParaRPr>
          </a:p>
        </p:txBody>
      </p:sp>
      <p:sp>
        <p:nvSpPr>
          <p:cNvPr id="3" name="2 Marcador de contenido"/>
          <p:cNvSpPr>
            <a:spLocks noGrp="1"/>
          </p:cNvSpPr>
          <p:nvPr>
            <p:ph idx="1"/>
          </p:nvPr>
        </p:nvSpPr>
        <p:spPr>
          <a:xfrm>
            <a:off x="731521" y="1750423"/>
            <a:ext cx="10724605" cy="2913016"/>
          </a:xfrm>
        </p:spPr>
        <p:txBody>
          <a:bodyPr>
            <a:noAutofit/>
          </a:bodyPr>
          <a:lstStyle/>
          <a:p>
            <a:pPr marL="0" indent="0" algn="just">
              <a:buNone/>
            </a:pPr>
            <a:r>
              <a:rPr lang="es-ES" sz="2400" dirty="0" smtClean="0"/>
              <a:t>La investigación se desarrolló en tres fases clave: análisis exhaustivo y establecimiento de metodología para la creación de una aplicación centrada en trastornos del neurodesarrollo, especialmente el TDAH; diseño del sistema, abordando responsabilidades e interacciones de usuarios, resaltando desafíos del TDAH; e implementación eficiente, considerando la interfaz de usuario y evaluando Android Studio. Pruebas de aceptación garantizaron el cumplimiento de criterios adaptados al TDAH. Estas fases integrales culminaron en una aplicación diseñada específicamente para satisfacer las necesidades en este ámbito de estudio.</a:t>
            </a:r>
            <a:endParaRPr lang="es-ES" sz="2400" dirty="0"/>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27</a:t>
            </a:fld>
            <a:endParaRPr lang="es-ES" dirty="0"/>
          </a:p>
        </p:txBody>
      </p:sp>
    </p:spTree>
    <p:extLst>
      <p:ext uri="{BB962C8B-B14F-4D97-AF65-F5344CB8AC3E}">
        <p14:creationId xmlns:p14="http://schemas.microsoft.com/office/powerpoint/2010/main" val="16441568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pPr algn="ctr"/>
            <a:r>
              <a:rPr lang="es-ES" sz="2400" b="1" dirty="0">
                <a:solidFill>
                  <a:schemeClr val="bg1"/>
                </a:solidFill>
                <a:latin typeface="Arial" pitchFamily="34" charset="0"/>
                <a:cs typeface="Arial" pitchFamily="34" charset="0"/>
              </a:rPr>
              <a:t>Interfaces Del Sistema</a:t>
            </a: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28</a:t>
            </a:fld>
            <a:endParaRPr lang="es-ES" dirty="0"/>
          </a:p>
        </p:txBody>
      </p:sp>
      <p:pic>
        <p:nvPicPr>
          <p:cNvPr id="14" name="Imagen 13" descr="C:\laptop angelica\android\Screenshot_2023-06-23-00-55-32-446_com.example.naturapp.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3711" y="985633"/>
            <a:ext cx="2793395" cy="5763280"/>
          </a:xfrm>
          <a:prstGeom prst="rect">
            <a:avLst/>
          </a:prstGeom>
          <a:noFill/>
          <a:ln>
            <a:noFill/>
          </a:ln>
        </p:spPr>
      </p:pic>
      <p:pic>
        <p:nvPicPr>
          <p:cNvPr id="15" name="Imagen 14" descr="C:\laptop angelica\android\Screenshot_2023-06-23-00-55-46-140_com.example.naturapp.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56263" y="985633"/>
            <a:ext cx="2889613" cy="5711622"/>
          </a:xfrm>
          <a:prstGeom prst="rect">
            <a:avLst/>
          </a:prstGeom>
          <a:noFill/>
          <a:ln>
            <a:noFill/>
          </a:ln>
        </p:spPr>
      </p:pic>
      <p:pic>
        <p:nvPicPr>
          <p:cNvPr id="16" name="Imagen 15" descr="C:\laptop angelica\android\Screenshot_2023-06-23-00-56-57-642_com.example.naturapp.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85603" y="904338"/>
            <a:ext cx="2799297" cy="5690607"/>
          </a:xfrm>
          <a:prstGeom prst="rect">
            <a:avLst/>
          </a:prstGeom>
          <a:noFill/>
          <a:ln>
            <a:noFill/>
          </a:ln>
        </p:spPr>
      </p:pic>
      <p:pic>
        <p:nvPicPr>
          <p:cNvPr id="17" name="Imagen 16" descr="C:\laptop angelica\android\Screenshot_2023-06-23-00-58-45-293_com.example.naturapp.jpg"/>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258354" y="985633"/>
            <a:ext cx="2720890" cy="5609312"/>
          </a:xfrm>
          <a:prstGeom prst="rect">
            <a:avLst/>
          </a:prstGeom>
          <a:noFill/>
          <a:ln>
            <a:noFill/>
          </a:ln>
        </p:spPr>
      </p:pic>
    </p:spTree>
    <p:extLst>
      <p:ext uri="{BB962C8B-B14F-4D97-AF65-F5344CB8AC3E}">
        <p14:creationId xmlns:p14="http://schemas.microsoft.com/office/powerpoint/2010/main" val="37804249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0"/>
            <a:ext cx="7668344" cy="101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a:xfrm>
            <a:off x="4079776" y="-66607"/>
            <a:ext cx="5410944" cy="1143000"/>
          </a:xfrm>
        </p:spPr>
        <p:txBody>
          <a:bodyPr>
            <a:normAutofit/>
          </a:bodyPr>
          <a:lstStyle/>
          <a:p>
            <a:pPr algn="ctr"/>
            <a:r>
              <a:rPr lang="es-ES" sz="2400" b="1" dirty="0">
                <a:solidFill>
                  <a:schemeClr val="bg1"/>
                </a:solidFill>
                <a:latin typeface="Arial" pitchFamily="34" charset="0"/>
                <a:cs typeface="Arial" pitchFamily="34" charset="0"/>
              </a:rPr>
              <a:t>Interfaces Del Sistema</a:t>
            </a:r>
          </a:p>
        </p:txBody>
      </p:sp>
      <p:pic>
        <p:nvPicPr>
          <p:cNvPr id="8" name="Imagen 7">
            <a:extLst>
              <a:ext uri="{FF2B5EF4-FFF2-40B4-BE49-F238E27FC236}">
                <a16:creationId xmlns:a16="http://schemas.microsoft.com/office/drawing/2014/main" id="{E7EFCC17-BF7D-4000-A073-60F43AF6F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759" y="101068"/>
            <a:ext cx="1121740" cy="807653"/>
          </a:xfrm>
          <a:prstGeom prst="rect">
            <a:avLst/>
          </a:prstGeom>
        </p:spPr>
      </p:pic>
      <p:sp>
        <p:nvSpPr>
          <p:cNvPr id="4" name="Marcador de número de diapositiva 3">
            <a:extLst>
              <a:ext uri="{FF2B5EF4-FFF2-40B4-BE49-F238E27FC236}">
                <a16:creationId xmlns:a16="http://schemas.microsoft.com/office/drawing/2014/main" id="{39DD756B-9F05-4480-B068-AB862E409FBE}"/>
              </a:ext>
            </a:extLst>
          </p:cNvPr>
          <p:cNvSpPr>
            <a:spLocks noGrp="1"/>
          </p:cNvSpPr>
          <p:nvPr>
            <p:ph type="sldNum" sz="quarter" idx="12"/>
          </p:nvPr>
        </p:nvSpPr>
        <p:spPr>
          <a:xfrm>
            <a:off x="8534400" y="6357959"/>
            <a:ext cx="2133600" cy="365125"/>
          </a:xfrm>
        </p:spPr>
        <p:txBody>
          <a:bodyPr/>
          <a:lstStyle/>
          <a:p>
            <a:fld id="{132FADFE-3B8F-471C-ABF0-DBC7717ECBBC}" type="slidenum">
              <a:rPr lang="es-ES" smtClean="0"/>
              <a:pPr/>
              <a:t>29</a:t>
            </a:fld>
            <a:endParaRPr lang="es-ES" dirty="0"/>
          </a:p>
        </p:txBody>
      </p:sp>
      <p:pic>
        <p:nvPicPr>
          <p:cNvPr id="10" name="Imagen 9" descr="C:\laptop angelica\android\Screenshot_2023-06-23-00-55-36-831_com.example.naturapp.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2076" y="1076393"/>
            <a:ext cx="2473366" cy="5540080"/>
          </a:xfrm>
          <a:prstGeom prst="rect">
            <a:avLst/>
          </a:prstGeom>
          <a:noFill/>
          <a:ln>
            <a:noFill/>
          </a:ln>
        </p:spPr>
      </p:pic>
      <p:pic>
        <p:nvPicPr>
          <p:cNvPr id="11" name="Imagen 10" descr="C:\laptop angelica\android\Screenshot_2023-06-23-00-56-09-680_com.example.naturapp.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99655" y="1080407"/>
            <a:ext cx="2839441" cy="5536066"/>
          </a:xfrm>
          <a:prstGeom prst="rect">
            <a:avLst/>
          </a:prstGeom>
          <a:noFill/>
          <a:ln>
            <a:noFill/>
          </a:ln>
        </p:spPr>
      </p:pic>
      <p:pic>
        <p:nvPicPr>
          <p:cNvPr id="12" name="Imagen 11" descr="C:\laptop angelica\android\Screenshot_2023-06-23-00-57-56-715_com.example.naturapp.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18523" y="1076393"/>
            <a:ext cx="2755213" cy="5540080"/>
          </a:xfrm>
          <a:prstGeom prst="rect">
            <a:avLst/>
          </a:prstGeom>
          <a:noFill/>
          <a:ln>
            <a:noFill/>
          </a:ln>
        </p:spPr>
      </p:pic>
      <p:pic>
        <p:nvPicPr>
          <p:cNvPr id="13" name="Imagen 12" descr="C:\laptop angelica\android\Screenshot_2023-06-23-01-03-31-820_com.example.naturapp.jpg"/>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86701" y="1143000"/>
            <a:ext cx="2680115" cy="5473473"/>
          </a:xfrm>
          <a:prstGeom prst="rect">
            <a:avLst/>
          </a:prstGeom>
          <a:noFill/>
          <a:ln>
            <a:noFill/>
          </a:ln>
        </p:spPr>
      </p:pic>
    </p:spTree>
    <p:extLst>
      <p:ext uri="{BB962C8B-B14F-4D97-AF65-F5344CB8AC3E}">
        <p14:creationId xmlns:p14="http://schemas.microsoft.com/office/powerpoint/2010/main" val="212205168"/>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1220</Words>
  <Application>Microsoft Office PowerPoint</Application>
  <PresentationFormat>Panorámica</PresentationFormat>
  <Paragraphs>143</Paragraphs>
  <Slides>29</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Arial</vt:lpstr>
      <vt:lpstr>Calibri</vt:lpstr>
      <vt:lpstr>Calibri Light</vt:lpstr>
      <vt:lpstr>Wingdings</vt:lpstr>
      <vt:lpstr>Tema de Office</vt:lpstr>
      <vt:lpstr>Presentación de PowerPoint</vt:lpstr>
      <vt:lpstr>¿Cuáles son las características clave del trastorno del TDAH?</vt:lpstr>
      <vt:lpstr>Situación Problémica</vt:lpstr>
      <vt:lpstr>Aplicaciones y trabajos hechos en el ámbito internacional </vt:lpstr>
      <vt:lpstr>Aplicaciones y trabajos hechos en el ámbito nacional </vt:lpstr>
      <vt:lpstr>Problema Científico</vt:lpstr>
      <vt:lpstr>Objetivo General</vt:lpstr>
      <vt:lpstr>Objetivos Específicos</vt:lpstr>
      <vt:lpstr>Objeto de Estudio</vt:lpstr>
      <vt:lpstr>Campo de Acción</vt:lpstr>
      <vt:lpstr>Hipótesis</vt:lpstr>
      <vt:lpstr>Herramientas y lenguajes de desarrollo</vt:lpstr>
      <vt:lpstr>  Lexica</vt:lpstr>
      <vt:lpstr>  Lexica</vt:lpstr>
      <vt:lpstr>Metolodología de Desarrollo</vt:lpstr>
      <vt:lpstr>Propuesta del Sistema</vt:lpstr>
      <vt:lpstr>Requisitos Funcionales</vt:lpstr>
      <vt:lpstr>Requisitos No Funcionales</vt:lpstr>
      <vt:lpstr>Historias de Usuario</vt:lpstr>
      <vt:lpstr>Historias de Usuario</vt:lpstr>
      <vt:lpstr>Tareas De Ingeniería </vt:lpstr>
      <vt:lpstr>Arquitectura del Sistema</vt:lpstr>
      <vt:lpstr>Estructura del Directorio</vt:lpstr>
      <vt:lpstr>  Validaciones</vt:lpstr>
      <vt:lpstr>Validaciones</vt:lpstr>
      <vt:lpstr>Pruebas de Aceptación </vt:lpstr>
      <vt:lpstr>Conclusiones Generales</vt:lpstr>
      <vt:lpstr>Interfaces Del Sistema</vt:lpstr>
      <vt:lpstr>Interfaces Del Sistema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Angelica</dc:creator>
  <cp:lastModifiedBy>Angelica</cp:lastModifiedBy>
  <cp:revision>33</cp:revision>
  <dcterms:created xsi:type="dcterms:W3CDTF">2023-11-19T00:38:50Z</dcterms:created>
  <dcterms:modified xsi:type="dcterms:W3CDTF">2023-11-19T02:56:55Z</dcterms:modified>
</cp:coreProperties>
</file>