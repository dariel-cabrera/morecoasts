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57" r:id="rId2"/>
    <p:sldId id="288" r:id="rId3"/>
    <p:sldId id="317" r:id="rId4"/>
    <p:sldId id="306" r:id="rId5"/>
    <p:sldId id="318" r:id="rId6"/>
    <p:sldId id="319" r:id="rId7"/>
    <p:sldId id="270" r:id="rId8"/>
    <p:sldId id="320" r:id="rId9"/>
    <p:sldId id="321" r:id="rId10"/>
    <p:sldId id="323" r:id="rId11"/>
    <p:sldId id="322" r:id="rId12"/>
    <p:sldId id="324" r:id="rId13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70FA"/>
    <a:srgbClr val="B7DBFF"/>
    <a:srgbClr val="85C2FF"/>
    <a:srgbClr val="3F9FFF"/>
    <a:srgbClr val="ABD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8" d="100"/>
          <a:sy n="68" d="100"/>
        </p:scale>
        <p:origin x="144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9328919-5168-419E-9D85-2E59C799E42F}" type="doc">
      <dgm:prSet loTypeId="urn:microsoft.com/office/officeart/2005/8/layout/hChevron3" loCatId="process" qsTypeId="urn:microsoft.com/office/officeart/2005/8/quickstyle/3d2" qsCatId="3D" csTypeId="urn:microsoft.com/office/officeart/2005/8/colors/colorful2" csCatId="colorful" phldr="1"/>
      <dgm:spPr/>
    </dgm:pt>
    <dgm:pt modelId="{44E3CF18-5BA0-4776-B2D3-4FCA95A561B4}">
      <dgm:prSet phldrT="[Texto]"/>
      <dgm:spPr/>
      <dgm:t>
        <a:bodyPr/>
        <a:lstStyle/>
        <a:p>
          <a:r>
            <a:rPr lang="es-CU" b="1"/>
            <a:t>Planificación</a:t>
          </a:r>
        </a:p>
      </dgm:t>
    </dgm:pt>
    <dgm:pt modelId="{3E99912A-A62D-4311-A3D8-C45B6E3F7697}" type="parTrans" cxnId="{DA4FD496-6D20-44EE-83F0-A96D27529BA7}">
      <dgm:prSet/>
      <dgm:spPr/>
      <dgm:t>
        <a:bodyPr/>
        <a:lstStyle/>
        <a:p>
          <a:endParaRPr lang="es-CU"/>
        </a:p>
      </dgm:t>
    </dgm:pt>
    <dgm:pt modelId="{241267C7-BEB5-4E95-8894-ADDEA4336774}" type="sibTrans" cxnId="{DA4FD496-6D20-44EE-83F0-A96D27529BA7}">
      <dgm:prSet/>
      <dgm:spPr/>
      <dgm:t>
        <a:bodyPr/>
        <a:lstStyle/>
        <a:p>
          <a:endParaRPr lang="es-CU"/>
        </a:p>
      </dgm:t>
    </dgm:pt>
    <dgm:pt modelId="{9B5C3707-E82F-49B9-8832-5229BE92FCAF}">
      <dgm:prSet phldrT="[Texto]"/>
      <dgm:spPr/>
      <dgm:t>
        <a:bodyPr/>
        <a:lstStyle/>
        <a:p>
          <a:r>
            <a:rPr lang="es-CU" b="1"/>
            <a:t>Codificación</a:t>
          </a:r>
        </a:p>
      </dgm:t>
    </dgm:pt>
    <dgm:pt modelId="{4FDDE434-5CFC-4441-BC4F-E4EB1A10C7DD}" type="parTrans" cxnId="{7BCE764A-6DF0-4302-8893-868DD0E5F4EF}">
      <dgm:prSet/>
      <dgm:spPr/>
      <dgm:t>
        <a:bodyPr/>
        <a:lstStyle/>
        <a:p>
          <a:endParaRPr lang="es-CU"/>
        </a:p>
      </dgm:t>
    </dgm:pt>
    <dgm:pt modelId="{675705AD-C8BC-41D0-BFA6-FCFBEEB6D676}" type="sibTrans" cxnId="{7BCE764A-6DF0-4302-8893-868DD0E5F4EF}">
      <dgm:prSet/>
      <dgm:spPr/>
      <dgm:t>
        <a:bodyPr/>
        <a:lstStyle/>
        <a:p>
          <a:endParaRPr lang="es-CU"/>
        </a:p>
      </dgm:t>
    </dgm:pt>
    <dgm:pt modelId="{6C54A688-31A1-4E0C-9045-F2A669A07530}">
      <dgm:prSet phldrT="[Texto]"/>
      <dgm:spPr/>
      <dgm:t>
        <a:bodyPr/>
        <a:lstStyle/>
        <a:p>
          <a:r>
            <a:rPr lang="es-CU" b="1"/>
            <a:t>Prueba</a:t>
          </a:r>
        </a:p>
      </dgm:t>
    </dgm:pt>
    <dgm:pt modelId="{8BE23EB9-9ABE-432E-A6A7-552F4BE02063}" type="parTrans" cxnId="{4DCD3677-4D99-4FCF-AAB7-A020A5BF0130}">
      <dgm:prSet/>
      <dgm:spPr/>
      <dgm:t>
        <a:bodyPr/>
        <a:lstStyle/>
        <a:p>
          <a:endParaRPr lang="es-CU"/>
        </a:p>
      </dgm:t>
    </dgm:pt>
    <dgm:pt modelId="{0D5492D2-7B9D-4D03-A5B8-148FB1D1D899}" type="sibTrans" cxnId="{4DCD3677-4D99-4FCF-AAB7-A020A5BF0130}">
      <dgm:prSet/>
      <dgm:spPr/>
      <dgm:t>
        <a:bodyPr/>
        <a:lstStyle/>
        <a:p>
          <a:endParaRPr lang="es-CU"/>
        </a:p>
      </dgm:t>
    </dgm:pt>
    <dgm:pt modelId="{4C730AAD-5F6B-4C61-BED7-02033036F3C5}">
      <dgm:prSet phldrT="[Texto]"/>
      <dgm:spPr/>
      <dgm:t>
        <a:bodyPr/>
        <a:lstStyle/>
        <a:p>
          <a:r>
            <a:rPr lang="es-CU" b="1"/>
            <a:t>Diseño</a:t>
          </a:r>
        </a:p>
      </dgm:t>
    </dgm:pt>
    <dgm:pt modelId="{F04CBC7B-048E-42FB-B1F5-28E1B4FC71AF}" type="parTrans" cxnId="{B1DCB83D-C052-47F1-8C7C-F74C9653F792}">
      <dgm:prSet/>
      <dgm:spPr/>
      <dgm:t>
        <a:bodyPr/>
        <a:lstStyle/>
        <a:p>
          <a:endParaRPr lang="es-CU"/>
        </a:p>
      </dgm:t>
    </dgm:pt>
    <dgm:pt modelId="{CBA3B36B-7873-4536-8EC0-5B923178945A}" type="sibTrans" cxnId="{B1DCB83D-C052-47F1-8C7C-F74C9653F792}">
      <dgm:prSet/>
      <dgm:spPr/>
      <dgm:t>
        <a:bodyPr/>
        <a:lstStyle/>
        <a:p>
          <a:endParaRPr lang="es-CU"/>
        </a:p>
      </dgm:t>
    </dgm:pt>
    <dgm:pt modelId="{74BF82BF-9CC9-4E77-9CA1-357CA6A692E2}" type="pres">
      <dgm:prSet presAssocID="{F9328919-5168-419E-9D85-2E59C799E42F}" presName="Name0" presStyleCnt="0">
        <dgm:presLayoutVars>
          <dgm:dir/>
          <dgm:resizeHandles val="exact"/>
        </dgm:presLayoutVars>
      </dgm:prSet>
      <dgm:spPr/>
    </dgm:pt>
    <dgm:pt modelId="{CA4F59ED-0745-4A10-8987-A0E11988856A}" type="pres">
      <dgm:prSet presAssocID="{44E3CF18-5BA0-4776-B2D3-4FCA95A561B4}" presName="parTxOnly" presStyleLbl="node1" presStyleIdx="0" presStyleCnt="4" custLinFactNeighborX="-31687">
        <dgm:presLayoutVars>
          <dgm:bulletEnabled val="1"/>
        </dgm:presLayoutVars>
      </dgm:prSet>
      <dgm:spPr/>
    </dgm:pt>
    <dgm:pt modelId="{9100F08C-F692-498F-AC45-D0CD02D4FC32}" type="pres">
      <dgm:prSet presAssocID="{241267C7-BEB5-4E95-8894-ADDEA4336774}" presName="parSpace" presStyleCnt="0"/>
      <dgm:spPr/>
    </dgm:pt>
    <dgm:pt modelId="{B58ED49A-4323-4EEE-A7E8-C1A19056AD24}" type="pres">
      <dgm:prSet presAssocID="{4C730AAD-5F6B-4C61-BED7-02033036F3C5}" presName="parTxOnly" presStyleLbl="node1" presStyleIdx="1" presStyleCnt="4">
        <dgm:presLayoutVars>
          <dgm:bulletEnabled val="1"/>
        </dgm:presLayoutVars>
      </dgm:prSet>
      <dgm:spPr/>
    </dgm:pt>
    <dgm:pt modelId="{72FC6FCE-8D73-4A96-9EC9-B44C5FEB7935}" type="pres">
      <dgm:prSet presAssocID="{CBA3B36B-7873-4536-8EC0-5B923178945A}" presName="parSpace" presStyleCnt="0"/>
      <dgm:spPr/>
    </dgm:pt>
    <dgm:pt modelId="{615F992B-E2AA-42F1-AE1C-37600FCA8B45}" type="pres">
      <dgm:prSet presAssocID="{9B5C3707-E82F-49B9-8832-5229BE92FCAF}" presName="parTxOnly" presStyleLbl="node1" presStyleIdx="2" presStyleCnt="4">
        <dgm:presLayoutVars>
          <dgm:bulletEnabled val="1"/>
        </dgm:presLayoutVars>
      </dgm:prSet>
      <dgm:spPr/>
    </dgm:pt>
    <dgm:pt modelId="{84C45388-2F0E-4706-B8A0-2729D7880B6B}" type="pres">
      <dgm:prSet presAssocID="{675705AD-C8BC-41D0-BFA6-FCFBEEB6D676}" presName="parSpace" presStyleCnt="0"/>
      <dgm:spPr/>
    </dgm:pt>
    <dgm:pt modelId="{50151A5E-9FFD-4365-8A31-84750D2C8C1A}" type="pres">
      <dgm:prSet presAssocID="{6C54A688-31A1-4E0C-9045-F2A669A07530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930FB00E-8FC3-4FCC-B52F-532535D3131F}" type="presOf" srcId="{4C730AAD-5F6B-4C61-BED7-02033036F3C5}" destId="{B58ED49A-4323-4EEE-A7E8-C1A19056AD24}" srcOrd="0" destOrd="0" presId="urn:microsoft.com/office/officeart/2005/8/layout/hChevron3"/>
    <dgm:cxn modelId="{DBCED832-FD1A-484E-BD6A-3D1780E3F1E1}" type="presOf" srcId="{F9328919-5168-419E-9D85-2E59C799E42F}" destId="{74BF82BF-9CC9-4E77-9CA1-357CA6A692E2}" srcOrd="0" destOrd="0" presId="urn:microsoft.com/office/officeart/2005/8/layout/hChevron3"/>
    <dgm:cxn modelId="{B1DCB83D-C052-47F1-8C7C-F74C9653F792}" srcId="{F9328919-5168-419E-9D85-2E59C799E42F}" destId="{4C730AAD-5F6B-4C61-BED7-02033036F3C5}" srcOrd="1" destOrd="0" parTransId="{F04CBC7B-048E-42FB-B1F5-28E1B4FC71AF}" sibTransId="{CBA3B36B-7873-4536-8EC0-5B923178945A}"/>
    <dgm:cxn modelId="{7BCE764A-6DF0-4302-8893-868DD0E5F4EF}" srcId="{F9328919-5168-419E-9D85-2E59C799E42F}" destId="{9B5C3707-E82F-49B9-8832-5229BE92FCAF}" srcOrd="2" destOrd="0" parTransId="{4FDDE434-5CFC-4441-BC4F-E4EB1A10C7DD}" sibTransId="{675705AD-C8BC-41D0-BFA6-FCFBEEB6D676}"/>
    <dgm:cxn modelId="{42875B6B-273F-4676-9ED4-3A51DF63ABE1}" type="presOf" srcId="{9B5C3707-E82F-49B9-8832-5229BE92FCAF}" destId="{615F992B-E2AA-42F1-AE1C-37600FCA8B45}" srcOrd="0" destOrd="0" presId="urn:microsoft.com/office/officeart/2005/8/layout/hChevron3"/>
    <dgm:cxn modelId="{4DCD3677-4D99-4FCF-AAB7-A020A5BF0130}" srcId="{F9328919-5168-419E-9D85-2E59C799E42F}" destId="{6C54A688-31A1-4E0C-9045-F2A669A07530}" srcOrd="3" destOrd="0" parTransId="{8BE23EB9-9ABE-432E-A6A7-552F4BE02063}" sibTransId="{0D5492D2-7B9D-4D03-A5B8-148FB1D1D899}"/>
    <dgm:cxn modelId="{DA4FD496-6D20-44EE-83F0-A96D27529BA7}" srcId="{F9328919-5168-419E-9D85-2E59C799E42F}" destId="{44E3CF18-5BA0-4776-B2D3-4FCA95A561B4}" srcOrd="0" destOrd="0" parTransId="{3E99912A-A62D-4311-A3D8-C45B6E3F7697}" sibTransId="{241267C7-BEB5-4E95-8894-ADDEA4336774}"/>
    <dgm:cxn modelId="{6B5E41B4-399C-46E9-8C4B-4E8CF08A916A}" type="presOf" srcId="{44E3CF18-5BA0-4776-B2D3-4FCA95A561B4}" destId="{CA4F59ED-0745-4A10-8987-A0E11988856A}" srcOrd="0" destOrd="0" presId="urn:microsoft.com/office/officeart/2005/8/layout/hChevron3"/>
    <dgm:cxn modelId="{BDA29FFD-7DA9-4CA1-96E8-E2EAD0E94A79}" type="presOf" srcId="{6C54A688-31A1-4E0C-9045-F2A669A07530}" destId="{50151A5E-9FFD-4365-8A31-84750D2C8C1A}" srcOrd="0" destOrd="0" presId="urn:microsoft.com/office/officeart/2005/8/layout/hChevron3"/>
    <dgm:cxn modelId="{2B2E1716-1450-448F-B0BB-785FC2AE246B}" type="presParOf" srcId="{74BF82BF-9CC9-4E77-9CA1-357CA6A692E2}" destId="{CA4F59ED-0745-4A10-8987-A0E11988856A}" srcOrd="0" destOrd="0" presId="urn:microsoft.com/office/officeart/2005/8/layout/hChevron3"/>
    <dgm:cxn modelId="{2FD5F3EA-A62C-440A-B5C6-8FE8F353A9F9}" type="presParOf" srcId="{74BF82BF-9CC9-4E77-9CA1-357CA6A692E2}" destId="{9100F08C-F692-498F-AC45-D0CD02D4FC32}" srcOrd="1" destOrd="0" presId="urn:microsoft.com/office/officeart/2005/8/layout/hChevron3"/>
    <dgm:cxn modelId="{EC92146C-7906-48E8-B57B-52453E408221}" type="presParOf" srcId="{74BF82BF-9CC9-4E77-9CA1-357CA6A692E2}" destId="{B58ED49A-4323-4EEE-A7E8-C1A19056AD24}" srcOrd="2" destOrd="0" presId="urn:microsoft.com/office/officeart/2005/8/layout/hChevron3"/>
    <dgm:cxn modelId="{4441CC16-7866-4F71-A7A5-091BC94E0B46}" type="presParOf" srcId="{74BF82BF-9CC9-4E77-9CA1-357CA6A692E2}" destId="{72FC6FCE-8D73-4A96-9EC9-B44C5FEB7935}" srcOrd="3" destOrd="0" presId="urn:microsoft.com/office/officeart/2005/8/layout/hChevron3"/>
    <dgm:cxn modelId="{C5217A01-8084-49DA-9540-0BF91588A8B6}" type="presParOf" srcId="{74BF82BF-9CC9-4E77-9CA1-357CA6A692E2}" destId="{615F992B-E2AA-42F1-AE1C-37600FCA8B45}" srcOrd="4" destOrd="0" presId="urn:microsoft.com/office/officeart/2005/8/layout/hChevron3"/>
    <dgm:cxn modelId="{1B498E72-AE22-4AEA-9EE8-5F93EDBF2AC0}" type="presParOf" srcId="{74BF82BF-9CC9-4E77-9CA1-357CA6A692E2}" destId="{84C45388-2F0E-4706-B8A0-2729D7880B6B}" srcOrd="5" destOrd="0" presId="urn:microsoft.com/office/officeart/2005/8/layout/hChevron3"/>
    <dgm:cxn modelId="{78C8AE75-1D97-4E6E-8F44-F32939B2CF4B}" type="presParOf" srcId="{74BF82BF-9CC9-4E77-9CA1-357CA6A692E2}" destId="{50151A5E-9FFD-4365-8A31-84750D2C8C1A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4F59ED-0745-4A10-8987-A0E11988856A}">
      <dsp:nvSpPr>
        <dsp:cNvPr id="0" name=""/>
        <dsp:cNvSpPr/>
      </dsp:nvSpPr>
      <dsp:spPr>
        <a:xfrm>
          <a:off x="0" y="1663877"/>
          <a:ext cx="2391804" cy="956721"/>
        </a:xfrm>
        <a:prstGeom prst="homePlat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6680" tIns="53340" rIns="26670" bIns="533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U" sz="2000" b="1" kern="1200"/>
            <a:t>Planificación</a:t>
          </a:r>
        </a:p>
      </dsp:txBody>
      <dsp:txXfrm>
        <a:off x="0" y="1663877"/>
        <a:ext cx="2152624" cy="956721"/>
      </dsp:txXfrm>
    </dsp:sp>
    <dsp:sp modelId="{B58ED49A-4323-4EEE-A7E8-C1A19056AD24}">
      <dsp:nvSpPr>
        <dsp:cNvPr id="0" name=""/>
        <dsp:cNvSpPr/>
      </dsp:nvSpPr>
      <dsp:spPr>
        <a:xfrm>
          <a:off x="1915827" y="1663877"/>
          <a:ext cx="2391804" cy="956721"/>
        </a:xfrm>
        <a:prstGeom prst="chevron">
          <a:avLst/>
        </a:prstGeom>
        <a:gradFill rotWithShape="0">
          <a:gsLst>
            <a:gs pos="0">
              <a:schemeClr val="accent2">
                <a:hueOff val="1560506"/>
                <a:satOff val="-1946"/>
                <a:lumOff val="458"/>
                <a:alphaOff val="0"/>
                <a:shade val="51000"/>
                <a:satMod val="130000"/>
              </a:schemeClr>
            </a:gs>
            <a:gs pos="80000">
              <a:schemeClr val="accent2">
                <a:hueOff val="1560506"/>
                <a:satOff val="-1946"/>
                <a:lumOff val="458"/>
                <a:alphaOff val="0"/>
                <a:shade val="93000"/>
                <a:satMod val="130000"/>
              </a:schemeClr>
            </a:gs>
            <a:gs pos="100000">
              <a:schemeClr val="accent2">
                <a:hueOff val="1560506"/>
                <a:satOff val="-1946"/>
                <a:lumOff val="458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26670" bIns="533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U" sz="2000" b="1" kern="1200"/>
            <a:t>Diseño</a:t>
          </a:r>
        </a:p>
      </dsp:txBody>
      <dsp:txXfrm>
        <a:off x="2394188" y="1663877"/>
        <a:ext cx="1435083" cy="956721"/>
      </dsp:txXfrm>
    </dsp:sp>
    <dsp:sp modelId="{615F992B-E2AA-42F1-AE1C-37600FCA8B45}">
      <dsp:nvSpPr>
        <dsp:cNvPr id="0" name=""/>
        <dsp:cNvSpPr/>
      </dsp:nvSpPr>
      <dsp:spPr>
        <a:xfrm>
          <a:off x="3829271" y="1663877"/>
          <a:ext cx="2391804" cy="956721"/>
        </a:xfrm>
        <a:prstGeom prst="chevron">
          <a:avLst/>
        </a:prstGeom>
        <a:gradFill rotWithShape="0">
          <a:gsLst>
            <a:gs pos="0">
              <a:schemeClr val="accent2">
                <a:hueOff val="3121013"/>
                <a:satOff val="-3893"/>
                <a:lumOff val="915"/>
                <a:alphaOff val="0"/>
                <a:shade val="51000"/>
                <a:satMod val="130000"/>
              </a:schemeClr>
            </a:gs>
            <a:gs pos="80000">
              <a:schemeClr val="accent2">
                <a:hueOff val="3121013"/>
                <a:satOff val="-3893"/>
                <a:lumOff val="915"/>
                <a:alphaOff val="0"/>
                <a:shade val="93000"/>
                <a:satMod val="130000"/>
              </a:schemeClr>
            </a:gs>
            <a:gs pos="100000">
              <a:schemeClr val="accent2">
                <a:hueOff val="3121013"/>
                <a:satOff val="-3893"/>
                <a:lumOff val="915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26670" bIns="533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U" sz="2000" b="1" kern="1200"/>
            <a:t>Codificación</a:t>
          </a:r>
        </a:p>
      </dsp:txBody>
      <dsp:txXfrm>
        <a:off x="4307632" y="1663877"/>
        <a:ext cx="1435083" cy="956721"/>
      </dsp:txXfrm>
    </dsp:sp>
    <dsp:sp modelId="{50151A5E-9FFD-4365-8A31-84750D2C8C1A}">
      <dsp:nvSpPr>
        <dsp:cNvPr id="0" name=""/>
        <dsp:cNvSpPr/>
      </dsp:nvSpPr>
      <dsp:spPr>
        <a:xfrm>
          <a:off x="5742715" y="1663877"/>
          <a:ext cx="2391804" cy="956721"/>
        </a:xfrm>
        <a:prstGeom prst="chevron">
          <a:avLst/>
        </a:prstGeom>
        <a:gradFill rotWithShape="0">
          <a:gsLst>
            <a:gs pos="0">
              <a:schemeClr val="accent2">
                <a:hueOff val="4681519"/>
                <a:satOff val="-5839"/>
                <a:lumOff val="1373"/>
                <a:alphaOff val="0"/>
                <a:shade val="51000"/>
                <a:satMod val="130000"/>
              </a:schemeClr>
            </a:gs>
            <a:gs pos="80000">
              <a:schemeClr val="accent2">
                <a:hueOff val="4681519"/>
                <a:satOff val="-5839"/>
                <a:lumOff val="1373"/>
                <a:alphaOff val="0"/>
                <a:shade val="93000"/>
                <a:satMod val="130000"/>
              </a:schemeClr>
            </a:gs>
            <a:gs pos="100000">
              <a:schemeClr val="accent2">
                <a:hueOff val="4681519"/>
                <a:satOff val="-5839"/>
                <a:lumOff val="1373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53340" rIns="26670" bIns="533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U" sz="2000" b="1" kern="1200"/>
            <a:t>Prueba</a:t>
          </a:r>
        </a:p>
      </dsp:txBody>
      <dsp:txXfrm>
        <a:off x="6221076" y="1663877"/>
        <a:ext cx="1435083" cy="9567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803A06-23BD-4449-A1D1-6ADBCF91F056}" type="datetimeFigureOut">
              <a:rPr lang="es-ES_tradnl" smtClean="0"/>
              <a:t>29/04/2025</a:t>
            </a:fld>
            <a:endParaRPr lang="es-ES_tradn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52D296-8787-492E-96CD-01130DD1981D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28411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63F9C-36B4-4ECD-BECC-604E57EA70AC}" type="datetime1">
              <a:rPr lang="es-ES" smtClean="0"/>
              <a:t>29/04/2025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D0996-3F59-44A3-A62A-DD95A94764C7}" type="datetime1">
              <a:rPr lang="es-ES" smtClean="0"/>
              <a:t>29/04/2025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120030-6113-4ABE-B7D6-521760BB2F2A}" type="datetime1">
              <a:rPr lang="es-ES" smtClean="0"/>
              <a:t>29/04/2025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D0488-9BF8-4343-A7C8-334439AC023A}" type="datetime1">
              <a:rPr lang="es-ES" smtClean="0"/>
              <a:t>29/04/2025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1DCCD4-540D-42E8-A1D5-532A6F28BA54}" type="datetime1">
              <a:rPr lang="es-ES" smtClean="0"/>
              <a:t>29/04/2025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FCCA53-11C7-4627-936A-79881176CA9F}" type="datetime1">
              <a:rPr lang="es-ES" smtClean="0"/>
              <a:t>29/04/2025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AFE5E1-20AD-4F66-9853-038A786E08A1}" type="datetime1">
              <a:rPr lang="es-ES" smtClean="0"/>
              <a:t>29/04/2025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70BC8-43CE-409A-BE0C-FBE54D4B7D7F}" type="datetime1">
              <a:rPr lang="es-ES" smtClean="0"/>
              <a:t>29/04/2025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853D2-8CEB-49C0-B2DA-82EEA4C831AA}" type="datetime1">
              <a:rPr lang="es-ES" smtClean="0"/>
              <a:t>29/04/2025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EFBCE-E3F3-42E3-AA42-D22E0C63B5E5}" type="datetime1">
              <a:rPr lang="es-ES" smtClean="0"/>
              <a:t>29/04/2025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9FFDC-06D8-42F3-B15A-134344304A07}" type="datetime1">
              <a:rPr lang="es-ES" smtClean="0"/>
              <a:t>29/04/2025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55BF71-A5A3-4F60-820F-A4D41CCBAC58}" type="datetime1">
              <a:rPr lang="es-ES" smtClean="0"/>
              <a:t>29/04/2025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2FADFE-3B8F-471C-ABF0-DBC7717ECBBC}" type="slidenum">
              <a:rPr lang="es-ES" smtClean="0"/>
              <a:t>‹Nº›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4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Relationship Id="rId9" Type="http://schemas.openxmlformats.org/officeDocument/2006/relationships/image" Target="../media/image1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28600" y="1517"/>
            <a:ext cx="3816424" cy="68575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1 CuadroTexto"/>
          <p:cNvSpPr txBox="1"/>
          <p:nvPr/>
        </p:nvSpPr>
        <p:spPr>
          <a:xfrm>
            <a:off x="3129897" y="2638266"/>
            <a:ext cx="5844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4000" b="1" dirty="0"/>
              <a:t>Trabajo de Diploma</a:t>
            </a:r>
          </a:p>
        </p:txBody>
      </p:sp>
      <p:sp>
        <p:nvSpPr>
          <p:cNvPr id="8" name="1 CuadroTexto"/>
          <p:cNvSpPr txBox="1"/>
          <p:nvPr/>
        </p:nvSpPr>
        <p:spPr>
          <a:xfrm>
            <a:off x="3008208" y="5346413"/>
            <a:ext cx="613579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/>
              <a:t>Autor: </a:t>
            </a:r>
            <a:r>
              <a:rPr lang="es-ES" sz="2000" dirty="0"/>
              <a:t>Dariel Enmanuel Cabrera López</a:t>
            </a:r>
          </a:p>
          <a:p>
            <a:r>
              <a:rPr lang="es-ES" sz="2000" b="1" dirty="0"/>
              <a:t>Tutor:  </a:t>
            </a:r>
            <a:r>
              <a:rPr lang="es-CU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Dr.C</a:t>
            </a:r>
            <a:r>
              <a:rPr lang="es-CU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s-CU" sz="1800" dirty="0" err="1">
                <a:effectLst/>
                <a:latin typeface="Arial" panose="020B0604020202020204" pitchFamily="34" charset="0"/>
                <a:ea typeface="Arial" panose="020B0604020202020204" pitchFamily="34" charset="0"/>
              </a:rPr>
              <a:t>Dionis</a:t>
            </a:r>
            <a:r>
              <a:rPr lang="es-CU" sz="18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 López Ramos</a:t>
            </a:r>
            <a:r>
              <a:rPr lang="es-C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</a:p>
          <a:p>
            <a:endParaRPr lang="es-CU" sz="18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/>
            <a:r>
              <a:rPr lang="es-CU" dirty="0">
                <a:solidFill>
                  <a:srgbClr val="000000"/>
                </a:solidFill>
                <a:latin typeface="Arial" panose="020B0604020202020204" pitchFamily="34" charset="0"/>
              </a:rPr>
              <a:t>Santiago de Cuba</a:t>
            </a:r>
            <a:endParaRPr lang="es-ES" sz="2000" dirty="0"/>
          </a:p>
          <a:p>
            <a:pPr algn="ctr"/>
            <a:r>
              <a:rPr lang="es-ES" sz="2000" dirty="0"/>
              <a:t>2025</a:t>
            </a:r>
          </a:p>
        </p:txBody>
      </p:sp>
      <p:sp>
        <p:nvSpPr>
          <p:cNvPr id="10" name="1 CuadroTexto"/>
          <p:cNvSpPr txBox="1"/>
          <p:nvPr/>
        </p:nvSpPr>
        <p:spPr>
          <a:xfrm>
            <a:off x="3008208" y="3402690"/>
            <a:ext cx="6088051" cy="1755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U" sz="2400" b="1" dirty="0"/>
              <a:t>Tema:</a:t>
            </a:r>
          </a:p>
          <a:p>
            <a:pPr marL="6350" indent="-6350" algn="just">
              <a:lnSpc>
                <a:spcPct val="146000"/>
              </a:lnSpc>
              <a:spcAft>
                <a:spcPts val="635"/>
              </a:spcAft>
            </a:pPr>
            <a:r>
              <a:rPr lang="es-CU" sz="20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"Sistema Informático para la Gestión del Cálculo del Transporte de Sedimentos en Costas Sur-Orientales" 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060" y="43252"/>
            <a:ext cx="1513539" cy="1513539"/>
          </a:xfrm>
          <a:prstGeom prst="rect">
            <a:avLst/>
          </a:prstGeom>
        </p:spPr>
      </p:pic>
      <p:sp>
        <p:nvSpPr>
          <p:cNvPr id="3" name="Rectángulo 2"/>
          <p:cNvSpPr/>
          <p:nvPr/>
        </p:nvSpPr>
        <p:spPr>
          <a:xfrm>
            <a:off x="3203848" y="1483007"/>
            <a:ext cx="5940151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ES" sz="2000" b="1" dirty="0"/>
              <a:t>Facultad de Ingeniería en </a:t>
            </a:r>
          </a:p>
          <a:p>
            <a:pPr algn="ctr"/>
            <a:r>
              <a:rPr lang="es-ES" sz="2000" b="1" dirty="0"/>
              <a:t>Telecomunicaciones Informática y Biomédica</a:t>
            </a:r>
          </a:p>
          <a:p>
            <a:pPr algn="ctr"/>
            <a:r>
              <a:rPr lang="es-ES" sz="2000" b="1" dirty="0"/>
              <a:t>Departamento de Ingeniería Informática</a:t>
            </a:r>
          </a:p>
        </p:txBody>
      </p:sp>
    </p:spTree>
    <p:extLst>
      <p:ext uri="{BB962C8B-B14F-4D97-AF65-F5344CB8AC3E}">
        <p14:creationId xmlns:p14="http://schemas.microsoft.com/office/powerpoint/2010/main" val="119284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Introducción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2</a:t>
            </a:fld>
            <a:endParaRPr lang="es-E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7E0CA263-A26E-47B3-8939-E857A3B7EEF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5176"/>
            <a:ext cx="4283968" cy="347872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F6420590-6BFE-40D2-81A6-73A5585881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3968" y="3556620"/>
            <a:ext cx="4860430" cy="3301380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95C36BC4-AA33-43B0-A30B-1C63B6E7A7EA}"/>
              </a:ext>
            </a:extLst>
          </p:cNvPr>
          <p:cNvSpPr txBox="1"/>
          <p:nvPr/>
        </p:nvSpPr>
        <p:spPr>
          <a:xfrm>
            <a:off x="0" y="4884144"/>
            <a:ext cx="428396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/>
              <a:t>La erosión costera = la pérdida de la arena de las playas o la disminución de la línea de costa</a:t>
            </a:r>
          </a:p>
        </p:txBody>
      </p:sp>
    </p:spTree>
    <p:extLst>
      <p:ext uri="{BB962C8B-B14F-4D97-AF65-F5344CB8AC3E}">
        <p14:creationId xmlns:p14="http://schemas.microsoft.com/office/powerpoint/2010/main" val="1945789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Introducción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3</a:t>
            </a:fld>
            <a:endParaRPr lang="es-E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84F405F-280E-410D-A83D-4E22032214B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425" y="1076393"/>
            <a:ext cx="4932040" cy="3538375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EE3625EE-4DDB-4F05-AEAB-DE686BC63222}"/>
              </a:ext>
            </a:extLst>
          </p:cNvPr>
          <p:cNvSpPr txBox="1"/>
          <p:nvPr/>
        </p:nvSpPr>
        <p:spPr>
          <a:xfrm>
            <a:off x="0" y="5026962"/>
            <a:ext cx="871740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dirty="0"/>
              <a:t>Transporte de sedimentos es el movimiento de partículas como arena y grava, es crucial para la formación de playas pero también puede contribuir a la erosión costera</a:t>
            </a:r>
            <a:endParaRPr lang="es-CU" sz="2400" dirty="0"/>
          </a:p>
        </p:txBody>
      </p:sp>
    </p:spTree>
    <p:extLst>
      <p:ext uri="{BB962C8B-B14F-4D97-AF65-F5344CB8AC3E}">
        <p14:creationId xmlns:p14="http://schemas.microsoft.com/office/powerpoint/2010/main" val="2806781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Datos Globales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211960" y="1138774"/>
            <a:ext cx="4932040" cy="5719226"/>
          </a:xfrm>
        </p:spPr>
        <p:txBody>
          <a:bodyPr>
            <a:normAutofit/>
          </a:bodyPr>
          <a:lstStyle/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2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25 % de las costas del paneta tienen nivel de erosión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s-ES" sz="2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ES" sz="2400" dirty="0"/>
              <a:t>15 de las 20 ciudades con mayor población en el mundo están ubicadas en las costas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endParaRPr lang="es-ES" sz="2400" dirty="0"/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ES" sz="2400" dirty="0"/>
              <a:t>10% de la población mundial vive o trabaja en regiones costeras bajas.</a:t>
            </a:r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endParaRPr lang="es-ES" sz="2400" dirty="0"/>
          </a:p>
          <a:p>
            <a:pPr marL="571500" marR="0" lvl="0" indent="-5715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ES" sz="2400" dirty="0"/>
              <a:t>Se estima que 2050 los niveles de erosión aumentarán un 13% y 25 para 2100. 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4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B84D8CB-4594-485E-9229-CBEA8328BB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56792"/>
            <a:ext cx="4067944" cy="403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850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Datos Nacionales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211960" y="1138774"/>
            <a:ext cx="4932040" cy="5719226"/>
          </a:xfrm>
        </p:spPr>
        <p:txBody>
          <a:bodyPr>
            <a:normAutofit/>
          </a:bodyPr>
          <a:lstStyle/>
          <a:p>
            <a:pPr marL="571500" marR="0" lvl="0" indent="-57150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85% de las playas arenosas cubanas presentan indicios de erosión: 23 con erosión intensa y 195 con erosión moderada en 2018</a:t>
            </a:r>
          </a:p>
          <a:p>
            <a:pPr marL="571500" marR="0" lvl="0" indent="-57150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lang="es-E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571500" marR="0" lvl="0" indent="-57150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De 505 playas, se han evaluado 247 y se ha comprobado que 208 (84.2 %) presentan indicios de erosión en 2023</a:t>
            </a: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_tradnl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buFont typeface="Wingdings" panose="05000000000000000000" pitchFamily="2" charset="2"/>
              <a:buChar char="§"/>
            </a:pPr>
            <a:endParaRPr lang="es-E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s-E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5</a:t>
            </a:fld>
            <a:endParaRPr lang="es-E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EE0580A-4B01-4315-BBF1-9BF1F9B82F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591099"/>
            <a:ext cx="4211960" cy="426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87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Problema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351833" y="1931186"/>
            <a:ext cx="4644008" cy="4525963"/>
          </a:xfrm>
        </p:spPr>
        <p:txBody>
          <a:bodyPr>
            <a:normAutofit/>
          </a:bodyPr>
          <a:lstStyle/>
          <a:p>
            <a:pPr algn="just">
              <a:spcAft>
                <a:spcPts val="1000"/>
              </a:spcAft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Insuficiente control en la gestión de la información referente al cálculo del transporte de sedimentos en las costas cubanas de la región sur-oriental para garantizar acciones efectivas que prevengan los efectos de la erosión costera.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6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63C1586-EF60-4D2D-A593-94774E29305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6" y="1931186"/>
            <a:ext cx="4392488" cy="3722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129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Objetivo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324642" y="1783166"/>
            <a:ext cx="4824536" cy="4525963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Desarrollar un sistema informático para la gestión de la información que permita calcular, editar y almacenar los datos para el cálculo del transporte de sedimentos en la región sur-oriental</a:t>
            </a:r>
            <a:r>
              <a:rPr lang="es-ES" sz="16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.</a:t>
            </a:r>
            <a:r>
              <a:rPr lang="es-ES" sz="16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 </a:t>
            </a:r>
            <a:endParaRPr lang="es-C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7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D9C966-5728-4CDE-95FE-3BFF476F1C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616" y="1829257"/>
            <a:ext cx="4311737" cy="350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7246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dirty="0">
                <a:solidFill>
                  <a:schemeClr val="bg1"/>
                </a:solidFill>
              </a:rPr>
              <a:t>Objeto de Estudio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324642" y="1783166"/>
            <a:ext cx="4824536" cy="4525963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E</a:t>
            </a: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l proceso de gestión de la información referente al cálculo del transporte de sedimentos en las costas cubanas de la región sur-oriental atendidas por la empresa GEOCUBA</a:t>
            </a:r>
            <a:endParaRPr lang="es-C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es-C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8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D9C966-5728-4CDE-95FE-3BFF476F1C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616" y="1829257"/>
            <a:ext cx="4311737" cy="3502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455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A</a:t>
            </a:r>
            <a:r>
              <a:rPr lang="es-ES" sz="3200" dirty="0">
                <a:solidFill>
                  <a:schemeClr val="bg1"/>
                </a:solidFill>
              </a:rPr>
              <a:t>rquitectura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067944" y="1783166"/>
            <a:ext cx="5081234" cy="4814186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Cliente-Servidor </a:t>
            </a:r>
            <a:endParaRPr lang="es-C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s-U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es un modelo para el desarrollo de sistemas de información en el que las transacciones se dividen en procesos independientes que cooperan entre sí para intercambiar información, servicios o recursos</a:t>
            </a:r>
          </a:p>
          <a:p>
            <a:pPr marL="0" indent="0" algn="just">
              <a:buNone/>
            </a:pPr>
            <a:endParaRPr lang="es-U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just"/>
            <a:r>
              <a:rPr lang="es-C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Un microservicio es un conjunto de pequeños servicios que pueden ser desarrollados independientemente</a:t>
            </a:r>
            <a:endParaRPr lang="es-C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9</a:t>
            </a:fld>
            <a:endParaRPr lang="es-ES"/>
          </a:p>
        </p:txBody>
      </p:sp>
      <p:sp>
        <p:nvSpPr>
          <p:cNvPr id="8" name="1 Título">
            <a:extLst>
              <a:ext uri="{FF2B5EF4-FFF2-40B4-BE49-F238E27FC236}">
                <a16:creationId xmlns:a16="http://schemas.microsoft.com/office/drawing/2014/main" id="{2300A554-AA78-4661-A0D7-1C18D37529E9}"/>
              </a:ext>
            </a:extLst>
          </p:cNvPr>
          <p:cNvSpPr txBox="1">
            <a:spLocks/>
          </p:cNvSpPr>
          <p:nvPr/>
        </p:nvSpPr>
        <p:spPr>
          <a:xfrm>
            <a:off x="1582124" y="910399"/>
            <a:ext cx="7104676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/>
              <a:t>Cliente-Servidor con Microservicios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FAB7706B-DC4A-465A-97AF-2A9294688C5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04864"/>
            <a:ext cx="4067944" cy="3096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112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Herramientas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5132294" y="1724726"/>
            <a:ext cx="5410944" cy="4814186"/>
          </a:xfrm>
        </p:spPr>
        <p:txBody>
          <a:bodyPr>
            <a:normAutofit lnSpcReduction="10000"/>
          </a:bodyPr>
          <a:lstStyle/>
          <a:p>
            <a:r>
              <a:rPr lang="es-ES" sz="24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React</a:t>
            </a:r>
            <a:endParaRPr lang="es-U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0" indent="0">
              <a:buNone/>
            </a:pPr>
            <a:endParaRPr lang="es-U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r>
              <a:rPr lang="es-CU" sz="24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Nest</a:t>
            </a:r>
            <a:r>
              <a:rPr lang="es-C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s-CU" sz="24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Js</a:t>
            </a:r>
            <a:endParaRPr lang="es-CU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endParaRPr lang="es-CU" sz="2400" dirty="0">
              <a:solidFill>
                <a:srgbClr val="000000"/>
              </a:solidFill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r>
              <a:rPr lang="es-CU" sz="2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Mongo DB </a:t>
            </a:r>
          </a:p>
          <a:p>
            <a:endParaRPr lang="es-CU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r>
              <a:rPr lang="es-C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HTML</a:t>
            </a:r>
          </a:p>
          <a:p>
            <a:endParaRPr lang="es-CU" sz="2400" dirty="0">
              <a:solidFill>
                <a:srgbClr val="000000"/>
              </a:solidFill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r>
              <a:rPr lang="es-C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CSS </a:t>
            </a:r>
          </a:p>
          <a:p>
            <a:endParaRPr lang="es-CU" sz="2400" dirty="0">
              <a:solidFill>
                <a:srgbClr val="000000"/>
              </a:solidFill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r>
              <a:rPr lang="es-CU" sz="240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Javascript</a:t>
            </a:r>
            <a:endParaRPr lang="es-C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10</a:t>
            </a:fld>
            <a:endParaRPr lang="es-E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9E25356-88A0-48BD-B977-AB7456E6A9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979" y="1833873"/>
            <a:ext cx="4932040" cy="347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728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Metodología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738234" y="1783166"/>
            <a:ext cx="5410944" cy="4814186"/>
          </a:xfrm>
        </p:spPr>
        <p:txBody>
          <a:bodyPr>
            <a:normAutofit/>
          </a:bodyPr>
          <a:lstStyle/>
          <a:p>
            <a:pPr algn="just"/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Programación Extrema (XP)</a:t>
            </a:r>
          </a:p>
          <a:p>
            <a:pPr algn="just"/>
            <a:endParaRPr lang="es-E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s-CU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es una metodología de desarrollo ligera (o ágil) basada en una serie de valores y de prácticas de buenas maneras que persigue el objetivo de aumentar la productividad a la hora de desarrollar programas</a:t>
            </a:r>
            <a:endParaRPr lang="es-ES" sz="2400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11</a:t>
            </a:fld>
            <a:endParaRPr lang="es-ES"/>
          </a:p>
        </p:txBody>
      </p:sp>
      <p:graphicFrame>
        <p:nvGraphicFramePr>
          <p:cNvPr id="9" name="Diagrama 8">
            <a:extLst>
              <a:ext uri="{FF2B5EF4-FFF2-40B4-BE49-F238E27FC236}">
                <a16:creationId xmlns:a16="http://schemas.microsoft.com/office/drawing/2014/main" id="{9EFF2E01-4208-415C-9363-B48C13E846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6717351"/>
              </p:ext>
            </p:extLst>
          </p:nvPr>
        </p:nvGraphicFramePr>
        <p:xfrm>
          <a:off x="585886" y="3933056"/>
          <a:ext cx="8136904" cy="42844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pic>
        <p:nvPicPr>
          <p:cNvPr id="7" name="Imagen 6">
            <a:extLst>
              <a:ext uri="{FF2B5EF4-FFF2-40B4-BE49-F238E27FC236}">
                <a16:creationId xmlns:a16="http://schemas.microsoft.com/office/drawing/2014/main" id="{FE1819CF-DC74-4E53-84B5-4A4BF2FEF7F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860" y="2132856"/>
            <a:ext cx="3502557" cy="2752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571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657" y="0"/>
            <a:ext cx="7668344" cy="1011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555776" y="-66607"/>
            <a:ext cx="5410944" cy="1143000"/>
          </a:xfrm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</a:rPr>
              <a:t>Funcionalidades del Sistema</a:t>
            </a:r>
            <a:endParaRPr lang="es-ES" sz="3200" dirty="0">
              <a:solidFill>
                <a:schemeClr val="bg1"/>
              </a:solidFill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427984" y="1607095"/>
            <a:ext cx="5410944" cy="4814186"/>
          </a:xfrm>
        </p:spPr>
        <p:txBody>
          <a:bodyPr>
            <a:normAutofit/>
          </a:bodyPr>
          <a:lstStyle/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HU_1: Autenticarse.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HU_2: Inicio.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HU_3: Gestionar Cálculos.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HU_4: Gestionar Usuarios.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HU_5: Gestionar Trazas.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HU_6: Búsqueda Avanzada.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HU_7: Gestionar Ubicaciones.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spcAft>
                <a:spcPts val="1000"/>
              </a:spcAft>
              <a:buFont typeface="Wingdings" panose="05000000000000000000" pitchFamily="2" charset="2"/>
              <a:buChar char=""/>
            </a:pPr>
            <a:r>
              <a:rPr lang="es-ES" sz="2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HU_8: Ver reportes en gráficas.</a:t>
            </a:r>
            <a:endParaRPr lang="es-CU" sz="24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35" t="5471" r="70358" b="63070"/>
          <a:stretch/>
        </p:blipFill>
        <p:spPr>
          <a:xfrm>
            <a:off x="303249" y="0"/>
            <a:ext cx="921475" cy="883080"/>
          </a:xfrm>
          <a:prstGeom prst="rect">
            <a:avLst/>
          </a:prstGeom>
        </p:spPr>
      </p:pic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2FADFE-3B8F-471C-ABF0-DBC7717ECBBC}" type="slidenum">
              <a:rPr lang="es-ES" smtClean="0"/>
              <a:t>12</a:t>
            </a:fld>
            <a:endParaRPr lang="es-E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7F82248-DC8A-43DA-8999-F316FBC618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37" y="2045189"/>
            <a:ext cx="4410447" cy="3061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22591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icin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cin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1441</TotalTime>
  <Words>482</Words>
  <Application>Microsoft Office PowerPoint</Application>
  <PresentationFormat>Presentación en pantalla (4:3)</PresentationFormat>
  <Paragraphs>99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Arial</vt:lpstr>
      <vt:lpstr>Calibri</vt:lpstr>
      <vt:lpstr>Times New Roman</vt:lpstr>
      <vt:lpstr>Wingdings</vt:lpstr>
      <vt:lpstr>Tema de Office</vt:lpstr>
      <vt:lpstr>Presentación de PowerPoint</vt:lpstr>
      <vt:lpstr>Introducción</vt:lpstr>
      <vt:lpstr>Introducción</vt:lpstr>
      <vt:lpstr>Datos Globales</vt:lpstr>
      <vt:lpstr>Datos Nacionales</vt:lpstr>
      <vt:lpstr>Problema</vt:lpstr>
      <vt:lpstr>Objetivo</vt:lpstr>
      <vt:lpstr>Objeto de Estudio</vt:lpstr>
      <vt:lpstr>Arquitectura</vt:lpstr>
      <vt:lpstr>Herramientas</vt:lpstr>
      <vt:lpstr>Metodología</vt:lpstr>
      <vt:lpstr>Funcionalidades del Sistema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Adán Rául</dc:creator>
  <cp:lastModifiedBy>Dariel Cabrera</cp:lastModifiedBy>
  <cp:revision>222</cp:revision>
  <dcterms:created xsi:type="dcterms:W3CDTF">2018-09-07T22:19:46Z</dcterms:created>
  <dcterms:modified xsi:type="dcterms:W3CDTF">2025-04-29T09:15:33Z</dcterms:modified>
</cp:coreProperties>
</file>