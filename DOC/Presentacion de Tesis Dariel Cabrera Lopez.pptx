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7"/>
  </p:notesMasterIdLst>
  <p:sldIdLst>
    <p:sldId id="257" r:id="rId2"/>
    <p:sldId id="317" r:id="rId3"/>
    <p:sldId id="319" r:id="rId4"/>
    <p:sldId id="335" r:id="rId5"/>
    <p:sldId id="336" r:id="rId6"/>
    <p:sldId id="270" r:id="rId7"/>
    <p:sldId id="337" r:id="rId8"/>
    <p:sldId id="320" r:id="rId9"/>
    <p:sldId id="326" r:id="rId10"/>
    <p:sldId id="327" r:id="rId11"/>
    <p:sldId id="323" r:id="rId12"/>
    <p:sldId id="322" r:id="rId13"/>
    <p:sldId id="328" r:id="rId14"/>
    <p:sldId id="324" r:id="rId15"/>
    <p:sldId id="329" r:id="rId16"/>
    <p:sldId id="339" r:id="rId17"/>
    <p:sldId id="331" r:id="rId18"/>
    <p:sldId id="343" r:id="rId19"/>
    <p:sldId id="344" r:id="rId20"/>
    <p:sldId id="333" r:id="rId21"/>
    <p:sldId id="342" r:id="rId22"/>
    <p:sldId id="345" r:id="rId23"/>
    <p:sldId id="346" r:id="rId24"/>
    <p:sldId id="347" r:id="rId25"/>
    <p:sldId id="348" r:id="rId26"/>
  </p:sldIdLst>
  <p:sldSz cx="9144000" cy="6858000" type="screen4x3"/>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70FA"/>
    <a:srgbClr val="B7DBFF"/>
    <a:srgbClr val="85C2FF"/>
    <a:srgbClr val="3F9FFF"/>
    <a:srgbClr val="ABD5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323" autoAdjust="0"/>
  </p:normalViewPr>
  <p:slideViewPr>
    <p:cSldViewPr>
      <p:cViewPr varScale="1">
        <p:scale>
          <a:sx n="92" d="100"/>
          <a:sy n="92" d="100"/>
        </p:scale>
        <p:origin x="1186" y="91"/>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9328919-5168-419E-9D85-2E59C799E42F}" type="doc">
      <dgm:prSet loTypeId="urn:microsoft.com/office/officeart/2005/8/layout/hChevron3" loCatId="process" qsTypeId="urn:microsoft.com/office/officeart/2005/8/quickstyle/3d2" qsCatId="3D" csTypeId="urn:microsoft.com/office/officeart/2005/8/colors/colorful2" csCatId="colorful" phldr="1"/>
      <dgm:spPr/>
    </dgm:pt>
    <dgm:pt modelId="{44E3CF18-5BA0-4776-B2D3-4FCA95A561B4}">
      <dgm:prSet phldrT="[Texto]"/>
      <dgm:spPr/>
      <dgm:t>
        <a:bodyPr/>
        <a:lstStyle/>
        <a:p>
          <a:r>
            <a:rPr lang="es-CU" b="1"/>
            <a:t>Planificación</a:t>
          </a:r>
        </a:p>
      </dgm:t>
    </dgm:pt>
    <dgm:pt modelId="{3E99912A-A62D-4311-A3D8-C45B6E3F7697}" type="parTrans" cxnId="{DA4FD496-6D20-44EE-83F0-A96D27529BA7}">
      <dgm:prSet/>
      <dgm:spPr/>
      <dgm:t>
        <a:bodyPr/>
        <a:lstStyle/>
        <a:p>
          <a:endParaRPr lang="es-CU"/>
        </a:p>
      </dgm:t>
    </dgm:pt>
    <dgm:pt modelId="{241267C7-BEB5-4E95-8894-ADDEA4336774}" type="sibTrans" cxnId="{DA4FD496-6D20-44EE-83F0-A96D27529BA7}">
      <dgm:prSet/>
      <dgm:spPr/>
      <dgm:t>
        <a:bodyPr/>
        <a:lstStyle/>
        <a:p>
          <a:endParaRPr lang="es-CU"/>
        </a:p>
      </dgm:t>
    </dgm:pt>
    <dgm:pt modelId="{9B5C3707-E82F-49B9-8832-5229BE92FCAF}">
      <dgm:prSet phldrT="[Texto]"/>
      <dgm:spPr/>
      <dgm:t>
        <a:bodyPr/>
        <a:lstStyle/>
        <a:p>
          <a:r>
            <a:rPr lang="es-CU" b="1"/>
            <a:t>Codificación</a:t>
          </a:r>
        </a:p>
      </dgm:t>
    </dgm:pt>
    <dgm:pt modelId="{4FDDE434-5CFC-4441-BC4F-E4EB1A10C7DD}" type="parTrans" cxnId="{7BCE764A-6DF0-4302-8893-868DD0E5F4EF}">
      <dgm:prSet/>
      <dgm:spPr/>
      <dgm:t>
        <a:bodyPr/>
        <a:lstStyle/>
        <a:p>
          <a:endParaRPr lang="es-CU"/>
        </a:p>
      </dgm:t>
    </dgm:pt>
    <dgm:pt modelId="{675705AD-C8BC-41D0-BFA6-FCFBEEB6D676}" type="sibTrans" cxnId="{7BCE764A-6DF0-4302-8893-868DD0E5F4EF}">
      <dgm:prSet/>
      <dgm:spPr/>
      <dgm:t>
        <a:bodyPr/>
        <a:lstStyle/>
        <a:p>
          <a:endParaRPr lang="es-CU"/>
        </a:p>
      </dgm:t>
    </dgm:pt>
    <dgm:pt modelId="{6C54A688-31A1-4E0C-9045-F2A669A07530}">
      <dgm:prSet phldrT="[Texto]"/>
      <dgm:spPr/>
      <dgm:t>
        <a:bodyPr/>
        <a:lstStyle/>
        <a:p>
          <a:r>
            <a:rPr lang="es-CU" b="1"/>
            <a:t>Prueba</a:t>
          </a:r>
        </a:p>
      </dgm:t>
    </dgm:pt>
    <dgm:pt modelId="{8BE23EB9-9ABE-432E-A6A7-552F4BE02063}" type="parTrans" cxnId="{4DCD3677-4D99-4FCF-AAB7-A020A5BF0130}">
      <dgm:prSet/>
      <dgm:spPr/>
      <dgm:t>
        <a:bodyPr/>
        <a:lstStyle/>
        <a:p>
          <a:endParaRPr lang="es-CU"/>
        </a:p>
      </dgm:t>
    </dgm:pt>
    <dgm:pt modelId="{0D5492D2-7B9D-4D03-A5B8-148FB1D1D899}" type="sibTrans" cxnId="{4DCD3677-4D99-4FCF-AAB7-A020A5BF0130}">
      <dgm:prSet/>
      <dgm:spPr/>
      <dgm:t>
        <a:bodyPr/>
        <a:lstStyle/>
        <a:p>
          <a:endParaRPr lang="es-CU"/>
        </a:p>
      </dgm:t>
    </dgm:pt>
    <dgm:pt modelId="{4C730AAD-5F6B-4C61-BED7-02033036F3C5}">
      <dgm:prSet phldrT="[Texto]"/>
      <dgm:spPr/>
      <dgm:t>
        <a:bodyPr/>
        <a:lstStyle/>
        <a:p>
          <a:r>
            <a:rPr lang="es-CU" b="1"/>
            <a:t>Diseño</a:t>
          </a:r>
        </a:p>
      </dgm:t>
    </dgm:pt>
    <dgm:pt modelId="{F04CBC7B-048E-42FB-B1F5-28E1B4FC71AF}" type="parTrans" cxnId="{B1DCB83D-C052-47F1-8C7C-F74C9653F792}">
      <dgm:prSet/>
      <dgm:spPr/>
      <dgm:t>
        <a:bodyPr/>
        <a:lstStyle/>
        <a:p>
          <a:endParaRPr lang="es-CU"/>
        </a:p>
      </dgm:t>
    </dgm:pt>
    <dgm:pt modelId="{CBA3B36B-7873-4536-8EC0-5B923178945A}" type="sibTrans" cxnId="{B1DCB83D-C052-47F1-8C7C-F74C9653F792}">
      <dgm:prSet/>
      <dgm:spPr/>
      <dgm:t>
        <a:bodyPr/>
        <a:lstStyle/>
        <a:p>
          <a:endParaRPr lang="es-CU"/>
        </a:p>
      </dgm:t>
    </dgm:pt>
    <dgm:pt modelId="{74BF82BF-9CC9-4E77-9CA1-357CA6A692E2}" type="pres">
      <dgm:prSet presAssocID="{F9328919-5168-419E-9D85-2E59C799E42F}" presName="Name0" presStyleCnt="0">
        <dgm:presLayoutVars>
          <dgm:dir/>
          <dgm:resizeHandles val="exact"/>
        </dgm:presLayoutVars>
      </dgm:prSet>
      <dgm:spPr/>
    </dgm:pt>
    <dgm:pt modelId="{CA4F59ED-0745-4A10-8987-A0E11988856A}" type="pres">
      <dgm:prSet presAssocID="{44E3CF18-5BA0-4776-B2D3-4FCA95A561B4}" presName="parTxOnly" presStyleLbl="node1" presStyleIdx="0" presStyleCnt="4" custLinFactNeighborX="-31687">
        <dgm:presLayoutVars>
          <dgm:bulletEnabled val="1"/>
        </dgm:presLayoutVars>
      </dgm:prSet>
      <dgm:spPr/>
    </dgm:pt>
    <dgm:pt modelId="{9100F08C-F692-498F-AC45-D0CD02D4FC32}" type="pres">
      <dgm:prSet presAssocID="{241267C7-BEB5-4E95-8894-ADDEA4336774}" presName="parSpace" presStyleCnt="0"/>
      <dgm:spPr/>
    </dgm:pt>
    <dgm:pt modelId="{B58ED49A-4323-4EEE-A7E8-C1A19056AD24}" type="pres">
      <dgm:prSet presAssocID="{4C730AAD-5F6B-4C61-BED7-02033036F3C5}" presName="parTxOnly" presStyleLbl="node1" presStyleIdx="1" presStyleCnt="4">
        <dgm:presLayoutVars>
          <dgm:bulletEnabled val="1"/>
        </dgm:presLayoutVars>
      </dgm:prSet>
      <dgm:spPr/>
    </dgm:pt>
    <dgm:pt modelId="{72FC6FCE-8D73-4A96-9EC9-B44C5FEB7935}" type="pres">
      <dgm:prSet presAssocID="{CBA3B36B-7873-4536-8EC0-5B923178945A}" presName="parSpace" presStyleCnt="0"/>
      <dgm:spPr/>
    </dgm:pt>
    <dgm:pt modelId="{615F992B-E2AA-42F1-AE1C-37600FCA8B45}" type="pres">
      <dgm:prSet presAssocID="{9B5C3707-E82F-49B9-8832-5229BE92FCAF}" presName="parTxOnly" presStyleLbl="node1" presStyleIdx="2" presStyleCnt="4">
        <dgm:presLayoutVars>
          <dgm:bulletEnabled val="1"/>
        </dgm:presLayoutVars>
      </dgm:prSet>
      <dgm:spPr/>
    </dgm:pt>
    <dgm:pt modelId="{84C45388-2F0E-4706-B8A0-2729D7880B6B}" type="pres">
      <dgm:prSet presAssocID="{675705AD-C8BC-41D0-BFA6-FCFBEEB6D676}" presName="parSpace" presStyleCnt="0"/>
      <dgm:spPr/>
    </dgm:pt>
    <dgm:pt modelId="{50151A5E-9FFD-4365-8A31-84750D2C8C1A}" type="pres">
      <dgm:prSet presAssocID="{6C54A688-31A1-4E0C-9045-F2A669A07530}" presName="parTxOnly" presStyleLbl="node1" presStyleIdx="3" presStyleCnt="4">
        <dgm:presLayoutVars>
          <dgm:bulletEnabled val="1"/>
        </dgm:presLayoutVars>
      </dgm:prSet>
      <dgm:spPr/>
    </dgm:pt>
  </dgm:ptLst>
  <dgm:cxnLst>
    <dgm:cxn modelId="{930FB00E-8FC3-4FCC-B52F-532535D3131F}" type="presOf" srcId="{4C730AAD-5F6B-4C61-BED7-02033036F3C5}" destId="{B58ED49A-4323-4EEE-A7E8-C1A19056AD24}" srcOrd="0" destOrd="0" presId="urn:microsoft.com/office/officeart/2005/8/layout/hChevron3"/>
    <dgm:cxn modelId="{DBCED832-FD1A-484E-BD6A-3D1780E3F1E1}" type="presOf" srcId="{F9328919-5168-419E-9D85-2E59C799E42F}" destId="{74BF82BF-9CC9-4E77-9CA1-357CA6A692E2}" srcOrd="0" destOrd="0" presId="urn:microsoft.com/office/officeart/2005/8/layout/hChevron3"/>
    <dgm:cxn modelId="{B1DCB83D-C052-47F1-8C7C-F74C9653F792}" srcId="{F9328919-5168-419E-9D85-2E59C799E42F}" destId="{4C730AAD-5F6B-4C61-BED7-02033036F3C5}" srcOrd="1" destOrd="0" parTransId="{F04CBC7B-048E-42FB-B1F5-28E1B4FC71AF}" sibTransId="{CBA3B36B-7873-4536-8EC0-5B923178945A}"/>
    <dgm:cxn modelId="{7BCE764A-6DF0-4302-8893-868DD0E5F4EF}" srcId="{F9328919-5168-419E-9D85-2E59C799E42F}" destId="{9B5C3707-E82F-49B9-8832-5229BE92FCAF}" srcOrd="2" destOrd="0" parTransId="{4FDDE434-5CFC-4441-BC4F-E4EB1A10C7DD}" sibTransId="{675705AD-C8BC-41D0-BFA6-FCFBEEB6D676}"/>
    <dgm:cxn modelId="{42875B6B-273F-4676-9ED4-3A51DF63ABE1}" type="presOf" srcId="{9B5C3707-E82F-49B9-8832-5229BE92FCAF}" destId="{615F992B-E2AA-42F1-AE1C-37600FCA8B45}" srcOrd="0" destOrd="0" presId="urn:microsoft.com/office/officeart/2005/8/layout/hChevron3"/>
    <dgm:cxn modelId="{4DCD3677-4D99-4FCF-AAB7-A020A5BF0130}" srcId="{F9328919-5168-419E-9D85-2E59C799E42F}" destId="{6C54A688-31A1-4E0C-9045-F2A669A07530}" srcOrd="3" destOrd="0" parTransId="{8BE23EB9-9ABE-432E-A6A7-552F4BE02063}" sibTransId="{0D5492D2-7B9D-4D03-A5B8-148FB1D1D899}"/>
    <dgm:cxn modelId="{DA4FD496-6D20-44EE-83F0-A96D27529BA7}" srcId="{F9328919-5168-419E-9D85-2E59C799E42F}" destId="{44E3CF18-5BA0-4776-B2D3-4FCA95A561B4}" srcOrd="0" destOrd="0" parTransId="{3E99912A-A62D-4311-A3D8-C45B6E3F7697}" sibTransId="{241267C7-BEB5-4E95-8894-ADDEA4336774}"/>
    <dgm:cxn modelId="{6B5E41B4-399C-46E9-8C4B-4E8CF08A916A}" type="presOf" srcId="{44E3CF18-5BA0-4776-B2D3-4FCA95A561B4}" destId="{CA4F59ED-0745-4A10-8987-A0E11988856A}" srcOrd="0" destOrd="0" presId="urn:microsoft.com/office/officeart/2005/8/layout/hChevron3"/>
    <dgm:cxn modelId="{BDA29FFD-7DA9-4CA1-96E8-E2EAD0E94A79}" type="presOf" srcId="{6C54A688-31A1-4E0C-9045-F2A669A07530}" destId="{50151A5E-9FFD-4365-8A31-84750D2C8C1A}" srcOrd="0" destOrd="0" presId="urn:microsoft.com/office/officeart/2005/8/layout/hChevron3"/>
    <dgm:cxn modelId="{2B2E1716-1450-448F-B0BB-785FC2AE246B}" type="presParOf" srcId="{74BF82BF-9CC9-4E77-9CA1-357CA6A692E2}" destId="{CA4F59ED-0745-4A10-8987-A0E11988856A}" srcOrd="0" destOrd="0" presId="urn:microsoft.com/office/officeart/2005/8/layout/hChevron3"/>
    <dgm:cxn modelId="{2FD5F3EA-A62C-440A-B5C6-8FE8F353A9F9}" type="presParOf" srcId="{74BF82BF-9CC9-4E77-9CA1-357CA6A692E2}" destId="{9100F08C-F692-498F-AC45-D0CD02D4FC32}" srcOrd="1" destOrd="0" presId="urn:microsoft.com/office/officeart/2005/8/layout/hChevron3"/>
    <dgm:cxn modelId="{EC92146C-7906-48E8-B57B-52453E408221}" type="presParOf" srcId="{74BF82BF-9CC9-4E77-9CA1-357CA6A692E2}" destId="{B58ED49A-4323-4EEE-A7E8-C1A19056AD24}" srcOrd="2" destOrd="0" presId="urn:microsoft.com/office/officeart/2005/8/layout/hChevron3"/>
    <dgm:cxn modelId="{4441CC16-7866-4F71-A7A5-091BC94E0B46}" type="presParOf" srcId="{74BF82BF-9CC9-4E77-9CA1-357CA6A692E2}" destId="{72FC6FCE-8D73-4A96-9EC9-B44C5FEB7935}" srcOrd="3" destOrd="0" presId="urn:microsoft.com/office/officeart/2005/8/layout/hChevron3"/>
    <dgm:cxn modelId="{C5217A01-8084-49DA-9540-0BF91588A8B6}" type="presParOf" srcId="{74BF82BF-9CC9-4E77-9CA1-357CA6A692E2}" destId="{615F992B-E2AA-42F1-AE1C-37600FCA8B45}" srcOrd="4" destOrd="0" presId="urn:microsoft.com/office/officeart/2005/8/layout/hChevron3"/>
    <dgm:cxn modelId="{1B498E72-AE22-4AEA-9EE8-5F93EDBF2AC0}" type="presParOf" srcId="{74BF82BF-9CC9-4E77-9CA1-357CA6A692E2}" destId="{84C45388-2F0E-4706-B8A0-2729D7880B6B}" srcOrd="5" destOrd="0" presId="urn:microsoft.com/office/officeart/2005/8/layout/hChevron3"/>
    <dgm:cxn modelId="{78C8AE75-1D97-4E6E-8F44-F32939B2CF4B}" type="presParOf" srcId="{74BF82BF-9CC9-4E77-9CA1-357CA6A692E2}" destId="{50151A5E-9FFD-4365-8A31-84750D2C8C1A}" srcOrd="6" destOrd="0" presId="urn:microsoft.com/office/officeart/2005/8/layout/hChevron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4F59ED-0745-4A10-8987-A0E11988856A}">
      <dsp:nvSpPr>
        <dsp:cNvPr id="0" name=""/>
        <dsp:cNvSpPr/>
      </dsp:nvSpPr>
      <dsp:spPr>
        <a:xfrm>
          <a:off x="0" y="1663877"/>
          <a:ext cx="2391804" cy="956721"/>
        </a:xfrm>
        <a:prstGeom prst="homePlat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06680" tIns="53340" rIns="26670" bIns="53340" numCol="1" spcCol="1270" anchor="ctr" anchorCtr="0">
          <a:noAutofit/>
        </a:bodyPr>
        <a:lstStyle/>
        <a:p>
          <a:pPr marL="0" lvl="0" indent="0" algn="ctr" defTabSz="889000">
            <a:lnSpc>
              <a:spcPct val="90000"/>
            </a:lnSpc>
            <a:spcBef>
              <a:spcPct val="0"/>
            </a:spcBef>
            <a:spcAft>
              <a:spcPct val="35000"/>
            </a:spcAft>
            <a:buNone/>
          </a:pPr>
          <a:r>
            <a:rPr lang="es-CU" sz="2000" b="1" kern="1200"/>
            <a:t>Planificación</a:t>
          </a:r>
        </a:p>
      </dsp:txBody>
      <dsp:txXfrm>
        <a:off x="0" y="1663877"/>
        <a:ext cx="2152624" cy="956721"/>
      </dsp:txXfrm>
    </dsp:sp>
    <dsp:sp modelId="{B58ED49A-4323-4EEE-A7E8-C1A19056AD24}">
      <dsp:nvSpPr>
        <dsp:cNvPr id="0" name=""/>
        <dsp:cNvSpPr/>
      </dsp:nvSpPr>
      <dsp:spPr>
        <a:xfrm>
          <a:off x="1915827" y="1663877"/>
          <a:ext cx="2391804" cy="956721"/>
        </a:xfrm>
        <a:prstGeom prst="chevron">
          <a:avLst/>
        </a:prstGeom>
        <a:gradFill rotWithShape="0">
          <a:gsLst>
            <a:gs pos="0">
              <a:schemeClr val="accent2">
                <a:hueOff val="1560506"/>
                <a:satOff val="-1946"/>
                <a:lumOff val="458"/>
                <a:alphaOff val="0"/>
                <a:shade val="51000"/>
                <a:satMod val="130000"/>
              </a:schemeClr>
            </a:gs>
            <a:gs pos="80000">
              <a:schemeClr val="accent2">
                <a:hueOff val="1560506"/>
                <a:satOff val="-1946"/>
                <a:lumOff val="458"/>
                <a:alphaOff val="0"/>
                <a:shade val="93000"/>
                <a:satMod val="130000"/>
              </a:schemeClr>
            </a:gs>
            <a:gs pos="100000">
              <a:schemeClr val="accent2">
                <a:hueOff val="1560506"/>
                <a:satOff val="-1946"/>
                <a:lumOff val="458"/>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0010" tIns="53340" rIns="26670" bIns="53340" numCol="1" spcCol="1270" anchor="ctr" anchorCtr="0">
          <a:noAutofit/>
        </a:bodyPr>
        <a:lstStyle/>
        <a:p>
          <a:pPr marL="0" lvl="0" indent="0" algn="ctr" defTabSz="889000">
            <a:lnSpc>
              <a:spcPct val="90000"/>
            </a:lnSpc>
            <a:spcBef>
              <a:spcPct val="0"/>
            </a:spcBef>
            <a:spcAft>
              <a:spcPct val="35000"/>
            </a:spcAft>
            <a:buNone/>
          </a:pPr>
          <a:r>
            <a:rPr lang="es-CU" sz="2000" b="1" kern="1200"/>
            <a:t>Diseño</a:t>
          </a:r>
        </a:p>
      </dsp:txBody>
      <dsp:txXfrm>
        <a:off x="2394188" y="1663877"/>
        <a:ext cx="1435083" cy="956721"/>
      </dsp:txXfrm>
    </dsp:sp>
    <dsp:sp modelId="{615F992B-E2AA-42F1-AE1C-37600FCA8B45}">
      <dsp:nvSpPr>
        <dsp:cNvPr id="0" name=""/>
        <dsp:cNvSpPr/>
      </dsp:nvSpPr>
      <dsp:spPr>
        <a:xfrm>
          <a:off x="3829271" y="1663877"/>
          <a:ext cx="2391804" cy="956721"/>
        </a:xfrm>
        <a:prstGeom prst="chevron">
          <a:avLst/>
        </a:prstGeom>
        <a:gradFill rotWithShape="0">
          <a:gsLst>
            <a:gs pos="0">
              <a:schemeClr val="accent2">
                <a:hueOff val="3121013"/>
                <a:satOff val="-3893"/>
                <a:lumOff val="915"/>
                <a:alphaOff val="0"/>
                <a:shade val="51000"/>
                <a:satMod val="130000"/>
              </a:schemeClr>
            </a:gs>
            <a:gs pos="80000">
              <a:schemeClr val="accent2">
                <a:hueOff val="3121013"/>
                <a:satOff val="-3893"/>
                <a:lumOff val="915"/>
                <a:alphaOff val="0"/>
                <a:shade val="93000"/>
                <a:satMod val="130000"/>
              </a:schemeClr>
            </a:gs>
            <a:gs pos="100000">
              <a:schemeClr val="accent2">
                <a:hueOff val="3121013"/>
                <a:satOff val="-3893"/>
                <a:lumOff val="915"/>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0010" tIns="53340" rIns="26670" bIns="53340" numCol="1" spcCol="1270" anchor="ctr" anchorCtr="0">
          <a:noAutofit/>
        </a:bodyPr>
        <a:lstStyle/>
        <a:p>
          <a:pPr marL="0" lvl="0" indent="0" algn="ctr" defTabSz="889000">
            <a:lnSpc>
              <a:spcPct val="90000"/>
            </a:lnSpc>
            <a:spcBef>
              <a:spcPct val="0"/>
            </a:spcBef>
            <a:spcAft>
              <a:spcPct val="35000"/>
            </a:spcAft>
            <a:buNone/>
          </a:pPr>
          <a:r>
            <a:rPr lang="es-CU" sz="2000" b="1" kern="1200"/>
            <a:t>Codificación</a:t>
          </a:r>
        </a:p>
      </dsp:txBody>
      <dsp:txXfrm>
        <a:off x="4307632" y="1663877"/>
        <a:ext cx="1435083" cy="956721"/>
      </dsp:txXfrm>
    </dsp:sp>
    <dsp:sp modelId="{50151A5E-9FFD-4365-8A31-84750D2C8C1A}">
      <dsp:nvSpPr>
        <dsp:cNvPr id="0" name=""/>
        <dsp:cNvSpPr/>
      </dsp:nvSpPr>
      <dsp:spPr>
        <a:xfrm>
          <a:off x="5742715" y="1663877"/>
          <a:ext cx="2391804" cy="956721"/>
        </a:xfrm>
        <a:prstGeom prst="chevron">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80010" tIns="53340" rIns="26670" bIns="53340" numCol="1" spcCol="1270" anchor="ctr" anchorCtr="0">
          <a:noAutofit/>
        </a:bodyPr>
        <a:lstStyle/>
        <a:p>
          <a:pPr marL="0" lvl="0" indent="0" algn="ctr" defTabSz="889000">
            <a:lnSpc>
              <a:spcPct val="90000"/>
            </a:lnSpc>
            <a:spcBef>
              <a:spcPct val="0"/>
            </a:spcBef>
            <a:spcAft>
              <a:spcPct val="35000"/>
            </a:spcAft>
            <a:buNone/>
          </a:pPr>
          <a:r>
            <a:rPr lang="es-CU" sz="2000" b="1" kern="1200"/>
            <a:t>Prueba</a:t>
          </a:r>
        </a:p>
      </dsp:txBody>
      <dsp:txXfrm>
        <a:off x="6221076" y="1663877"/>
        <a:ext cx="1435083" cy="956721"/>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803A06-23BD-4449-A1D1-6ADBCF91F056}" type="datetimeFigureOut">
              <a:rPr lang="es-ES_tradnl" smtClean="0"/>
              <a:t>26/06/2025</a:t>
            </a:fld>
            <a:endParaRPr lang="es-ES_tradnl"/>
          </a:p>
        </p:txBody>
      </p:sp>
      <p:sp>
        <p:nvSpPr>
          <p:cNvPr id="4" name="Marcador de imagen de diapositiva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Editar el estilo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52D296-8787-492E-96CD-01130DD1981D}" type="slidenum">
              <a:rPr lang="es-ES_tradnl" smtClean="0"/>
              <a:t>‹Nº›</a:t>
            </a:fld>
            <a:endParaRPr lang="es-ES_tradnl"/>
          </a:p>
        </p:txBody>
      </p:sp>
    </p:spTree>
    <p:extLst>
      <p:ext uri="{BB962C8B-B14F-4D97-AF65-F5344CB8AC3E}">
        <p14:creationId xmlns:p14="http://schemas.microsoft.com/office/powerpoint/2010/main" val="40284117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US" dirty="0"/>
          </a:p>
        </p:txBody>
      </p:sp>
      <p:sp>
        <p:nvSpPr>
          <p:cNvPr id="4" name="Marcador de número de diapositiva 3"/>
          <p:cNvSpPr>
            <a:spLocks noGrp="1"/>
          </p:cNvSpPr>
          <p:nvPr>
            <p:ph type="sldNum" sz="quarter" idx="5"/>
          </p:nvPr>
        </p:nvSpPr>
        <p:spPr/>
        <p:txBody>
          <a:bodyPr/>
          <a:lstStyle/>
          <a:p>
            <a:fld id="{DA52D296-8787-492E-96CD-01130DD1981D}" type="slidenum">
              <a:rPr lang="es-ES_tradnl" smtClean="0"/>
              <a:t>9</a:t>
            </a:fld>
            <a:endParaRPr lang="es-ES_tradnl"/>
          </a:p>
        </p:txBody>
      </p:sp>
    </p:spTree>
    <p:extLst>
      <p:ext uri="{BB962C8B-B14F-4D97-AF65-F5344CB8AC3E}">
        <p14:creationId xmlns:p14="http://schemas.microsoft.com/office/powerpoint/2010/main" val="20421275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685800" y="2130425"/>
            <a:ext cx="7772400" cy="1470025"/>
          </a:xfrm>
        </p:spPr>
        <p:txBody>
          <a:bodyPr/>
          <a:lstStyle/>
          <a:p>
            <a:r>
              <a:rPr lang="es-ES"/>
              <a:t>Haga clic para modificar el estilo de título del patrón</a:t>
            </a:r>
          </a:p>
        </p:txBody>
      </p:sp>
      <p:sp>
        <p:nvSpPr>
          <p:cNvPr id="3" name="2 Subtítulo"/>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p>
        </p:txBody>
      </p:sp>
      <p:sp>
        <p:nvSpPr>
          <p:cNvPr id="4" name="3 Marcador de fecha"/>
          <p:cNvSpPr>
            <a:spLocks noGrp="1"/>
          </p:cNvSpPr>
          <p:nvPr>
            <p:ph type="dt" sz="half" idx="10"/>
          </p:nvPr>
        </p:nvSpPr>
        <p:spPr/>
        <p:txBody>
          <a:bodyPr/>
          <a:lstStyle/>
          <a:p>
            <a:fld id="{98963F9C-36B4-4ECD-BECC-604E57EA70AC}" type="datetime1">
              <a:rPr lang="es-ES" smtClean="0"/>
              <a:t>26/06/2025</a:t>
            </a:fld>
            <a:endParaRPr lang="es-ES"/>
          </a:p>
        </p:txBody>
      </p:sp>
      <p:sp>
        <p:nvSpPr>
          <p:cNvPr id="5" name="4 Marcador de pie de página"/>
          <p:cNvSpPr>
            <a:spLocks noGrp="1"/>
          </p:cNvSpPr>
          <p:nvPr>
            <p:ph type="ftr" sz="quarter" idx="11"/>
          </p:nvPr>
        </p:nvSpPr>
        <p:spPr/>
        <p:txBody>
          <a:bodyPr/>
          <a:lstStyle/>
          <a:p>
            <a:endParaRPr lang="es-ES"/>
          </a:p>
        </p:txBody>
      </p:sp>
      <p:sp>
        <p:nvSpPr>
          <p:cNvPr id="6" name="5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fecha"/>
          <p:cNvSpPr>
            <a:spLocks noGrp="1"/>
          </p:cNvSpPr>
          <p:nvPr>
            <p:ph type="dt" sz="half" idx="10"/>
          </p:nvPr>
        </p:nvSpPr>
        <p:spPr/>
        <p:txBody>
          <a:bodyPr/>
          <a:lstStyle/>
          <a:p>
            <a:fld id="{2B3D0996-3F59-44A3-A62A-DD95A94764C7}" type="datetime1">
              <a:rPr lang="es-ES" smtClean="0"/>
              <a:t>26/06/2025</a:t>
            </a:fld>
            <a:endParaRPr lang="es-ES"/>
          </a:p>
        </p:txBody>
      </p:sp>
      <p:sp>
        <p:nvSpPr>
          <p:cNvPr id="5" name="4 Marcador de pie de página"/>
          <p:cNvSpPr>
            <a:spLocks noGrp="1"/>
          </p:cNvSpPr>
          <p:nvPr>
            <p:ph type="ftr" sz="quarter" idx="11"/>
          </p:nvPr>
        </p:nvSpPr>
        <p:spPr/>
        <p:txBody>
          <a:bodyPr/>
          <a:lstStyle/>
          <a:p>
            <a:endParaRPr lang="es-ES"/>
          </a:p>
        </p:txBody>
      </p:sp>
      <p:sp>
        <p:nvSpPr>
          <p:cNvPr id="6" name="5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722313" y="4406900"/>
            <a:ext cx="7772400" cy="1362075"/>
          </a:xfrm>
        </p:spPr>
        <p:txBody>
          <a:bodyPr anchor="t"/>
          <a:lstStyle>
            <a:lvl1pPr algn="l">
              <a:defRPr sz="4000" b="1" cap="all"/>
            </a:lvl1pPr>
          </a:lstStyle>
          <a:p>
            <a:r>
              <a:rPr lang="es-ES"/>
              <a:t>Haga clic para modificar el estilo de título del patrón</a:t>
            </a:r>
          </a:p>
        </p:txBody>
      </p:sp>
      <p:sp>
        <p:nvSpPr>
          <p:cNvPr id="3" name="2 Marcador de texto"/>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52120030-6113-4ABE-B7D6-521760BB2F2A}" type="datetime1">
              <a:rPr lang="es-ES" smtClean="0"/>
              <a:t>26/06/2025</a:t>
            </a:fld>
            <a:endParaRPr lang="es-ES"/>
          </a:p>
        </p:txBody>
      </p:sp>
      <p:sp>
        <p:nvSpPr>
          <p:cNvPr id="5" name="4 Marcador de pie de página"/>
          <p:cNvSpPr>
            <a:spLocks noGrp="1"/>
          </p:cNvSpPr>
          <p:nvPr>
            <p:ph type="ftr" sz="quarter" idx="11"/>
          </p:nvPr>
        </p:nvSpPr>
        <p:spPr/>
        <p:txBody>
          <a:bodyPr/>
          <a:lstStyle/>
          <a:p>
            <a:endParaRPr lang="es-ES"/>
          </a:p>
        </p:txBody>
      </p:sp>
      <p:sp>
        <p:nvSpPr>
          <p:cNvPr id="6" name="5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p>
        </p:txBody>
      </p:sp>
      <p:sp>
        <p:nvSpPr>
          <p:cNvPr id="3" name="2 Marcador de contenido"/>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contenido"/>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4 Marcador de fecha"/>
          <p:cNvSpPr>
            <a:spLocks noGrp="1"/>
          </p:cNvSpPr>
          <p:nvPr>
            <p:ph type="dt" sz="half" idx="10"/>
          </p:nvPr>
        </p:nvSpPr>
        <p:spPr/>
        <p:txBody>
          <a:bodyPr/>
          <a:lstStyle/>
          <a:p>
            <a:fld id="{A8AD0488-9BF8-4343-A7C8-334439AC023A}" type="datetime1">
              <a:rPr lang="es-ES" smtClean="0"/>
              <a:t>26/06/2025</a:t>
            </a:fld>
            <a:endParaRPr lang="es-ES"/>
          </a:p>
        </p:txBody>
      </p:sp>
      <p:sp>
        <p:nvSpPr>
          <p:cNvPr id="6" name="5 Marcador de pie de página"/>
          <p:cNvSpPr>
            <a:spLocks noGrp="1"/>
          </p:cNvSpPr>
          <p:nvPr>
            <p:ph type="ftr" sz="quarter" idx="11"/>
          </p:nvPr>
        </p:nvSpPr>
        <p:spPr/>
        <p:txBody>
          <a:bodyPr/>
          <a:lstStyle/>
          <a:p>
            <a:endParaRPr lang="es-ES"/>
          </a:p>
        </p:txBody>
      </p:sp>
      <p:sp>
        <p:nvSpPr>
          <p:cNvPr id="7" name="6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p>
        </p:txBody>
      </p:sp>
      <p:sp>
        <p:nvSpPr>
          <p:cNvPr id="3" name="2 Marcador de texto"/>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4 Marcador de texto"/>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6 Marcador de fecha"/>
          <p:cNvSpPr>
            <a:spLocks noGrp="1"/>
          </p:cNvSpPr>
          <p:nvPr>
            <p:ph type="dt" sz="half" idx="10"/>
          </p:nvPr>
        </p:nvSpPr>
        <p:spPr/>
        <p:txBody>
          <a:bodyPr/>
          <a:lstStyle/>
          <a:p>
            <a:fld id="{B91DCCD4-540D-42E8-A1D5-532A6F28BA54}" type="datetime1">
              <a:rPr lang="es-ES" smtClean="0"/>
              <a:t>26/06/2025</a:t>
            </a:fld>
            <a:endParaRPr lang="es-ES"/>
          </a:p>
        </p:txBody>
      </p:sp>
      <p:sp>
        <p:nvSpPr>
          <p:cNvPr id="8" name="7 Marcador de pie de página"/>
          <p:cNvSpPr>
            <a:spLocks noGrp="1"/>
          </p:cNvSpPr>
          <p:nvPr>
            <p:ph type="ftr" sz="quarter" idx="11"/>
          </p:nvPr>
        </p:nvSpPr>
        <p:spPr/>
        <p:txBody>
          <a:bodyPr/>
          <a:lstStyle/>
          <a:p>
            <a:endParaRPr lang="es-ES"/>
          </a:p>
        </p:txBody>
      </p:sp>
      <p:sp>
        <p:nvSpPr>
          <p:cNvPr id="9" name="8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p>
        </p:txBody>
      </p:sp>
      <p:sp>
        <p:nvSpPr>
          <p:cNvPr id="3" name="2 Marcador de fecha"/>
          <p:cNvSpPr>
            <a:spLocks noGrp="1"/>
          </p:cNvSpPr>
          <p:nvPr>
            <p:ph type="dt" sz="half" idx="10"/>
          </p:nvPr>
        </p:nvSpPr>
        <p:spPr/>
        <p:txBody>
          <a:bodyPr/>
          <a:lstStyle/>
          <a:p>
            <a:fld id="{7EFCCA53-11C7-4627-936A-79881176CA9F}" type="datetime1">
              <a:rPr lang="es-ES" smtClean="0"/>
              <a:t>26/06/2025</a:t>
            </a:fld>
            <a:endParaRPr lang="es-ES"/>
          </a:p>
        </p:txBody>
      </p:sp>
      <p:sp>
        <p:nvSpPr>
          <p:cNvPr id="4" name="3 Marcador de pie de página"/>
          <p:cNvSpPr>
            <a:spLocks noGrp="1"/>
          </p:cNvSpPr>
          <p:nvPr>
            <p:ph type="ftr" sz="quarter" idx="11"/>
          </p:nvPr>
        </p:nvSpPr>
        <p:spPr/>
        <p:txBody>
          <a:bodyPr/>
          <a:lstStyle/>
          <a:p>
            <a:endParaRPr lang="es-ES"/>
          </a:p>
        </p:txBody>
      </p:sp>
      <p:sp>
        <p:nvSpPr>
          <p:cNvPr id="5" name="4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5DAFE5E1-20AD-4F66-9853-038A786E08A1}" type="datetime1">
              <a:rPr lang="es-ES" smtClean="0"/>
              <a:t>26/06/2025</a:t>
            </a:fld>
            <a:endParaRPr lang="es-ES"/>
          </a:p>
        </p:txBody>
      </p:sp>
      <p:sp>
        <p:nvSpPr>
          <p:cNvPr id="3" name="2 Marcador de pie de página"/>
          <p:cNvSpPr>
            <a:spLocks noGrp="1"/>
          </p:cNvSpPr>
          <p:nvPr>
            <p:ph type="ftr" sz="quarter" idx="11"/>
          </p:nvPr>
        </p:nvSpPr>
        <p:spPr/>
        <p:txBody>
          <a:bodyPr/>
          <a:lstStyle/>
          <a:p>
            <a:endParaRPr lang="es-ES"/>
          </a:p>
        </p:txBody>
      </p:sp>
      <p:sp>
        <p:nvSpPr>
          <p:cNvPr id="4" name="3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457200" y="273050"/>
            <a:ext cx="3008313" cy="1162050"/>
          </a:xfrm>
        </p:spPr>
        <p:txBody>
          <a:bodyPr anchor="b"/>
          <a:lstStyle>
            <a:lvl1pPr algn="l">
              <a:defRPr sz="2000" b="1"/>
            </a:lvl1pPr>
          </a:lstStyle>
          <a:p>
            <a:r>
              <a:rPr lang="es-ES"/>
              <a:t>Haga clic para modificar el estilo de título del patrón</a:t>
            </a:r>
          </a:p>
        </p:txBody>
      </p:sp>
      <p:sp>
        <p:nvSpPr>
          <p:cNvPr id="3" name="2 Marcador de contenido"/>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texto"/>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F3470BC8-43CE-409A-BE0C-FBE54D4B7D7F}" type="datetime1">
              <a:rPr lang="es-ES" smtClean="0"/>
              <a:t>26/06/2025</a:t>
            </a:fld>
            <a:endParaRPr lang="es-ES"/>
          </a:p>
        </p:txBody>
      </p:sp>
      <p:sp>
        <p:nvSpPr>
          <p:cNvPr id="6" name="5 Marcador de pie de página"/>
          <p:cNvSpPr>
            <a:spLocks noGrp="1"/>
          </p:cNvSpPr>
          <p:nvPr>
            <p:ph type="ftr" sz="quarter" idx="11"/>
          </p:nvPr>
        </p:nvSpPr>
        <p:spPr/>
        <p:txBody>
          <a:bodyPr/>
          <a:lstStyle/>
          <a:p>
            <a:endParaRPr lang="es-ES"/>
          </a:p>
        </p:txBody>
      </p:sp>
      <p:sp>
        <p:nvSpPr>
          <p:cNvPr id="7" name="6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1792288" y="4800600"/>
            <a:ext cx="5486400" cy="566738"/>
          </a:xfrm>
        </p:spPr>
        <p:txBody>
          <a:bodyPr anchor="b"/>
          <a:lstStyle>
            <a:lvl1pPr algn="l">
              <a:defRPr sz="2000" b="1"/>
            </a:lvl1pPr>
          </a:lstStyle>
          <a:p>
            <a:r>
              <a:rPr lang="es-ES"/>
              <a:t>Haga clic para modificar el estilo de título del patrón</a:t>
            </a:r>
          </a:p>
        </p:txBody>
      </p:sp>
      <p:sp>
        <p:nvSpPr>
          <p:cNvPr id="3" name="2 Marcador de posición de imagen"/>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3 Marcador de texto"/>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A0853D2-8CEB-49C0-B2DA-82EEA4C831AA}" type="datetime1">
              <a:rPr lang="es-ES" smtClean="0"/>
              <a:t>26/06/2025</a:t>
            </a:fld>
            <a:endParaRPr lang="es-ES"/>
          </a:p>
        </p:txBody>
      </p:sp>
      <p:sp>
        <p:nvSpPr>
          <p:cNvPr id="6" name="5 Marcador de pie de página"/>
          <p:cNvSpPr>
            <a:spLocks noGrp="1"/>
          </p:cNvSpPr>
          <p:nvPr>
            <p:ph type="ftr" sz="quarter" idx="11"/>
          </p:nvPr>
        </p:nvSpPr>
        <p:spPr/>
        <p:txBody>
          <a:bodyPr/>
          <a:lstStyle/>
          <a:p>
            <a:endParaRPr lang="es-ES"/>
          </a:p>
        </p:txBody>
      </p:sp>
      <p:sp>
        <p:nvSpPr>
          <p:cNvPr id="7" name="6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fecha"/>
          <p:cNvSpPr>
            <a:spLocks noGrp="1"/>
          </p:cNvSpPr>
          <p:nvPr>
            <p:ph type="dt" sz="half" idx="10"/>
          </p:nvPr>
        </p:nvSpPr>
        <p:spPr/>
        <p:txBody>
          <a:bodyPr/>
          <a:lstStyle/>
          <a:p>
            <a:fld id="{C72EFBCE-E3F3-42E3-AA42-D22E0C63B5E5}" type="datetime1">
              <a:rPr lang="es-ES" smtClean="0"/>
              <a:t>26/06/2025</a:t>
            </a:fld>
            <a:endParaRPr lang="es-ES"/>
          </a:p>
        </p:txBody>
      </p:sp>
      <p:sp>
        <p:nvSpPr>
          <p:cNvPr id="5" name="4 Marcador de pie de página"/>
          <p:cNvSpPr>
            <a:spLocks noGrp="1"/>
          </p:cNvSpPr>
          <p:nvPr>
            <p:ph type="ftr" sz="quarter" idx="11"/>
          </p:nvPr>
        </p:nvSpPr>
        <p:spPr/>
        <p:txBody>
          <a:bodyPr/>
          <a:lstStyle/>
          <a:p>
            <a:endParaRPr lang="es-ES"/>
          </a:p>
        </p:txBody>
      </p:sp>
      <p:sp>
        <p:nvSpPr>
          <p:cNvPr id="6" name="5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6629400" y="274638"/>
            <a:ext cx="2057400" cy="5851525"/>
          </a:xfrm>
        </p:spPr>
        <p:txBody>
          <a:bodyPr vert="eaVert"/>
          <a:lstStyle/>
          <a:p>
            <a:r>
              <a:rPr lang="es-ES"/>
              <a:t>Haga clic para modificar el estilo de título del patrón</a:t>
            </a:r>
          </a:p>
        </p:txBody>
      </p:sp>
      <p:sp>
        <p:nvSpPr>
          <p:cNvPr id="3" name="2 Marcador de texto vertical"/>
          <p:cNvSpPr>
            <a:spLocks noGrp="1"/>
          </p:cNvSpPr>
          <p:nvPr>
            <p:ph type="body" orient="vert" idx="1"/>
          </p:nvPr>
        </p:nvSpPr>
        <p:spPr>
          <a:xfrm>
            <a:off x="457200" y="274638"/>
            <a:ext cx="60198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fecha"/>
          <p:cNvSpPr>
            <a:spLocks noGrp="1"/>
          </p:cNvSpPr>
          <p:nvPr>
            <p:ph type="dt" sz="half" idx="10"/>
          </p:nvPr>
        </p:nvSpPr>
        <p:spPr/>
        <p:txBody>
          <a:bodyPr/>
          <a:lstStyle/>
          <a:p>
            <a:fld id="{8569FFDC-06D8-42F3-B15A-134344304A07}" type="datetime1">
              <a:rPr lang="es-ES" smtClean="0"/>
              <a:t>26/06/2025</a:t>
            </a:fld>
            <a:endParaRPr lang="es-ES"/>
          </a:p>
        </p:txBody>
      </p:sp>
      <p:sp>
        <p:nvSpPr>
          <p:cNvPr id="5" name="4 Marcador de pie de página"/>
          <p:cNvSpPr>
            <a:spLocks noGrp="1"/>
          </p:cNvSpPr>
          <p:nvPr>
            <p:ph type="ftr" sz="quarter" idx="11"/>
          </p:nvPr>
        </p:nvSpPr>
        <p:spPr/>
        <p:txBody>
          <a:bodyPr/>
          <a:lstStyle/>
          <a:p>
            <a:endParaRPr lang="es-ES"/>
          </a:p>
        </p:txBody>
      </p:sp>
      <p:sp>
        <p:nvSpPr>
          <p:cNvPr id="6" name="5 Marcador de número de diapositiva"/>
          <p:cNvSpPr>
            <a:spLocks noGrp="1"/>
          </p:cNvSpPr>
          <p:nvPr>
            <p:ph type="sldNum" sz="quarter" idx="12"/>
          </p:nvPr>
        </p:nvSpPr>
        <p:spPr/>
        <p:txBody>
          <a:bodyPr/>
          <a:lstStyle/>
          <a:p>
            <a:fld id="{132FADFE-3B8F-471C-ABF0-DBC7717ECBBC}" type="slidenum">
              <a:rPr lang="es-ES" smtClean="0"/>
              <a:t>‹Nº›</a:t>
            </a:fld>
            <a:endParaRPr lang="es-E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2 Marcador de texto"/>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3 Marcador de fecha"/>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055BF71-A5A3-4F60-820F-A4D41CCBAC58}" type="datetime1">
              <a:rPr lang="es-ES" smtClean="0"/>
              <a:t>26/06/2025</a:t>
            </a:fld>
            <a:endParaRPr lang="es-ES"/>
          </a:p>
        </p:txBody>
      </p:sp>
      <p:sp>
        <p:nvSpPr>
          <p:cNvPr id="5" name="4 Marcador de pie de página"/>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5 Marcador de número de diapositiva"/>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32FADFE-3B8F-471C-ABF0-DBC7717ECBBC}" type="slidenum">
              <a:rPr lang="es-ES" smtClean="0"/>
              <a:t>‹Nº›</a:t>
            </a:fld>
            <a:endParaRPr lang="es-E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jpe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4.png"/><Relationship Id="rId7" Type="http://schemas.openxmlformats.org/officeDocument/2006/relationships/diagramColors" Target="../diagrams/colors1.xml"/><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 Id="rId9" Type="http://schemas.openxmlformats.org/officeDocument/2006/relationships/image" Target="../media/image13.jp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4.jp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600" y="1517"/>
            <a:ext cx="3816424" cy="68575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1 CuadroTexto"/>
          <p:cNvSpPr txBox="1"/>
          <p:nvPr/>
        </p:nvSpPr>
        <p:spPr>
          <a:xfrm>
            <a:off x="3129897" y="2638266"/>
            <a:ext cx="5844674" cy="707886"/>
          </a:xfrm>
          <a:prstGeom prst="rect">
            <a:avLst/>
          </a:prstGeom>
          <a:noFill/>
        </p:spPr>
        <p:txBody>
          <a:bodyPr wrap="square" rtlCol="0">
            <a:spAutoFit/>
          </a:bodyPr>
          <a:lstStyle/>
          <a:p>
            <a:pPr algn="ctr"/>
            <a:r>
              <a:rPr lang="es-ES" sz="4000" b="1" dirty="0"/>
              <a:t>Trabajo de Diploma</a:t>
            </a:r>
          </a:p>
        </p:txBody>
      </p:sp>
      <p:sp>
        <p:nvSpPr>
          <p:cNvPr id="8" name="1 CuadroTexto"/>
          <p:cNvSpPr txBox="1"/>
          <p:nvPr/>
        </p:nvSpPr>
        <p:spPr>
          <a:xfrm>
            <a:off x="3008208" y="5346413"/>
            <a:ext cx="6135792" cy="1569660"/>
          </a:xfrm>
          <a:prstGeom prst="rect">
            <a:avLst/>
          </a:prstGeom>
          <a:noFill/>
        </p:spPr>
        <p:txBody>
          <a:bodyPr wrap="square" rtlCol="0">
            <a:spAutoFit/>
          </a:bodyPr>
          <a:lstStyle/>
          <a:p>
            <a:r>
              <a:rPr lang="es-ES" sz="2000" b="1" dirty="0"/>
              <a:t>Autor: </a:t>
            </a:r>
            <a:r>
              <a:rPr lang="es-ES" sz="2000" dirty="0"/>
              <a:t>Dariel Enmanuel Cabrera López</a:t>
            </a:r>
          </a:p>
          <a:p>
            <a:r>
              <a:rPr lang="es-ES" sz="2000" b="1" dirty="0"/>
              <a:t>Tutor:  </a:t>
            </a:r>
            <a:r>
              <a:rPr lang="es-CU" sz="1800" dirty="0" err="1">
                <a:effectLst/>
                <a:latin typeface="Arial" panose="020B0604020202020204" pitchFamily="34" charset="0"/>
                <a:ea typeface="Arial" panose="020B0604020202020204" pitchFamily="34" charset="0"/>
              </a:rPr>
              <a:t>Dr.C</a:t>
            </a:r>
            <a:r>
              <a:rPr lang="es-CU" sz="1800" dirty="0">
                <a:effectLst/>
                <a:latin typeface="Arial" panose="020B0604020202020204" pitchFamily="34" charset="0"/>
                <a:ea typeface="Arial" panose="020B0604020202020204" pitchFamily="34" charset="0"/>
              </a:rPr>
              <a:t> </a:t>
            </a:r>
            <a:r>
              <a:rPr lang="es-CU" sz="1800" dirty="0" err="1">
                <a:effectLst/>
                <a:latin typeface="Arial" panose="020B0604020202020204" pitchFamily="34" charset="0"/>
                <a:ea typeface="Arial" panose="020B0604020202020204" pitchFamily="34" charset="0"/>
              </a:rPr>
              <a:t>Dionis</a:t>
            </a:r>
            <a:r>
              <a:rPr lang="es-CU" sz="1800" dirty="0">
                <a:effectLst/>
                <a:latin typeface="Arial" panose="020B0604020202020204" pitchFamily="34" charset="0"/>
                <a:ea typeface="Arial" panose="020B0604020202020204" pitchFamily="34" charset="0"/>
              </a:rPr>
              <a:t> López Ramos</a:t>
            </a:r>
            <a:r>
              <a:rPr lang="es-CU" sz="1800" dirty="0">
                <a:solidFill>
                  <a:srgbClr val="000000"/>
                </a:solidFill>
                <a:effectLst/>
                <a:latin typeface="Arial" panose="020B0604020202020204" pitchFamily="34" charset="0"/>
                <a:ea typeface="Arial" panose="020B0604020202020204" pitchFamily="34" charset="0"/>
              </a:rPr>
              <a:t> </a:t>
            </a:r>
          </a:p>
          <a:p>
            <a:endParaRPr lang="es-CU" sz="1800" dirty="0">
              <a:solidFill>
                <a:srgbClr val="000000"/>
              </a:solidFill>
              <a:effectLst/>
              <a:latin typeface="Arial" panose="020B0604020202020204" pitchFamily="34" charset="0"/>
              <a:ea typeface="Arial" panose="020B0604020202020204" pitchFamily="34" charset="0"/>
            </a:endParaRPr>
          </a:p>
          <a:p>
            <a:pPr algn="ctr"/>
            <a:r>
              <a:rPr lang="es-CU" dirty="0">
                <a:solidFill>
                  <a:srgbClr val="000000"/>
                </a:solidFill>
                <a:latin typeface="Arial" panose="020B0604020202020204" pitchFamily="34" charset="0"/>
              </a:rPr>
              <a:t>Santiago de Cuba</a:t>
            </a:r>
            <a:endParaRPr lang="es-ES" sz="2000" dirty="0"/>
          </a:p>
          <a:p>
            <a:pPr algn="ctr"/>
            <a:r>
              <a:rPr lang="es-ES" sz="2000" dirty="0"/>
              <a:t>2025</a:t>
            </a:r>
          </a:p>
        </p:txBody>
      </p:sp>
      <p:sp>
        <p:nvSpPr>
          <p:cNvPr id="10" name="1 CuadroTexto"/>
          <p:cNvSpPr txBox="1"/>
          <p:nvPr/>
        </p:nvSpPr>
        <p:spPr>
          <a:xfrm>
            <a:off x="3008208" y="3402690"/>
            <a:ext cx="6088051" cy="1755802"/>
          </a:xfrm>
          <a:prstGeom prst="rect">
            <a:avLst/>
          </a:prstGeom>
          <a:noFill/>
        </p:spPr>
        <p:txBody>
          <a:bodyPr wrap="square" rtlCol="0">
            <a:spAutoFit/>
          </a:bodyPr>
          <a:lstStyle/>
          <a:p>
            <a:pPr algn="just"/>
            <a:r>
              <a:rPr lang="es-CU" sz="2400" b="1" dirty="0"/>
              <a:t>Tema:</a:t>
            </a:r>
          </a:p>
          <a:p>
            <a:pPr marL="6350" indent="-6350" algn="just">
              <a:lnSpc>
                <a:spcPct val="146000"/>
              </a:lnSpc>
              <a:spcAft>
                <a:spcPts val="635"/>
              </a:spcAft>
            </a:pPr>
            <a:r>
              <a:rPr lang="es-CU" sz="2000" dirty="0">
                <a:solidFill>
                  <a:srgbClr val="000000"/>
                </a:solidFill>
                <a:effectLst/>
                <a:latin typeface="Arial" panose="020B0604020202020204" pitchFamily="34" charset="0"/>
                <a:ea typeface="Arial" panose="020B0604020202020204" pitchFamily="34" charset="0"/>
              </a:rPr>
              <a:t>"Sistema Informático para la Gestión del Cálculo del Transporte de Sedimentos en Costas Sur-Orientales" </a:t>
            </a:r>
          </a:p>
        </p:txBody>
      </p:sp>
      <p:pic>
        <p:nvPicPr>
          <p:cNvPr id="2" name="Imagen 1"/>
          <p:cNvPicPr>
            <a:picLocks noChangeAspect="1"/>
          </p:cNvPicPr>
          <p:nvPr/>
        </p:nvPicPr>
        <p:blipFill>
          <a:blip r:embed="rId3"/>
          <a:stretch>
            <a:fillRect/>
          </a:stretch>
        </p:blipFill>
        <p:spPr>
          <a:xfrm>
            <a:off x="5415060" y="43252"/>
            <a:ext cx="1513539" cy="1513539"/>
          </a:xfrm>
          <a:prstGeom prst="rect">
            <a:avLst/>
          </a:prstGeom>
        </p:spPr>
      </p:pic>
      <p:sp>
        <p:nvSpPr>
          <p:cNvPr id="3" name="Rectángulo 2"/>
          <p:cNvSpPr/>
          <p:nvPr/>
        </p:nvSpPr>
        <p:spPr>
          <a:xfrm>
            <a:off x="3203848" y="1483007"/>
            <a:ext cx="5940151" cy="1015663"/>
          </a:xfrm>
          <a:prstGeom prst="rect">
            <a:avLst/>
          </a:prstGeom>
        </p:spPr>
        <p:txBody>
          <a:bodyPr wrap="square">
            <a:spAutoFit/>
          </a:bodyPr>
          <a:lstStyle/>
          <a:p>
            <a:pPr algn="ctr"/>
            <a:r>
              <a:rPr lang="es-ES" sz="2000" b="1" dirty="0"/>
              <a:t>Facultad de Ingeniería en </a:t>
            </a:r>
          </a:p>
          <a:p>
            <a:pPr algn="ctr"/>
            <a:r>
              <a:rPr lang="es-ES" sz="2000" b="1" dirty="0"/>
              <a:t>Telecomunicaciones Informática y Biomédica</a:t>
            </a:r>
          </a:p>
          <a:p>
            <a:pPr algn="ctr"/>
            <a:r>
              <a:rPr lang="es-ES" sz="2000" b="1" dirty="0"/>
              <a:t>Departamento de Ingeniería Informática</a:t>
            </a:r>
          </a:p>
        </p:txBody>
      </p:sp>
    </p:spTree>
    <p:extLst>
      <p:ext uri="{BB962C8B-B14F-4D97-AF65-F5344CB8AC3E}">
        <p14:creationId xmlns:p14="http://schemas.microsoft.com/office/powerpoint/2010/main" val="1192848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dirty="0">
                <a:solidFill>
                  <a:schemeClr val="bg1"/>
                </a:solidFill>
              </a:rPr>
              <a:t>Introducción</a:t>
            </a: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2</a:t>
            </a:fld>
            <a:endParaRPr lang="es-ES"/>
          </a:p>
        </p:txBody>
      </p:sp>
      <p:pic>
        <p:nvPicPr>
          <p:cNvPr id="8" name="Imagen 7">
            <a:extLst>
              <a:ext uri="{FF2B5EF4-FFF2-40B4-BE49-F238E27FC236}">
                <a16:creationId xmlns:a16="http://schemas.microsoft.com/office/drawing/2014/main" id="{284F405F-280E-410D-A83D-4E22032214B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1011462"/>
            <a:ext cx="4483671" cy="3442742"/>
          </a:xfrm>
          <a:prstGeom prst="rect">
            <a:avLst/>
          </a:prstGeom>
        </p:spPr>
      </p:pic>
      <p:sp>
        <p:nvSpPr>
          <p:cNvPr id="11" name="CuadroTexto 10">
            <a:extLst>
              <a:ext uri="{FF2B5EF4-FFF2-40B4-BE49-F238E27FC236}">
                <a16:creationId xmlns:a16="http://schemas.microsoft.com/office/drawing/2014/main" id="{EE3625EE-4DDB-4F05-AEAB-DE686BC63222}"/>
              </a:ext>
            </a:extLst>
          </p:cNvPr>
          <p:cNvSpPr txBox="1"/>
          <p:nvPr/>
        </p:nvSpPr>
        <p:spPr>
          <a:xfrm>
            <a:off x="0" y="5026962"/>
            <a:ext cx="8717406" cy="1200329"/>
          </a:xfrm>
          <a:prstGeom prst="rect">
            <a:avLst/>
          </a:prstGeom>
          <a:noFill/>
        </p:spPr>
        <p:txBody>
          <a:bodyPr wrap="square">
            <a:spAutoFit/>
          </a:bodyPr>
          <a:lstStyle/>
          <a:p>
            <a:r>
              <a:rPr lang="es-ES" sz="2400" dirty="0"/>
              <a:t>Transporte de sedimentos es el movimiento de partículas como arena y grava, es crucial para la formación de playas pero también puede contribuir a la erosión costera</a:t>
            </a:r>
            <a:endParaRPr lang="es-CU" sz="2400" dirty="0"/>
          </a:p>
        </p:txBody>
      </p:sp>
      <p:pic>
        <p:nvPicPr>
          <p:cNvPr id="3" name="Imagen 2">
            <a:extLst>
              <a:ext uri="{FF2B5EF4-FFF2-40B4-BE49-F238E27FC236}">
                <a16:creationId xmlns:a16="http://schemas.microsoft.com/office/drawing/2014/main" id="{A89D5A90-FBAE-DEE6-DCB2-9CE7DCB409E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04345" y="1011462"/>
            <a:ext cx="4239655" cy="3442742"/>
          </a:xfrm>
          <a:prstGeom prst="rect">
            <a:avLst/>
          </a:prstGeom>
        </p:spPr>
      </p:pic>
    </p:spTree>
    <p:extLst>
      <p:ext uri="{BB962C8B-B14F-4D97-AF65-F5344CB8AC3E}">
        <p14:creationId xmlns:p14="http://schemas.microsoft.com/office/powerpoint/2010/main" val="2806781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dirty="0">
                <a:solidFill>
                  <a:schemeClr val="bg1"/>
                </a:solidFill>
              </a:rPr>
              <a:t>Situación Problémica</a:t>
            </a:r>
          </a:p>
        </p:txBody>
      </p:sp>
      <p:sp>
        <p:nvSpPr>
          <p:cNvPr id="3" name="2 Marcador de contenido"/>
          <p:cNvSpPr>
            <a:spLocks noGrp="1"/>
          </p:cNvSpPr>
          <p:nvPr>
            <p:ph idx="1"/>
          </p:nvPr>
        </p:nvSpPr>
        <p:spPr>
          <a:xfrm>
            <a:off x="4351833" y="1931186"/>
            <a:ext cx="4644008" cy="4525963"/>
          </a:xfrm>
        </p:spPr>
        <p:txBody>
          <a:bodyPr>
            <a:normAutofit/>
          </a:bodyPr>
          <a:lstStyle/>
          <a:p>
            <a:pPr algn="just">
              <a:spcAft>
                <a:spcPts val="1000"/>
              </a:spcAft>
            </a:pPr>
            <a:r>
              <a:rPr lang="es-CU" sz="2400" dirty="0">
                <a:solidFill>
                  <a:srgbClr val="000000"/>
                </a:solidFill>
                <a:effectLst/>
                <a:latin typeface="Arial" panose="020B0604020202020204" pitchFamily="34" charset="0"/>
                <a:ea typeface="Arial" panose="020B0604020202020204" pitchFamily="34" charset="0"/>
              </a:rPr>
              <a:t>Ocurrencia de errores en la recogida de la </a:t>
            </a:r>
            <a:r>
              <a:rPr lang="es-ES" sz="2400" dirty="0">
                <a:solidFill>
                  <a:srgbClr val="000000"/>
                </a:solidFill>
                <a:effectLst/>
                <a:latin typeface="Arial" panose="020B0604020202020204" pitchFamily="34" charset="0"/>
                <a:ea typeface="Calibri" panose="020F0502020204030204" pitchFamily="34" charset="0"/>
              </a:rPr>
              <a:t>información referente al cálculo del transporte de sedimentos en las costas cubanas de la región sur-oriental para garantizar acciones efectivas que prevengan los efectos de la erosión costera.</a:t>
            </a:r>
            <a:endParaRPr lang="es-CU" sz="2400" dirty="0">
              <a:effectLst/>
              <a:latin typeface="Arial" panose="020B0604020202020204" pitchFamily="34" charset="0"/>
              <a:ea typeface="Calibri" panose="020F0502020204030204" pitchFamily="34" charset="0"/>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3</a:t>
            </a:fld>
            <a:endParaRPr lang="es-ES"/>
          </a:p>
        </p:txBody>
      </p:sp>
      <p:pic>
        <p:nvPicPr>
          <p:cNvPr id="7" name="Imagen 6">
            <a:extLst>
              <a:ext uri="{FF2B5EF4-FFF2-40B4-BE49-F238E27FC236}">
                <a16:creationId xmlns:a16="http://schemas.microsoft.com/office/drawing/2014/main" id="{363C1586-EF60-4D2D-A593-94774E29305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2386" y="1931186"/>
            <a:ext cx="4392488" cy="3722288"/>
          </a:xfrm>
          <a:prstGeom prst="rect">
            <a:avLst/>
          </a:prstGeom>
        </p:spPr>
      </p:pic>
    </p:spTree>
    <p:extLst>
      <p:ext uri="{BB962C8B-B14F-4D97-AF65-F5344CB8AC3E}">
        <p14:creationId xmlns:p14="http://schemas.microsoft.com/office/powerpoint/2010/main" val="1803129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4E0F5C-40BB-B826-7461-BB3C883AD4FE}"/>
            </a:ext>
          </a:extLst>
        </p:cNvPr>
        <p:cNvGrpSpPr/>
        <p:nvPr/>
      </p:nvGrpSpPr>
      <p:grpSpPr>
        <a:xfrm>
          <a:off x="0" y="0"/>
          <a:ext cx="0" cy="0"/>
          <a:chOff x="0" y="0"/>
          <a:chExt cx="0" cy="0"/>
        </a:xfrm>
      </p:grpSpPr>
      <p:pic>
        <p:nvPicPr>
          <p:cNvPr id="2051" name="Picture 3">
            <a:extLst>
              <a:ext uri="{FF2B5EF4-FFF2-40B4-BE49-F238E27FC236}">
                <a16:creationId xmlns:a16="http://schemas.microsoft.com/office/drawing/2014/main" id="{C91E66CF-4371-19CE-54C7-0797F6BDF2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a:extLst>
              <a:ext uri="{FF2B5EF4-FFF2-40B4-BE49-F238E27FC236}">
                <a16:creationId xmlns:a16="http://schemas.microsoft.com/office/drawing/2014/main" id="{4EA52F5A-ECA9-C444-99A8-03B9C8CCC8BB}"/>
              </a:ext>
            </a:extLst>
          </p:cNvPr>
          <p:cNvSpPr>
            <a:spLocks noGrp="1"/>
          </p:cNvSpPr>
          <p:nvPr>
            <p:ph type="title"/>
          </p:nvPr>
        </p:nvSpPr>
        <p:spPr>
          <a:xfrm>
            <a:off x="2555776" y="-66607"/>
            <a:ext cx="5410944" cy="1143000"/>
          </a:xfrm>
        </p:spPr>
        <p:txBody>
          <a:bodyPr>
            <a:normAutofit/>
          </a:bodyPr>
          <a:lstStyle/>
          <a:p>
            <a:r>
              <a:rPr lang="es-ES" sz="3200" dirty="0">
                <a:solidFill>
                  <a:schemeClr val="bg1"/>
                </a:solidFill>
              </a:rPr>
              <a:t>Sistemas Realizados en e</a:t>
            </a:r>
            <a:r>
              <a:rPr lang="en-US" sz="3200" dirty="0">
                <a:solidFill>
                  <a:schemeClr val="bg1"/>
                </a:solidFill>
              </a:rPr>
              <a:t>l </a:t>
            </a:r>
            <a:r>
              <a:rPr lang="es-US" sz="3200" dirty="0">
                <a:solidFill>
                  <a:schemeClr val="bg1"/>
                </a:solidFill>
              </a:rPr>
              <a:t>Á</a:t>
            </a:r>
            <a:r>
              <a:rPr lang="en-US" sz="3200" dirty="0" err="1">
                <a:solidFill>
                  <a:schemeClr val="bg1"/>
                </a:solidFill>
              </a:rPr>
              <a:t>mbito</a:t>
            </a:r>
            <a:r>
              <a:rPr lang="en-US" sz="3200" dirty="0">
                <a:solidFill>
                  <a:schemeClr val="bg1"/>
                </a:solidFill>
              </a:rPr>
              <a:t> Internacional</a:t>
            </a:r>
            <a:endParaRPr lang="es-ES" sz="3200" dirty="0">
              <a:solidFill>
                <a:schemeClr val="bg1"/>
              </a:solidFill>
            </a:endParaRPr>
          </a:p>
        </p:txBody>
      </p:sp>
      <p:pic>
        <p:nvPicPr>
          <p:cNvPr id="6" name="Imagen 5">
            <a:extLst>
              <a:ext uri="{FF2B5EF4-FFF2-40B4-BE49-F238E27FC236}">
                <a16:creationId xmlns:a16="http://schemas.microsoft.com/office/drawing/2014/main" id="{4DC724FD-7FD7-2174-DF06-B78CA3B0AC9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a:extLst>
              <a:ext uri="{FF2B5EF4-FFF2-40B4-BE49-F238E27FC236}">
                <a16:creationId xmlns:a16="http://schemas.microsoft.com/office/drawing/2014/main" id="{6DF02FEB-01C8-9861-DFFD-7D178651D862}"/>
              </a:ext>
            </a:extLst>
          </p:cNvPr>
          <p:cNvSpPr>
            <a:spLocks noGrp="1"/>
          </p:cNvSpPr>
          <p:nvPr>
            <p:ph type="sldNum" sz="quarter" idx="12"/>
          </p:nvPr>
        </p:nvSpPr>
        <p:spPr/>
        <p:txBody>
          <a:bodyPr/>
          <a:lstStyle/>
          <a:p>
            <a:fld id="{132FADFE-3B8F-471C-ABF0-DBC7717ECBBC}" type="slidenum">
              <a:rPr lang="es-ES" smtClean="0"/>
              <a:t>4</a:t>
            </a:fld>
            <a:endParaRPr lang="es-ES"/>
          </a:p>
        </p:txBody>
      </p:sp>
      <p:pic>
        <p:nvPicPr>
          <p:cNvPr id="10" name="Imagen 9">
            <a:extLst>
              <a:ext uri="{FF2B5EF4-FFF2-40B4-BE49-F238E27FC236}">
                <a16:creationId xmlns:a16="http://schemas.microsoft.com/office/drawing/2014/main" id="{561E9C89-42C6-6A18-D48F-338B329BB3B8}"/>
              </a:ext>
            </a:extLst>
          </p:cNvPr>
          <p:cNvPicPr>
            <a:picLocks noChangeAspect="1"/>
          </p:cNvPicPr>
          <p:nvPr/>
        </p:nvPicPr>
        <p:blipFill>
          <a:blip r:embed="rId4"/>
          <a:stretch>
            <a:fillRect/>
          </a:stretch>
        </p:blipFill>
        <p:spPr>
          <a:xfrm>
            <a:off x="133696" y="188639"/>
            <a:ext cx="2638104" cy="3243571"/>
          </a:xfrm>
          <a:prstGeom prst="rect">
            <a:avLst/>
          </a:prstGeom>
        </p:spPr>
      </p:pic>
      <p:pic>
        <p:nvPicPr>
          <p:cNvPr id="13" name="Imagen 12">
            <a:extLst>
              <a:ext uri="{FF2B5EF4-FFF2-40B4-BE49-F238E27FC236}">
                <a16:creationId xmlns:a16="http://schemas.microsoft.com/office/drawing/2014/main" id="{811E19D9-3B65-5F18-3B7F-E8A779896A43}"/>
              </a:ext>
            </a:extLst>
          </p:cNvPr>
          <p:cNvPicPr>
            <a:picLocks noChangeAspect="1"/>
          </p:cNvPicPr>
          <p:nvPr/>
        </p:nvPicPr>
        <p:blipFill>
          <a:blip r:embed="rId5"/>
          <a:stretch>
            <a:fillRect/>
          </a:stretch>
        </p:blipFill>
        <p:spPr>
          <a:xfrm>
            <a:off x="3203848" y="3429000"/>
            <a:ext cx="2422080" cy="2410091"/>
          </a:xfrm>
          <a:prstGeom prst="rect">
            <a:avLst/>
          </a:prstGeom>
        </p:spPr>
      </p:pic>
      <p:pic>
        <p:nvPicPr>
          <p:cNvPr id="15" name="Imagen 14">
            <a:extLst>
              <a:ext uri="{FF2B5EF4-FFF2-40B4-BE49-F238E27FC236}">
                <a16:creationId xmlns:a16="http://schemas.microsoft.com/office/drawing/2014/main" id="{F341D6F4-4141-98F7-51DE-1B4AAD420D41}"/>
              </a:ext>
            </a:extLst>
          </p:cNvPr>
          <p:cNvPicPr>
            <a:picLocks noChangeAspect="1"/>
          </p:cNvPicPr>
          <p:nvPr/>
        </p:nvPicPr>
        <p:blipFill>
          <a:blip r:embed="rId6"/>
          <a:stretch>
            <a:fillRect/>
          </a:stretch>
        </p:blipFill>
        <p:spPr>
          <a:xfrm>
            <a:off x="6642551" y="1249785"/>
            <a:ext cx="2133599" cy="2142134"/>
          </a:xfrm>
          <a:prstGeom prst="rect">
            <a:avLst/>
          </a:prstGeom>
        </p:spPr>
      </p:pic>
      <p:sp>
        <p:nvSpPr>
          <p:cNvPr id="17" name="CuadroTexto 16">
            <a:extLst>
              <a:ext uri="{FF2B5EF4-FFF2-40B4-BE49-F238E27FC236}">
                <a16:creationId xmlns:a16="http://schemas.microsoft.com/office/drawing/2014/main" id="{13D2FBAA-E2C1-B422-711A-AED7EFF8856B}"/>
              </a:ext>
            </a:extLst>
          </p:cNvPr>
          <p:cNvSpPr txBox="1"/>
          <p:nvPr/>
        </p:nvSpPr>
        <p:spPr>
          <a:xfrm>
            <a:off x="349720" y="3717032"/>
            <a:ext cx="2422080" cy="369332"/>
          </a:xfrm>
          <a:prstGeom prst="rect">
            <a:avLst/>
          </a:prstGeom>
          <a:noFill/>
        </p:spPr>
        <p:txBody>
          <a:bodyPr wrap="square">
            <a:spAutoFit/>
          </a:bodyPr>
          <a:lstStyle/>
          <a:p>
            <a:r>
              <a:rPr lang="es-CU" sz="1800" dirty="0">
                <a:solidFill>
                  <a:srgbClr val="000000"/>
                </a:solidFill>
                <a:effectLst/>
                <a:latin typeface="Arial" panose="020B0604020202020204" pitchFamily="34" charset="0"/>
                <a:ea typeface="Arial" panose="020B0604020202020204" pitchFamily="34" charset="0"/>
              </a:rPr>
              <a:t>Delft3D</a:t>
            </a:r>
            <a:endParaRPr lang="en-US" dirty="0"/>
          </a:p>
        </p:txBody>
      </p:sp>
      <p:sp>
        <p:nvSpPr>
          <p:cNvPr id="19" name="CuadroTexto 18">
            <a:extLst>
              <a:ext uri="{FF2B5EF4-FFF2-40B4-BE49-F238E27FC236}">
                <a16:creationId xmlns:a16="http://schemas.microsoft.com/office/drawing/2014/main" id="{BB1DFF84-5905-0262-8E28-27F4ED76E81D}"/>
              </a:ext>
            </a:extLst>
          </p:cNvPr>
          <p:cNvSpPr txBox="1"/>
          <p:nvPr/>
        </p:nvSpPr>
        <p:spPr>
          <a:xfrm>
            <a:off x="3203848" y="5986090"/>
            <a:ext cx="1740024" cy="369332"/>
          </a:xfrm>
          <a:prstGeom prst="rect">
            <a:avLst/>
          </a:prstGeom>
          <a:noFill/>
        </p:spPr>
        <p:txBody>
          <a:bodyPr wrap="square">
            <a:spAutoFit/>
          </a:bodyPr>
          <a:lstStyle/>
          <a:p>
            <a:r>
              <a:rPr lang="es-CU" sz="1800" dirty="0">
                <a:solidFill>
                  <a:srgbClr val="000000"/>
                </a:solidFill>
                <a:effectLst/>
                <a:latin typeface="Arial" panose="020B0604020202020204" pitchFamily="34" charset="0"/>
                <a:ea typeface="Arial" panose="020B0604020202020204" pitchFamily="34" charset="0"/>
              </a:rPr>
              <a:t>Mike 21 </a:t>
            </a:r>
            <a:endParaRPr lang="en-US" dirty="0"/>
          </a:p>
        </p:txBody>
      </p:sp>
      <p:sp>
        <p:nvSpPr>
          <p:cNvPr id="21" name="CuadroTexto 20">
            <a:extLst>
              <a:ext uri="{FF2B5EF4-FFF2-40B4-BE49-F238E27FC236}">
                <a16:creationId xmlns:a16="http://schemas.microsoft.com/office/drawing/2014/main" id="{D8AB46FF-72BD-C2B7-5F7B-DC6B7D7FF960}"/>
              </a:ext>
            </a:extLst>
          </p:cNvPr>
          <p:cNvSpPr txBox="1"/>
          <p:nvPr/>
        </p:nvSpPr>
        <p:spPr>
          <a:xfrm>
            <a:off x="6642655" y="3472938"/>
            <a:ext cx="1889785" cy="369332"/>
          </a:xfrm>
          <a:prstGeom prst="rect">
            <a:avLst/>
          </a:prstGeom>
          <a:noFill/>
        </p:spPr>
        <p:txBody>
          <a:bodyPr wrap="square">
            <a:spAutoFit/>
          </a:bodyPr>
          <a:lstStyle/>
          <a:p>
            <a:r>
              <a:rPr lang="es-CU" sz="1800" dirty="0" err="1">
                <a:effectLst/>
                <a:latin typeface="Arial" panose="020B0604020202020204" pitchFamily="34" charset="0"/>
                <a:ea typeface="Arial" panose="020B0604020202020204" pitchFamily="34" charset="0"/>
              </a:rPr>
              <a:t>XBeach</a:t>
            </a:r>
            <a:endParaRPr lang="en-US" dirty="0"/>
          </a:p>
        </p:txBody>
      </p:sp>
    </p:spTree>
    <p:extLst>
      <p:ext uri="{BB962C8B-B14F-4D97-AF65-F5344CB8AC3E}">
        <p14:creationId xmlns:p14="http://schemas.microsoft.com/office/powerpoint/2010/main" val="4783995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2ABF1-F44E-FF9F-D62C-AC8BF16DAC32}"/>
            </a:ext>
          </a:extLst>
        </p:cNvPr>
        <p:cNvGrpSpPr/>
        <p:nvPr/>
      </p:nvGrpSpPr>
      <p:grpSpPr>
        <a:xfrm>
          <a:off x="0" y="0"/>
          <a:ext cx="0" cy="0"/>
          <a:chOff x="0" y="0"/>
          <a:chExt cx="0" cy="0"/>
        </a:xfrm>
      </p:grpSpPr>
      <p:pic>
        <p:nvPicPr>
          <p:cNvPr id="2051" name="Picture 3">
            <a:extLst>
              <a:ext uri="{FF2B5EF4-FFF2-40B4-BE49-F238E27FC236}">
                <a16:creationId xmlns:a16="http://schemas.microsoft.com/office/drawing/2014/main" id="{E729186B-A6FC-7551-0773-D586BD2DB2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a:extLst>
              <a:ext uri="{FF2B5EF4-FFF2-40B4-BE49-F238E27FC236}">
                <a16:creationId xmlns:a16="http://schemas.microsoft.com/office/drawing/2014/main" id="{EC620822-7274-7FC9-BFE4-4892A97A05E0}"/>
              </a:ext>
            </a:extLst>
          </p:cNvPr>
          <p:cNvSpPr>
            <a:spLocks noGrp="1"/>
          </p:cNvSpPr>
          <p:nvPr>
            <p:ph type="title"/>
          </p:nvPr>
        </p:nvSpPr>
        <p:spPr>
          <a:xfrm>
            <a:off x="2555776" y="-66607"/>
            <a:ext cx="5410944" cy="1143000"/>
          </a:xfrm>
        </p:spPr>
        <p:txBody>
          <a:bodyPr>
            <a:normAutofit/>
          </a:bodyPr>
          <a:lstStyle/>
          <a:p>
            <a:r>
              <a:rPr lang="es-ES" sz="3200" dirty="0">
                <a:solidFill>
                  <a:schemeClr val="bg1"/>
                </a:solidFill>
              </a:rPr>
              <a:t>Sistemas Realizados en e</a:t>
            </a:r>
            <a:r>
              <a:rPr lang="en-US" sz="3200" dirty="0">
                <a:solidFill>
                  <a:schemeClr val="bg1"/>
                </a:solidFill>
              </a:rPr>
              <a:t>l </a:t>
            </a:r>
            <a:r>
              <a:rPr lang="es-US" sz="3200" dirty="0">
                <a:solidFill>
                  <a:schemeClr val="bg1"/>
                </a:solidFill>
              </a:rPr>
              <a:t>Á</a:t>
            </a:r>
            <a:r>
              <a:rPr lang="en-US" sz="3200" dirty="0" err="1">
                <a:solidFill>
                  <a:schemeClr val="bg1"/>
                </a:solidFill>
              </a:rPr>
              <a:t>mbito</a:t>
            </a:r>
            <a:r>
              <a:rPr lang="en-US" sz="3200" dirty="0">
                <a:solidFill>
                  <a:schemeClr val="bg1"/>
                </a:solidFill>
              </a:rPr>
              <a:t> Nacional</a:t>
            </a:r>
            <a:endParaRPr lang="es-ES" sz="3200" dirty="0">
              <a:solidFill>
                <a:schemeClr val="bg1"/>
              </a:solidFill>
            </a:endParaRPr>
          </a:p>
        </p:txBody>
      </p:sp>
      <p:pic>
        <p:nvPicPr>
          <p:cNvPr id="6" name="Imagen 5">
            <a:extLst>
              <a:ext uri="{FF2B5EF4-FFF2-40B4-BE49-F238E27FC236}">
                <a16:creationId xmlns:a16="http://schemas.microsoft.com/office/drawing/2014/main" id="{B7E8AD3D-D241-FAFE-3CBD-4071847037C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a:extLst>
              <a:ext uri="{FF2B5EF4-FFF2-40B4-BE49-F238E27FC236}">
                <a16:creationId xmlns:a16="http://schemas.microsoft.com/office/drawing/2014/main" id="{8B11C340-1178-B35F-2B8D-E91489CE4B62}"/>
              </a:ext>
            </a:extLst>
          </p:cNvPr>
          <p:cNvSpPr>
            <a:spLocks noGrp="1"/>
          </p:cNvSpPr>
          <p:nvPr>
            <p:ph type="sldNum" sz="quarter" idx="12"/>
          </p:nvPr>
        </p:nvSpPr>
        <p:spPr/>
        <p:txBody>
          <a:bodyPr/>
          <a:lstStyle/>
          <a:p>
            <a:fld id="{132FADFE-3B8F-471C-ABF0-DBC7717ECBBC}" type="slidenum">
              <a:rPr lang="es-ES" smtClean="0"/>
              <a:t>5</a:t>
            </a:fld>
            <a:endParaRPr lang="es-ES" dirty="0"/>
          </a:p>
        </p:txBody>
      </p:sp>
      <p:sp>
        <p:nvSpPr>
          <p:cNvPr id="5" name="CuadroTexto 4">
            <a:extLst>
              <a:ext uri="{FF2B5EF4-FFF2-40B4-BE49-F238E27FC236}">
                <a16:creationId xmlns:a16="http://schemas.microsoft.com/office/drawing/2014/main" id="{4E898C51-C60D-7825-74BB-9DDBE0BE36EB}"/>
              </a:ext>
            </a:extLst>
          </p:cNvPr>
          <p:cNvSpPr txBox="1"/>
          <p:nvPr/>
        </p:nvSpPr>
        <p:spPr>
          <a:xfrm>
            <a:off x="179512" y="1340768"/>
            <a:ext cx="8507288" cy="4882812"/>
          </a:xfrm>
          <a:prstGeom prst="rect">
            <a:avLst/>
          </a:prstGeom>
          <a:noFill/>
        </p:spPr>
        <p:txBody>
          <a:bodyPr wrap="square">
            <a:spAutoFit/>
          </a:bodyPr>
          <a:lstStyle/>
          <a:p>
            <a:pPr algn="just">
              <a:lnSpc>
                <a:spcPct val="150000"/>
              </a:lnSpc>
              <a:buNone/>
            </a:pPr>
            <a:r>
              <a:rPr lang="es-ES" sz="2000" dirty="0">
                <a:solidFill>
                  <a:srgbClr val="000000"/>
                </a:solidFill>
                <a:effectLst/>
                <a:latin typeface="Arial" panose="020B0604020202020204" pitchFamily="34" charset="0"/>
                <a:ea typeface="Times New Roman" panose="02020603050405020304" pitchFamily="18" charset="0"/>
              </a:rPr>
              <a:t>En Cuba, se han realizado varios estudios para el cálculo de sedimentos costeros utilizando modelos y software internacionales. Entre los más relevantes se encuentran:</a:t>
            </a:r>
            <a:endParaRPr lang="en-US" sz="2000" dirty="0">
              <a:effectLst/>
              <a:latin typeface="Times New Roman" panose="02020603050405020304" pitchFamily="18" charset="0"/>
              <a:ea typeface="Times New Roman" panose="02020603050405020304" pitchFamily="18" charset="0"/>
            </a:endParaRPr>
          </a:p>
          <a:p>
            <a:pPr marL="342900" lvl="0" indent="-342900" algn="just">
              <a:lnSpc>
                <a:spcPct val="150000"/>
              </a:lnSpc>
              <a:spcAft>
                <a:spcPts val="635"/>
              </a:spcAft>
              <a:buSzPts val="1000"/>
              <a:buFont typeface="Symbol" panose="05050102010706020507" pitchFamily="18" charset="2"/>
              <a:buChar char=""/>
              <a:tabLst>
                <a:tab pos="457200" algn="l"/>
              </a:tabLst>
            </a:pPr>
            <a:r>
              <a:rPr lang="es-CU" sz="2000" b="1" dirty="0">
                <a:solidFill>
                  <a:srgbClr val="000000"/>
                </a:solidFill>
                <a:effectLst/>
                <a:latin typeface="Arial" panose="020B0604020202020204" pitchFamily="34" charset="0"/>
                <a:ea typeface="Arial" panose="020B0604020202020204" pitchFamily="34" charset="0"/>
              </a:rPr>
              <a:t>LITPAK</a:t>
            </a:r>
            <a:r>
              <a:rPr lang="es-CU" sz="2000" dirty="0">
                <a:solidFill>
                  <a:srgbClr val="000000"/>
                </a:solidFill>
                <a:effectLst/>
                <a:latin typeface="Arial" panose="020B0604020202020204" pitchFamily="34" charset="0"/>
                <a:ea typeface="Arial" panose="020B0604020202020204" pitchFamily="34" charset="0"/>
              </a:rPr>
              <a:t> </a:t>
            </a:r>
            <a:endParaRPr lang="en-US" sz="2000" dirty="0">
              <a:solidFill>
                <a:srgbClr val="000000"/>
              </a:solidFill>
              <a:effectLst/>
              <a:latin typeface="Arial" panose="020B0604020202020204" pitchFamily="34" charset="0"/>
              <a:ea typeface="Arial" panose="020B0604020202020204" pitchFamily="34" charset="0"/>
            </a:endParaRPr>
          </a:p>
          <a:p>
            <a:pPr marL="342900" lvl="0" indent="-342900" algn="just">
              <a:lnSpc>
                <a:spcPct val="150000"/>
              </a:lnSpc>
              <a:spcAft>
                <a:spcPts val="635"/>
              </a:spcAft>
              <a:buSzPts val="1000"/>
              <a:buFont typeface="Symbol" panose="05050102010706020507" pitchFamily="18" charset="2"/>
              <a:buChar char=""/>
              <a:tabLst>
                <a:tab pos="457200" algn="l"/>
              </a:tabLst>
            </a:pPr>
            <a:r>
              <a:rPr lang="es-CU" sz="2000" b="1" dirty="0">
                <a:solidFill>
                  <a:srgbClr val="000000"/>
                </a:solidFill>
                <a:effectLst/>
                <a:latin typeface="Arial" panose="020B0604020202020204" pitchFamily="34" charset="0"/>
                <a:ea typeface="Arial" panose="020B0604020202020204" pitchFamily="34" charset="0"/>
              </a:rPr>
              <a:t>Sistema de Modelado Costero (SMC)</a:t>
            </a:r>
            <a:r>
              <a:rPr lang="es-CU" sz="2000" dirty="0">
                <a:solidFill>
                  <a:srgbClr val="000000"/>
                </a:solidFill>
                <a:effectLst/>
                <a:latin typeface="Arial" panose="020B0604020202020204" pitchFamily="34" charset="0"/>
                <a:ea typeface="Arial" panose="020B0604020202020204" pitchFamily="34" charset="0"/>
              </a:rPr>
              <a:t>, aplicado a un tramo crítico en la playa Varadero </a:t>
            </a:r>
            <a:endParaRPr lang="en-US" sz="2000" dirty="0">
              <a:solidFill>
                <a:srgbClr val="000000"/>
              </a:solidFill>
              <a:effectLst/>
              <a:latin typeface="Arial" panose="020B0604020202020204" pitchFamily="34" charset="0"/>
              <a:ea typeface="Arial" panose="020B0604020202020204" pitchFamily="34" charset="0"/>
            </a:endParaRPr>
          </a:p>
          <a:p>
            <a:pPr marL="342900" lvl="0" indent="-342900" algn="just">
              <a:lnSpc>
                <a:spcPct val="150000"/>
              </a:lnSpc>
              <a:spcAft>
                <a:spcPts val="635"/>
              </a:spcAft>
              <a:buSzPts val="1000"/>
              <a:buFont typeface="Symbol" panose="05050102010706020507" pitchFamily="18" charset="2"/>
              <a:buChar char=""/>
              <a:tabLst>
                <a:tab pos="457200" algn="l"/>
              </a:tabLst>
            </a:pPr>
            <a:r>
              <a:rPr lang="es-CU" sz="2000" b="1" dirty="0">
                <a:solidFill>
                  <a:srgbClr val="000000"/>
                </a:solidFill>
                <a:effectLst/>
                <a:latin typeface="Arial" panose="020B0604020202020204" pitchFamily="34" charset="0"/>
                <a:ea typeface="Arial" panose="020B0604020202020204" pitchFamily="34" charset="0"/>
              </a:rPr>
              <a:t>UNIBEST</a:t>
            </a:r>
            <a:r>
              <a:rPr lang="es-CU" sz="2000" dirty="0">
                <a:solidFill>
                  <a:srgbClr val="000000"/>
                </a:solidFill>
                <a:effectLst/>
                <a:latin typeface="Arial" panose="020B0604020202020204" pitchFamily="34" charset="0"/>
                <a:ea typeface="Arial" panose="020B0604020202020204" pitchFamily="34" charset="0"/>
              </a:rPr>
              <a:t>, empleado en el estudio de la península de Hicacos, Matanzas, para comparar los resultados obtenidos con los modelos CERC, </a:t>
            </a:r>
            <a:r>
              <a:rPr lang="es-CU" sz="2000" dirty="0" err="1">
                <a:solidFill>
                  <a:srgbClr val="000000"/>
                </a:solidFill>
                <a:effectLst/>
                <a:latin typeface="Arial" panose="020B0604020202020204" pitchFamily="34" charset="0"/>
                <a:ea typeface="Arial" panose="020B0604020202020204" pitchFamily="34" charset="0"/>
              </a:rPr>
              <a:t>Kamphuis</a:t>
            </a:r>
            <a:r>
              <a:rPr lang="es-CU" sz="2000" dirty="0">
                <a:solidFill>
                  <a:srgbClr val="000000"/>
                </a:solidFill>
                <a:effectLst/>
                <a:latin typeface="Arial" panose="020B0604020202020204" pitchFamily="34" charset="0"/>
                <a:ea typeface="Arial" panose="020B0604020202020204" pitchFamily="34" charset="0"/>
              </a:rPr>
              <a:t> y </a:t>
            </a:r>
            <a:r>
              <a:rPr lang="es-CU" sz="2000" dirty="0" err="1">
                <a:solidFill>
                  <a:srgbClr val="000000"/>
                </a:solidFill>
                <a:effectLst/>
                <a:latin typeface="Arial" panose="020B0604020202020204" pitchFamily="34" charset="0"/>
                <a:ea typeface="Arial" panose="020B0604020202020204" pitchFamily="34" charset="0"/>
              </a:rPr>
              <a:t>Bijker</a:t>
            </a:r>
            <a:r>
              <a:rPr lang="es-CU" sz="2000" dirty="0">
                <a:solidFill>
                  <a:srgbClr val="000000"/>
                </a:solidFill>
                <a:effectLst/>
                <a:latin typeface="Arial" panose="020B0604020202020204" pitchFamily="34" charset="0"/>
                <a:ea typeface="Arial" panose="020B0604020202020204" pitchFamily="34" charset="0"/>
              </a:rPr>
              <a:t> </a:t>
            </a:r>
            <a:endParaRPr lang="en-US" sz="2000" dirty="0">
              <a:solidFill>
                <a:srgbClr val="000000"/>
              </a:solidFill>
              <a:effectLst/>
              <a:latin typeface="Arial" panose="020B0604020202020204" pitchFamily="34" charset="0"/>
              <a:ea typeface="Arial" panose="020B0604020202020204" pitchFamily="34" charset="0"/>
            </a:endParaRPr>
          </a:p>
          <a:p>
            <a:pPr marL="342900" lvl="0" indent="-342900" algn="just">
              <a:lnSpc>
                <a:spcPct val="150000"/>
              </a:lnSpc>
              <a:spcAft>
                <a:spcPts val="635"/>
              </a:spcAft>
              <a:buSzPts val="1000"/>
              <a:buFont typeface="Symbol" panose="05050102010706020507" pitchFamily="18" charset="2"/>
              <a:buChar char=""/>
              <a:tabLst>
                <a:tab pos="457200" algn="l"/>
              </a:tabLst>
            </a:pPr>
            <a:r>
              <a:rPr lang="es-CU" sz="2000" dirty="0">
                <a:solidFill>
                  <a:srgbClr val="000000"/>
                </a:solidFill>
                <a:effectLst/>
                <a:latin typeface="Arial" panose="020B0604020202020204" pitchFamily="34" charset="0"/>
                <a:ea typeface="Arial" panose="020B0604020202020204" pitchFamily="34" charset="0"/>
              </a:rPr>
              <a:t>En algunos estudios, no se utilizó ningún software específico.</a:t>
            </a:r>
            <a:endParaRPr lang="en-US" sz="2000" dirty="0">
              <a:solidFill>
                <a:srgbClr val="000000"/>
              </a:solidFill>
              <a:effectLst/>
              <a:latin typeface="Arial" panose="020B0604020202020204" pitchFamily="34" charset="0"/>
              <a:ea typeface="Arial" panose="020B0604020202020204" pitchFamily="34" charset="0"/>
            </a:endParaRPr>
          </a:p>
        </p:txBody>
      </p:sp>
    </p:spTree>
    <p:extLst>
      <p:ext uri="{BB962C8B-B14F-4D97-AF65-F5344CB8AC3E}">
        <p14:creationId xmlns:p14="http://schemas.microsoft.com/office/powerpoint/2010/main" val="30927363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dirty="0">
                <a:solidFill>
                  <a:schemeClr val="bg1"/>
                </a:solidFill>
              </a:rPr>
              <a:t>Objetivo General</a:t>
            </a:r>
          </a:p>
        </p:txBody>
      </p:sp>
      <p:sp>
        <p:nvSpPr>
          <p:cNvPr id="3" name="2 Marcador de contenido"/>
          <p:cNvSpPr>
            <a:spLocks noGrp="1"/>
          </p:cNvSpPr>
          <p:nvPr>
            <p:ph idx="1"/>
          </p:nvPr>
        </p:nvSpPr>
        <p:spPr>
          <a:xfrm>
            <a:off x="4324642" y="1783166"/>
            <a:ext cx="4824536" cy="4525963"/>
          </a:xfrm>
        </p:spPr>
        <p:txBody>
          <a:bodyPr>
            <a:normAutofit/>
          </a:bodyPr>
          <a:lstStyle/>
          <a:p>
            <a:pPr algn="just"/>
            <a:r>
              <a:rPr lang="es-ES" sz="2400" dirty="0">
                <a:solidFill>
                  <a:srgbClr val="000000"/>
                </a:solidFill>
                <a:effectLst/>
                <a:latin typeface="Arial" panose="020B0604020202020204" pitchFamily="34" charset="0"/>
                <a:ea typeface="Times New Roman" panose="02020603050405020304" pitchFamily="18" charset="0"/>
              </a:rPr>
              <a:t>Desarrollar un sistema informático para la gestión de la información que permita calcular, editar y almacenar los datos para el cálculo del transporte de sedimentos en la región sur-oriental</a:t>
            </a:r>
            <a:r>
              <a:rPr lang="es-ES" sz="1600" dirty="0">
                <a:solidFill>
                  <a:srgbClr val="000000"/>
                </a:solidFill>
                <a:effectLst/>
                <a:latin typeface="Arial" panose="020B0604020202020204" pitchFamily="34" charset="0"/>
                <a:ea typeface="Times New Roman" panose="02020603050405020304" pitchFamily="18" charset="0"/>
              </a:rPr>
              <a:t>.</a:t>
            </a:r>
            <a:r>
              <a:rPr lang="es-ES" sz="1600" dirty="0">
                <a:solidFill>
                  <a:srgbClr val="000000"/>
                </a:solidFill>
                <a:effectLst/>
                <a:latin typeface="Arial" panose="020B0604020202020204" pitchFamily="34" charset="0"/>
                <a:ea typeface="Calibri" panose="020F0502020204030204" pitchFamily="34" charset="0"/>
              </a:rPr>
              <a:t> </a:t>
            </a:r>
            <a:endParaRPr lang="es-CU" sz="1600" dirty="0">
              <a:effectLst/>
              <a:latin typeface="Times New Roman" panose="02020603050405020304" pitchFamily="18" charset="0"/>
              <a:ea typeface="Times New Roman" panose="02020603050405020304" pitchFamily="18" charset="0"/>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6</a:t>
            </a:fld>
            <a:endParaRPr lang="es-ES"/>
          </a:p>
        </p:txBody>
      </p:sp>
      <p:pic>
        <p:nvPicPr>
          <p:cNvPr id="7" name="Imagen 6">
            <a:extLst>
              <a:ext uri="{FF2B5EF4-FFF2-40B4-BE49-F238E27FC236}">
                <a16:creationId xmlns:a16="http://schemas.microsoft.com/office/drawing/2014/main" id="{39D9C966-5728-4CDE-95FE-3BFF476F1CE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616" y="1829257"/>
            <a:ext cx="4311737" cy="3502262"/>
          </a:xfrm>
          <a:prstGeom prst="rect">
            <a:avLst/>
          </a:prstGeom>
        </p:spPr>
      </p:pic>
    </p:spTree>
    <p:extLst>
      <p:ext uri="{BB962C8B-B14F-4D97-AF65-F5344CB8AC3E}">
        <p14:creationId xmlns:p14="http://schemas.microsoft.com/office/powerpoint/2010/main" val="6747246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2ECD4-1906-9069-27B7-4BDB0F087DE3}"/>
            </a:ext>
          </a:extLst>
        </p:cNvPr>
        <p:cNvGrpSpPr/>
        <p:nvPr/>
      </p:nvGrpSpPr>
      <p:grpSpPr>
        <a:xfrm>
          <a:off x="0" y="0"/>
          <a:ext cx="0" cy="0"/>
          <a:chOff x="0" y="0"/>
          <a:chExt cx="0" cy="0"/>
        </a:xfrm>
      </p:grpSpPr>
      <p:pic>
        <p:nvPicPr>
          <p:cNvPr id="2051" name="Picture 3">
            <a:extLst>
              <a:ext uri="{FF2B5EF4-FFF2-40B4-BE49-F238E27FC236}">
                <a16:creationId xmlns:a16="http://schemas.microsoft.com/office/drawing/2014/main" id="{B18DE55D-56CA-143B-6644-4A1343117A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a:extLst>
              <a:ext uri="{FF2B5EF4-FFF2-40B4-BE49-F238E27FC236}">
                <a16:creationId xmlns:a16="http://schemas.microsoft.com/office/drawing/2014/main" id="{E5FAA24C-453D-EB01-060D-9F36BC14CCEA}"/>
              </a:ext>
            </a:extLst>
          </p:cNvPr>
          <p:cNvSpPr>
            <a:spLocks noGrp="1"/>
          </p:cNvSpPr>
          <p:nvPr>
            <p:ph type="title"/>
          </p:nvPr>
        </p:nvSpPr>
        <p:spPr>
          <a:xfrm>
            <a:off x="2555776" y="-66607"/>
            <a:ext cx="5410944" cy="1143000"/>
          </a:xfrm>
        </p:spPr>
        <p:txBody>
          <a:bodyPr>
            <a:normAutofit/>
          </a:bodyPr>
          <a:lstStyle/>
          <a:p>
            <a:r>
              <a:rPr lang="es-ES" sz="3200" dirty="0">
                <a:solidFill>
                  <a:schemeClr val="bg1"/>
                </a:solidFill>
              </a:rPr>
              <a:t>Objetivo Específico</a:t>
            </a:r>
          </a:p>
        </p:txBody>
      </p:sp>
      <p:sp>
        <p:nvSpPr>
          <p:cNvPr id="3" name="2 Marcador de contenido">
            <a:extLst>
              <a:ext uri="{FF2B5EF4-FFF2-40B4-BE49-F238E27FC236}">
                <a16:creationId xmlns:a16="http://schemas.microsoft.com/office/drawing/2014/main" id="{F695FFAF-A747-0256-B4F5-2DFF0E7B017F}"/>
              </a:ext>
            </a:extLst>
          </p:cNvPr>
          <p:cNvSpPr>
            <a:spLocks noGrp="1"/>
          </p:cNvSpPr>
          <p:nvPr>
            <p:ph idx="1"/>
          </p:nvPr>
        </p:nvSpPr>
        <p:spPr>
          <a:xfrm>
            <a:off x="107504" y="1076393"/>
            <a:ext cx="8964996" cy="4776431"/>
          </a:xfrm>
        </p:spPr>
        <p:txBody>
          <a:bodyPr>
            <a:noAutofit/>
          </a:bodyPr>
          <a:lstStyle/>
          <a:p>
            <a:pPr marL="342900" lvl="0" indent="-342900" algn="just">
              <a:lnSpc>
                <a:spcPct val="150000"/>
              </a:lnSpc>
              <a:buFont typeface="Arial" panose="020B0604020202020204" pitchFamily="34" charset="0"/>
              <a:buChar char="-"/>
            </a:pPr>
            <a:r>
              <a:rPr lang="es-ES" sz="2400" dirty="0">
                <a:latin typeface="Arial" panose="020B0604020202020204" pitchFamily="34" charset="0"/>
                <a:cs typeface="Arial" panose="020B0604020202020204" pitchFamily="34" charset="0"/>
              </a:rPr>
              <a:t>Determinar los fundamentos teóricos, conceptuales y metodológicos del cálculo del transporte de sedimentos en las costas cubanas, </a:t>
            </a:r>
          </a:p>
          <a:p>
            <a:pPr marL="342900" lvl="0" indent="-342900" algn="just">
              <a:lnSpc>
                <a:spcPct val="150000"/>
              </a:lnSpc>
              <a:buFont typeface="Arial" panose="020B0604020202020204" pitchFamily="34" charset="0"/>
              <a:buChar char="-"/>
            </a:pPr>
            <a:r>
              <a:rPr lang="es-ES" sz="2400" dirty="0">
                <a:latin typeface="Arial" panose="020B0604020202020204" pitchFamily="34" charset="0"/>
                <a:cs typeface="Arial" panose="020B0604020202020204" pitchFamily="34" charset="0"/>
              </a:rPr>
              <a:t>Desarrollar un sistema informático en la empresa GEOCUBA que gestione eficientemente la documentación relacionada. </a:t>
            </a:r>
          </a:p>
          <a:p>
            <a:pPr marL="342900" lvl="0" indent="-342900" algn="just">
              <a:lnSpc>
                <a:spcPct val="150000"/>
              </a:lnSpc>
              <a:buFont typeface="Arial" panose="020B0604020202020204" pitchFamily="34" charset="0"/>
              <a:buChar char="-"/>
            </a:pPr>
            <a:r>
              <a:rPr lang="es-ES" sz="2400" dirty="0">
                <a:latin typeface="Arial" panose="020B0604020202020204" pitchFamily="34" charset="0"/>
                <a:cs typeface="Arial" panose="020B0604020202020204" pitchFamily="34" charset="0"/>
              </a:rPr>
              <a:t>Diseñar e implementar una base de datos relacional para almacenar dicha información </a:t>
            </a:r>
          </a:p>
          <a:p>
            <a:pPr marL="342900" lvl="0" indent="-342900" algn="just">
              <a:lnSpc>
                <a:spcPct val="150000"/>
              </a:lnSpc>
              <a:buFont typeface="Arial" panose="020B0604020202020204" pitchFamily="34" charset="0"/>
              <a:buChar char="-"/>
            </a:pPr>
            <a:r>
              <a:rPr lang="es-ES" sz="2400" dirty="0">
                <a:latin typeface="Arial" panose="020B0604020202020204" pitchFamily="34" charset="0"/>
                <a:cs typeface="Arial" panose="020B0604020202020204" pitchFamily="34" charset="0"/>
              </a:rPr>
              <a:t>Diseñar e implementar varios servicios web basados en microservicios que faciliten su consulta por sistemas externos.</a:t>
            </a:r>
            <a:endParaRPr lang="es-US" sz="24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endParaRPr>
          </a:p>
        </p:txBody>
      </p:sp>
      <p:pic>
        <p:nvPicPr>
          <p:cNvPr id="6" name="Imagen 5">
            <a:extLst>
              <a:ext uri="{FF2B5EF4-FFF2-40B4-BE49-F238E27FC236}">
                <a16:creationId xmlns:a16="http://schemas.microsoft.com/office/drawing/2014/main" id="{C81B2CF6-AE86-D74B-9B2D-1D2AC76DDA6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a:extLst>
              <a:ext uri="{FF2B5EF4-FFF2-40B4-BE49-F238E27FC236}">
                <a16:creationId xmlns:a16="http://schemas.microsoft.com/office/drawing/2014/main" id="{33E26171-2748-FAC1-2063-F6F2B71DB7B1}"/>
              </a:ext>
            </a:extLst>
          </p:cNvPr>
          <p:cNvSpPr>
            <a:spLocks noGrp="1"/>
          </p:cNvSpPr>
          <p:nvPr>
            <p:ph type="sldNum" sz="quarter" idx="12"/>
          </p:nvPr>
        </p:nvSpPr>
        <p:spPr/>
        <p:txBody>
          <a:bodyPr/>
          <a:lstStyle/>
          <a:p>
            <a:fld id="{132FADFE-3B8F-471C-ABF0-DBC7717ECBBC}" type="slidenum">
              <a:rPr lang="es-ES" smtClean="0"/>
              <a:t>7</a:t>
            </a:fld>
            <a:endParaRPr lang="es-ES"/>
          </a:p>
        </p:txBody>
      </p:sp>
    </p:spTree>
    <p:extLst>
      <p:ext uri="{BB962C8B-B14F-4D97-AF65-F5344CB8AC3E}">
        <p14:creationId xmlns:p14="http://schemas.microsoft.com/office/powerpoint/2010/main" val="4256551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dirty="0">
                <a:solidFill>
                  <a:schemeClr val="bg1"/>
                </a:solidFill>
              </a:rPr>
              <a:t>Objeto de Estudio</a:t>
            </a:r>
          </a:p>
        </p:txBody>
      </p:sp>
      <p:sp>
        <p:nvSpPr>
          <p:cNvPr id="3" name="2 Marcador de contenido"/>
          <p:cNvSpPr>
            <a:spLocks noGrp="1"/>
          </p:cNvSpPr>
          <p:nvPr>
            <p:ph idx="1"/>
          </p:nvPr>
        </p:nvSpPr>
        <p:spPr>
          <a:xfrm>
            <a:off x="4324642" y="1783166"/>
            <a:ext cx="4824536" cy="4525963"/>
          </a:xfrm>
        </p:spPr>
        <p:txBody>
          <a:bodyPr>
            <a:normAutofit/>
          </a:bodyPr>
          <a:lstStyle/>
          <a:p>
            <a:pPr algn="just"/>
            <a:r>
              <a:rPr lang="es-ES" sz="2400" dirty="0">
                <a:solidFill>
                  <a:srgbClr val="000000"/>
                </a:solidFill>
                <a:latin typeface="Arial" panose="020B0604020202020204" pitchFamily="34" charset="0"/>
                <a:ea typeface="Times New Roman" panose="02020603050405020304" pitchFamily="18" charset="0"/>
              </a:rPr>
              <a:t>E</a:t>
            </a:r>
            <a:r>
              <a:rPr lang="es-ES" sz="2400" dirty="0">
                <a:solidFill>
                  <a:srgbClr val="000000"/>
                </a:solidFill>
                <a:effectLst/>
                <a:latin typeface="Arial" panose="020B0604020202020204" pitchFamily="34" charset="0"/>
                <a:ea typeface="Times New Roman" panose="02020603050405020304" pitchFamily="18" charset="0"/>
              </a:rPr>
              <a:t>l proceso de gestión de la información referente al cálculo del transporte de sedimentos en las costas cubanas.</a:t>
            </a:r>
            <a:endParaRPr lang="es-CU" sz="1600" dirty="0">
              <a:effectLst/>
              <a:latin typeface="Times New Roman" panose="02020603050405020304" pitchFamily="18" charset="0"/>
              <a:ea typeface="Times New Roman" panose="02020603050405020304" pitchFamily="18" charset="0"/>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8</a:t>
            </a:fld>
            <a:endParaRPr lang="es-ES"/>
          </a:p>
        </p:txBody>
      </p:sp>
      <p:pic>
        <p:nvPicPr>
          <p:cNvPr id="7" name="Imagen 6">
            <a:extLst>
              <a:ext uri="{FF2B5EF4-FFF2-40B4-BE49-F238E27FC236}">
                <a16:creationId xmlns:a16="http://schemas.microsoft.com/office/drawing/2014/main" id="{39D9C966-5728-4CDE-95FE-3BFF476F1CE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616" y="1829257"/>
            <a:ext cx="4311737" cy="3502262"/>
          </a:xfrm>
          <a:prstGeom prst="rect">
            <a:avLst/>
          </a:prstGeom>
        </p:spPr>
      </p:pic>
    </p:spTree>
    <p:extLst>
      <p:ext uri="{BB962C8B-B14F-4D97-AF65-F5344CB8AC3E}">
        <p14:creationId xmlns:p14="http://schemas.microsoft.com/office/powerpoint/2010/main" val="320245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dirty="0">
                <a:solidFill>
                  <a:schemeClr val="bg1"/>
                </a:solidFill>
              </a:rPr>
              <a:t>Campo de Acción</a:t>
            </a:r>
          </a:p>
        </p:txBody>
      </p:sp>
      <p:sp>
        <p:nvSpPr>
          <p:cNvPr id="3" name="2 Marcador de contenido"/>
          <p:cNvSpPr>
            <a:spLocks noGrp="1"/>
          </p:cNvSpPr>
          <p:nvPr>
            <p:ph idx="1"/>
          </p:nvPr>
        </p:nvSpPr>
        <p:spPr>
          <a:xfrm>
            <a:off x="4427984" y="1829257"/>
            <a:ext cx="4716016" cy="3543959"/>
          </a:xfrm>
        </p:spPr>
        <p:txBody>
          <a:bodyPr>
            <a:noAutofit/>
          </a:bodyPr>
          <a:lstStyle/>
          <a:p>
            <a:pPr>
              <a:lnSpc>
                <a:spcPct val="150000"/>
              </a:lnSpc>
              <a:buNone/>
            </a:pPr>
            <a:r>
              <a:rPr lang="es-ES" sz="2400" dirty="0">
                <a:solidFill>
                  <a:srgbClr val="000000"/>
                </a:solidFill>
                <a:latin typeface="Arial" panose="020B0604020202020204" pitchFamily="34" charset="0"/>
                <a:ea typeface="Times New Roman" panose="02020603050405020304" pitchFamily="18" charset="0"/>
                <a:cs typeface="Arial" panose="020B0604020202020204" pitchFamily="34" charset="0"/>
              </a:rPr>
              <a:t>    E</a:t>
            </a:r>
            <a:r>
              <a:rPr lang="es-ES" sz="24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l proceso de gestión de la información referente al cálculo del transporte de sedimentos en las costas cubanas de la región sur-oriental atendidas por la empresa GEOCUBA </a:t>
            </a:r>
            <a:r>
              <a:rPr lang="es-ES" sz="2400" dirty="0">
                <a:solidFill>
                  <a:srgbClr val="000000"/>
                </a:solidFill>
                <a:effectLst/>
                <a:latin typeface="Arial" panose="020B0604020202020204" pitchFamily="34" charset="0"/>
                <a:ea typeface="Calibri" panose="020F0502020204030204" pitchFamily="34" charset="0"/>
                <a:cs typeface="Arial" panose="020B0604020202020204" pitchFamily="34" charset="0"/>
              </a:rPr>
              <a:t> </a:t>
            </a:r>
            <a:endParaRPr lang="en-US" sz="2400" dirty="0">
              <a:effectLst/>
              <a:latin typeface="Arial" panose="020B0604020202020204" pitchFamily="34" charset="0"/>
              <a:ea typeface="Times New Roman" panose="02020603050405020304" pitchFamily="18" charset="0"/>
              <a:cs typeface="Arial" panose="020B0604020202020204" pitchFamily="34" charset="0"/>
            </a:endParaRPr>
          </a:p>
          <a:p>
            <a:pPr marL="0" indent="0" algn="just">
              <a:buNone/>
            </a:pPr>
            <a:r>
              <a:rPr lang="es-ES" sz="2400" dirty="0">
                <a:solidFill>
                  <a:srgbClr val="000000"/>
                </a:solidFill>
                <a:effectLst/>
                <a:latin typeface="Arial" panose="020B0604020202020204" pitchFamily="34" charset="0"/>
                <a:ea typeface="Times New Roman" panose="02020603050405020304" pitchFamily="18" charset="0"/>
              </a:rPr>
              <a:t>.</a:t>
            </a:r>
            <a:endParaRPr lang="es-CU" sz="2400" dirty="0">
              <a:effectLst/>
              <a:latin typeface="Times New Roman" panose="02020603050405020304" pitchFamily="18" charset="0"/>
              <a:ea typeface="Times New Roman" panose="02020603050405020304" pitchFamily="18" charset="0"/>
            </a:endParaRPr>
          </a:p>
        </p:txBody>
      </p:sp>
      <p:pic>
        <p:nvPicPr>
          <p:cNvPr id="6" name="Imagen 5"/>
          <p:cNvPicPr>
            <a:picLocks noChangeAspect="1"/>
          </p:cNvPicPr>
          <p:nvPr/>
        </p:nvPicPr>
        <p:blipFill rotWithShape="1">
          <a:blip r:embed="rId4"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9</a:t>
            </a:fld>
            <a:endParaRPr lang="es-ES" dirty="0"/>
          </a:p>
        </p:txBody>
      </p:sp>
      <p:pic>
        <p:nvPicPr>
          <p:cNvPr id="7" name="Imagen 6">
            <a:extLst>
              <a:ext uri="{FF2B5EF4-FFF2-40B4-BE49-F238E27FC236}">
                <a16:creationId xmlns:a16="http://schemas.microsoft.com/office/drawing/2014/main" id="{39D9C966-5728-4CDE-95FE-3BFF476F1CE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6247" y="2060848"/>
            <a:ext cx="4311737" cy="3502262"/>
          </a:xfrm>
          <a:prstGeom prst="rect">
            <a:avLst/>
          </a:prstGeom>
        </p:spPr>
      </p:pic>
    </p:spTree>
    <p:extLst>
      <p:ext uri="{BB962C8B-B14F-4D97-AF65-F5344CB8AC3E}">
        <p14:creationId xmlns:p14="http://schemas.microsoft.com/office/powerpoint/2010/main" val="3146103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dirty="0">
                <a:solidFill>
                  <a:schemeClr val="bg1"/>
                </a:solidFill>
              </a:rPr>
              <a:t>Hipótesis</a:t>
            </a:r>
          </a:p>
        </p:txBody>
      </p:sp>
      <p:sp>
        <p:nvSpPr>
          <p:cNvPr id="3" name="2 Marcador de contenido"/>
          <p:cNvSpPr>
            <a:spLocks noGrp="1"/>
          </p:cNvSpPr>
          <p:nvPr>
            <p:ph idx="1"/>
          </p:nvPr>
        </p:nvSpPr>
        <p:spPr>
          <a:xfrm>
            <a:off x="107504" y="1412776"/>
            <a:ext cx="8784976" cy="4599990"/>
          </a:xfrm>
        </p:spPr>
        <p:txBody>
          <a:bodyPr>
            <a:normAutofit/>
          </a:bodyPr>
          <a:lstStyle/>
          <a:p>
            <a:pPr algn="just">
              <a:lnSpc>
                <a:spcPct val="150000"/>
              </a:lnSpc>
            </a:pPr>
            <a:r>
              <a:rPr lang="es-ES" sz="2400" dirty="0">
                <a:solidFill>
                  <a:srgbClr val="000000"/>
                </a:solidFill>
                <a:effectLst/>
                <a:latin typeface="Arial" panose="020B0604020202020204" pitchFamily="34" charset="0"/>
                <a:ea typeface="Times New Roman" panose="02020603050405020304" pitchFamily="18" charset="0"/>
                <a:cs typeface="Arial" panose="020B0604020202020204" pitchFamily="34" charset="0"/>
              </a:rPr>
              <a:t>Si se implementa un sistema de gestión en la empresa GEOCUBA </a:t>
            </a:r>
            <a:r>
              <a:rPr lang="es-ES" sz="2400" dirty="0">
                <a:latin typeface="Arial" panose="020B0604020202020204" pitchFamily="34" charset="0"/>
                <a:cs typeface="Arial" panose="020B0604020202020204" pitchFamily="34" charset="0"/>
              </a:rPr>
              <a:t>mejoraría la seguridad, organización y rapidez en el acceso a la información sobre el transporte de sedimentos, optimizando los recursos y facilitando la toma de decisiones.</a:t>
            </a:r>
            <a:endParaRPr lang="en-US" sz="2400" dirty="0">
              <a:effectLst/>
              <a:latin typeface="Arial" panose="020B0604020202020204" pitchFamily="34" charset="0"/>
              <a:ea typeface="Times New Roman" panose="02020603050405020304" pitchFamily="18" charset="0"/>
              <a:cs typeface="Arial" panose="020B0604020202020204" pitchFamily="34" charset="0"/>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10</a:t>
            </a:fld>
            <a:endParaRPr lang="es-ES"/>
          </a:p>
        </p:txBody>
      </p:sp>
    </p:spTree>
    <p:extLst>
      <p:ext uri="{BB962C8B-B14F-4D97-AF65-F5344CB8AC3E}">
        <p14:creationId xmlns:p14="http://schemas.microsoft.com/office/powerpoint/2010/main" val="8038180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Herramientas</a:t>
            </a:r>
            <a:endParaRPr lang="es-ES" sz="3200" dirty="0">
              <a:solidFill>
                <a:schemeClr val="bg1"/>
              </a:solidFill>
            </a:endParaRPr>
          </a:p>
        </p:txBody>
      </p:sp>
      <p:sp>
        <p:nvSpPr>
          <p:cNvPr id="3" name="2 Marcador de contenido"/>
          <p:cNvSpPr>
            <a:spLocks noGrp="1"/>
          </p:cNvSpPr>
          <p:nvPr>
            <p:ph idx="1"/>
          </p:nvPr>
        </p:nvSpPr>
        <p:spPr>
          <a:xfrm>
            <a:off x="5132294" y="1724726"/>
            <a:ext cx="5410944" cy="4814186"/>
          </a:xfrm>
        </p:spPr>
        <p:txBody>
          <a:bodyPr>
            <a:normAutofit lnSpcReduction="10000"/>
          </a:bodyPr>
          <a:lstStyle/>
          <a:p>
            <a:r>
              <a:rPr lang="es-ES" sz="2400" dirty="0" err="1">
                <a:solidFill>
                  <a:srgbClr val="000000"/>
                </a:solidFill>
                <a:effectLst/>
                <a:latin typeface="Arial" panose="020B0604020202020204" pitchFamily="34" charset="0"/>
                <a:ea typeface="Times New Roman" panose="02020603050405020304" pitchFamily="18" charset="0"/>
              </a:rPr>
              <a:t>React</a:t>
            </a:r>
            <a:endParaRPr lang="es-US" sz="2400" dirty="0">
              <a:solidFill>
                <a:srgbClr val="000000"/>
              </a:solidFill>
              <a:effectLst/>
              <a:latin typeface="Arial" panose="020B0604020202020204" pitchFamily="34" charset="0"/>
              <a:ea typeface="Arial" panose="020B0604020202020204" pitchFamily="34" charset="0"/>
            </a:endParaRPr>
          </a:p>
          <a:p>
            <a:pPr marL="0" indent="0">
              <a:buNone/>
            </a:pPr>
            <a:endParaRPr lang="es-US" sz="2400" dirty="0">
              <a:solidFill>
                <a:srgbClr val="000000"/>
              </a:solidFill>
              <a:effectLst/>
              <a:latin typeface="Arial" panose="020B0604020202020204" pitchFamily="34" charset="0"/>
              <a:ea typeface="Arial" panose="020B0604020202020204" pitchFamily="34" charset="0"/>
            </a:endParaRPr>
          </a:p>
          <a:p>
            <a:r>
              <a:rPr lang="es-CU" sz="2400" dirty="0" err="1">
                <a:solidFill>
                  <a:srgbClr val="000000"/>
                </a:solidFill>
                <a:effectLst/>
                <a:latin typeface="Arial" panose="020B0604020202020204" pitchFamily="34" charset="0"/>
                <a:ea typeface="Arial" panose="020B0604020202020204" pitchFamily="34" charset="0"/>
              </a:rPr>
              <a:t>Nest</a:t>
            </a:r>
            <a:r>
              <a:rPr lang="es-CU" sz="2400" dirty="0">
                <a:solidFill>
                  <a:srgbClr val="000000"/>
                </a:solidFill>
                <a:effectLst/>
                <a:latin typeface="Arial" panose="020B0604020202020204" pitchFamily="34" charset="0"/>
                <a:ea typeface="Arial" panose="020B0604020202020204" pitchFamily="34" charset="0"/>
              </a:rPr>
              <a:t> </a:t>
            </a:r>
            <a:r>
              <a:rPr lang="es-CU" sz="2400" dirty="0" err="1">
                <a:solidFill>
                  <a:srgbClr val="000000"/>
                </a:solidFill>
                <a:effectLst/>
                <a:latin typeface="Arial" panose="020B0604020202020204" pitchFamily="34" charset="0"/>
                <a:ea typeface="Arial" panose="020B0604020202020204" pitchFamily="34" charset="0"/>
              </a:rPr>
              <a:t>Js</a:t>
            </a:r>
            <a:endParaRPr lang="es-CU" sz="2400" dirty="0">
              <a:solidFill>
                <a:srgbClr val="000000"/>
              </a:solidFill>
              <a:effectLst/>
              <a:latin typeface="Arial" panose="020B0604020202020204" pitchFamily="34" charset="0"/>
              <a:ea typeface="Arial" panose="020B0604020202020204" pitchFamily="34" charset="0"/>
            </a:endParaRPr>
          </a:p>
          <a:p>
            <a:endParaRPr lang="es-CU" sz="2400" dirty="0">
              <a:solidFill>
                <a:srgbClr val="000000"/>
              </a:solidFill>
              <a:latin typeface="Arial" panose="020B0604020202020204" pitchFamily="34" charset="0"/>
              <a:ea typeface="Times New Roman" panose="02020603050405020304" pitchFamily="18" charset="0"/>
            </a:endParaRPr>
          </a:p>
          <a:p>
            <a:r>
              <a:rPr lang="es-CU" sz="2400" dirty="0">
                <a:solidFill>
                  <a:srgbClr val="000000"/>
                </a:solidFill>
                <a:latin typeface="Arial" panose="020B0604020202020204" pitchFamily="34" charset="0"/>
                <a:ea typeface="Times New Roman" panose="02020603050405020304" pitchFamily="18" charset="0"/>
              </a:rPr>
              <a:t>Mongo DB </a:t>
            </a:r>
          </a:p>
          <a:p>
            <a:endParaRPr lang="es-CU" sz="2400" dirty="0">
              <a:solidFill>
                <a:srgbClr val="000000"/>
              </a:solidFill>
              <a:effectLst/>
              <a:latin typeface="Arial" panose="020B0604020202020204" pitchFamily="34" charset="0"/>
              <a:ea typeface="Times New Roman" panose="02020603050405020304" pitchFamily="18" charset="0"/>
            </a:endParaRPr>
          </a:p>
          <a:p>
            <a:r>
              <a:rPr lang="es-CU" sz="2400" dirty="0">
                <a:solidFill>
                  <a:srgbClr val="000000"/>
                </a:solidFill>
                <a:effectLst/>
                <a:latin typeface="Arial" panose="020B0604020202020204" pitchFamily="34" charset="0"/>
                <a:ea typeface="Times New Roman" panose="02020603050405020304" pitchFamily="18" charset="0"/>
              </a:rPr>
              <a:t>HTML</a:t>
            </a:r>
          </a:p>
          <a:p>
            <a:endParaRPr lang="es-CU" sz="2400" dirty="0">
              <a:solidFill>
                <a:srgbClr val="000000"/>
              </a:solidFill>
              <a:latin typeface="Arial" panose="020B0604020202020204" pitchFamily="34" charset="0"/>
              <a:ea typeface="Times New Roman" panose="02020603050405020304" pitchFamily="18" charset="0"/>
            </a:endParaRPr>
          </a:p>
          <a:p>
            <a:r>
              <a:rPr lang="es-CU" sz="2400" dirty="0">
                <a:solidFill>
                  <a:srgbClr val="000000"/>
                </a:solidFill>
                <a:effectLst/>
                <a:latin typeface="Arial" panose="020B0604020202020204" pitchFamily="34" charset="0"/>
                <a:ea typeface="Times New Roman" panose="02020603050405020304" pitchFamily="18" charset="0"/>
              </a:rPr>
              <a:t>CSS </a:t>
            </a:r>
          </a:p>
          <a:p>
            <a:endParaRPr lang="es-CU" sz="2400" dirty="0">
              <a:solidFill>
                <a:srgbClr val="000000"/>
              </a:solidFill>
              <a:latin typeface="Arial" panose="020B0604020202020204" pitchFamily="34" charset="0"/>
              <a:ea typeface="Times New Roman" panose="02020603050405020304" pitchFamily="18" charset="0"/>
            </a:endParaRPr>
          </a:p>
          <a:p>
            <a:r>
              <a:rPr lang="es-CU" sz="2400" dirty="0" err="1">
                <a:solidFill>
                  <a:srgbClr val="000000"/>
                </a:solidFill>
                <a:effectLst/>
                <a:latin typeface="Arial" panose="020B0604020202020204" pitchFamily="34" charset="0"/>
                <a:ea typeface="Times New Roman" panose="02020603050405020304" pitchFamily="18" charset="0"/>
              </a:rPr>
              <a:t>Javascript</a:t>
            </a:r>
            <a:endParaRPr lang="es-CU" sz="2400" dirty="0">
              <a:effectLst/>
              <a:latin typeface="Times New Roman" panose="02020603050405020304" pitchFamily="18" charset="0"/>
              <a:ea typeface="Times New Roman" panose="02020603050405020304" pitchFamily="18" charset="0"/>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11</a:t>
            </a:fld>
            <a:endParaRPr lang="es-ES"/>
          </a:p>
        </p:txBody>
      </p:sp>
      <p:pic>
        <p:nvPicPr>
          <p:cNvPr id="7" name="Imagen 6">
            <a:extLst>
              <a:ext uri="{FF2B5EF4-FFF2-40B4-BE49-F238E27FC236}">
                <a16:creationId xmlns:a16="http://schemas.microsoft.com/office/drawing/2014/main" id="{89E25356-88A0-48BD-B977-AB7456E6A93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979" y="1833873"/>
            <a:ext cx="4932040" cy="3474328"/>
          </a:xfrm>
          <a:prstGeom prst="rect">
            <a:avLst/>
          </a:prstGeom>
        </p:spPr>
      </p:pic>
    </p:spTree>
    <p:extLst>
      <p:ext uri="{BB962C8B-B14F-4D97-AF65-F5344CB8AC3E}">
        <p14:creationId xmlns:p14="http://schemas.microsoft.com/office/powerpoint/2010/main" val="11217284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Metodología de Desarrollo</a:t>
            </a:r>
            <a:endParaRPr lang="es-ES" sz="3200" dirty="0">
              <a:solidFill>
                <a:schemeClr val="bg1"/>
              </a:solidFill>
            </a:endParaRPr>
          </a:p>
        </p:txBody>
      </p:sp>
      <p:sp>
        <p:nvSpPr>
          <p:cNvPr id="3" name="2 Marcador de contenido"/>
          <p:cNvSpPr>
            <a:spLocks noGrp="1"/>
          </p:cNvSpPr>
          <p:nvPr>
            <p:ph idx="1"/>
          </p:nvPr>
        </p:nvSpPr>
        <p:spPr>
          <a:xfrm>
            <a:off x="3738234" y="1783166"/>
            <a:ext cx="5410944" cy="4814186"/>
          </a:xfrm>
        </p:spPr>
        <p:txBody>
          <a:bodyPr>
            <a:normAutofit/>
          </a:bodyPr>
          <a:lstStyle/>
          <a:p>
            <a:pPr algn="just"/>
            <a:r>
              <a:rPr lang="es-ES" sz="2400" dirty="0">
                <a:solidFill>
                  <a:srgbClr val="000000"/>
                </a:solidFill>
                <a:effectLst/>
                <a:latin typeface="Arial" panose="020B0604020202020204" pitchFamily="34" charset="0"/>
                <a:ea typeface="Times New Roman" panose="02020603050405020304" pitchFamily="18" charset="0"/>
              </a:rPr>
              <a:t>Programación Extrema (XP)</a:t>
            </a:r>
          </a:p>
          <a:p>
            <a:pPr algn="just"/>
            <a:endParaRPr lang="es-ES" sz="2400" dirty="0">
              <a:solidFill>
                <a:srgbClr val="000000"/>
              </a:solidFill>
              <a:effectLst/>
              <a:latin typeface="Arial" panose="020B0604020202020204" pitchFamily="34" charset="0"/>
              <a:ea typeface="Times New Roman" panose="02020603050405020304" pitchFamily="18" charset="0"/>
            </a:endParaRPr>
          </a:p>
          <a:p>
            <a:pPr marL="0" indent="0" algn="just">
              <a:buNone/>
            </a:pPr>
            <a:r>
              <a:rPr lang="es-CU" sz="2400" dirty="0">
                <a:solidFill>
                  <a:srgbClr val="000000"/>
                </a:solidFill>
                <a:effectLst/>
                <a:latin typeface="Arial" panose="020B0604020202020204" pitchFamily="34" charset="0"/>
                <a:ea typeface="Arial" panose="020B0604020202020204" pitchFamily="34" charset="0"/>
              </a:rPr>
              <a:t>es una metodología de desarrollo ligera (o ágil) basada en una serie de valores y de prácticas de buenas maneras que persigue el objetivo de aumentar la productividad a la hora de desarrollar programas</a:t>
            </a:r>
            <a:endParaRPr lang="es-ES" sz="2400" dirty="0">
              <a:solidFill>
                <a:srgbClr val="000000"/>
              </a:solidFill>
              <a:effectLst/>
              <a:latin typeface="Arial" panose="020B0604020202020204" pitchFamily="34" charset="0"/>
              <a:ea typeface="Times New Roman" panose="02020603050405020304" pitchFamily="18" charset="0"/>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12</a:t>
            </a:fld>
            <a:endParaRPr lang="es-ES"/>
          </a:p>
        </p:txBody>
      </p:sp>
      <p:graphicFrame>
        <p:nvGraphicFramePr>
          <p:cNvPr id="9" name="Diagrama 8">
            <a:extLst>
              <a:ext uri="{FF2B5EF4-FFF2-40B4-BE49-F238E27FC236}">
                <a16:creationId xmlns:a16="http://schemas.microsoft.com/office/drawing/2014/main" id="{9EFF2E01-4208-415C-9363-B48C13E84624}"/>
              </a:ext>
            </a:extLst>
          </p:cNvPr>
          <p:cNvGraphicFramePr/>
          <p:nvPr>
            <p:extLst>
              <p:ext uri="{D42A27DB-BD31-4B8C-83A1-F6EECF244321}">
                <p14:modId xmlns:p14="http://schemas.microsoft.com/office/powerpoint/2010/main" val="3606717351"/>
              </p:ext>
            </p:extLst>
          </p:nvPr>
        </p:nvGraphicFramePr>
        <p:xfrm>
          <a:off x="585886" y="3933056"/>
          <a:ext cx="8136904" cy="428447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7" name="Imagen 6">
            <a:extLst>
              <a:ext uri="{FF2B5EF4-FFF2-40B4-BE49-F238E27FC236}">
                <a16:creationId xmlns:a16="http://schemas.microsoft.com/office/drawing/2014/main" id="{FE1819CF-DC74-4E53-84B5-4A4BF2FEF7F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860" y="2132856"/>
            <a:ext cx="3502557" cy="2752904"/>
          </a:xfrm>
          <a:prstGeom prst="rect">
            <a:avLst/>
          </a:prstGeom>
        </p:spPr>
      </p:pic>
    </p:spTree>
    <p:extLst>
      <p:ext uri="{BB962C8B-B14F-4D97-AF65-F5344CB8AC3E}">
        <p14:creationId xmlns:p14="http://schemas.microsoft.com/office/powerpoint/2010/main" val="21895712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Propuesta del Sistema</a:t>
            </a:r>
            <a:endParaRPr lang="es-ES" sz="3200" dirty="0">
              <a:solidFill>
                <a:schemeClr val="bg1"/>
              </a:solidFill>
            </a:endParaRPr>
          </a:p>
        </p:txBody>
      </p:sp>
      <p:sp>
        <p:nvSpPr>
          <p:cNvPr id="3" name="2 Marcador de contenido"/>
          <p:cNvSpPr>
            <a:spLocks noGrp="1"/>
          </p:cNvSpPr>
          <p:nvPr>
            <p:ph idx="1"/>
          </p:nvPr>
        </p:nvSpPr>
        <p:spPr>
          <a:xfrm>
            <a:off x="69475" y="1493696"/>
            <a:ext cx="9005050" cy="4734272"/>
          </a:xfrm>
        </p:spPr>
        <p:txBody>
          <a:bodyPr>
            <a:normAutofit fontScale="92500" lnSpcReduction="10000"/>
          </a:bodyPr>
          <a:lstStyle/>
          <a:p>
            <a:pPr marL="0" indent="0" algn="just">
              <a:buNone/>
            </a:pPr>
            <a:r>
              <a:rPr lang="es-ES" sz="2400" dirty="0">
                <a:latin typeface="Arial" panose="020B0604020202020204" pitchFamily="34" charset="0"/>
                <a:cs typeface="Arial" panose="020B0604020202020204" pitchFamily="34" charset="0"/>
              </a:rPr>
              <a:t>Esta investigación se centra en desarrollar una aplicación web especializada para informatizar el cálculo del transporte sedimentos, eliminando errores y demoras de los métodos manuales actuales. </a:t>
            </a:r>
          </a:p>
          <a:p>
            <a:pPr marL="0" indent="0" algn="just">
              <a:buNone/>
            </a:pPr>
            <a:endParaRPr lang="es-ES" sz="2400" dirty="0">
              <a:latin typeface="Arial" panose="020B0604020202020204" pitchFamily="34" charset="0"/>
              <a:cs typeface="Arial" panose="020B0604020202020204" pitchFamily="34" charset="0"/>
            </a:endParaRPr>
          </a:p>
          <a:p>
            <a:pPr marL="0" indent="0" algn="just">
              <a:buNone/>
            </a:pPr>
            <a:r>
              <a:rPr lang="es-ES" sz="2400" dirty="0">
                <a:latin typeface="Arial" panose="020B0604020202020204" pitchFamily="34" charset="0"/>
                <a:cs typeface="Arial" panose="020B0604020202020204" pitchFamily="34" charset="0"/>
              </a:rPr>
              <a:t>El sistema incluirá:</a:t>
            </a:r>
          </a:p>
          <a:p>
            <a:pPr marL="0" indent="0" algn="just">
              <a:buNone/>
            </a:pPr>
            <a:r>
              <a:rPr lang="es-ES" sz="2400" dirty="0">
                <a:latin typeface="Arial" panose="020B0604020202020204" pitchFamily="34" charset="0"/>
                <a:cs typeface="Arial" panose="020B0604020202020204" pitchFamily="34" charset="0"/>
              </a:rPr>
              <a:t> </a:t>
            </a:r>
          </a:p>
          <a:p>
            <a:pPr algn="just">
              <a:buFont typeface="Wingdings" panose="05000000000000000000" pitchFamily="2" charset="2"/>
              <a:buChar char="Ø"/>
            </a:pPr>
            <a:r>
              <a:rPr lang="es-ES" sz="2400" dirty="0">
                <a:latin typeface="Arial" panose="020B0604020202020204" pitchFamily="34" charset="0"/>
                <a:cs typeface="Arial" panose="020B0604020202020204" pitchFamily="34" charset="0"/>
              </a:rPr>
              <a:t>registro digital de mediciones.</a:t>
            </a:r>
          </a:p>
          <a:p>
            <a:pPr algn="just">
              <a:buFont typeface="Wingdings" panose="05000000000000000000" pitchFamily="2" charset="2"/>
              <a:buChar char="Ø"/>
            </a:pPr>
            <a:endParaRPr lang="es-ES" sz="2400" dirty="0">
              <a:latin typeface="Arial" panose="020B0604020202020204" pitchFamily="34" charset="0"/>
              <a:cs typeface="Arial" panose="020B0604020202020204" pitchFamily="34" charset="0"/>
            </a:endParaRPr>
          </a:p>
          <a:p>
            <a:pPr algn="just">
              <a:buFont typeface="Wingdings" panose="05000000000000000000" pitchFamily="2" charset="2"/>
              <a:buChar char="Ø"/>
            </a:pPr>
            <a:r>
              <a:rPr lang="es-ES" sz="2400" dirty="0">
                <a:latin typeface="Arial" panose="020B0604020202020204" pitchFamily="34" charset="0"/>
                <a:cs typeface="Arial" panose="020B0604020202020204" pitchFamily="34" charset="0"/>
              </a:rPr>
              <a:t>cálculos con modelos matemáticos validados.</a:t>
            </a:r>
          </a:p>
          <a:p>
            <a:pPr algn="just">
              <a:buFont typeface="Wingdings" panose="05000000000000000000" pitchFamily="2" charset="2"/>
              <a:buChar char="Ø"/>
            </a:pPr>
            <a:endParaRPr lang="es-ES" sz="2400" dirty="0">
              <a:latin typeface="Arial" panose="020B0604020202020204" pitchFamily="34" charset="0"/>
              <a:cs typeface="Arial" panose="020B0604020202020204" pitchFamily="34" charset="0"/>
            </a:endParaRPr>
          </a:p>
          <a:p>
            <a:pPr algn="just">
              <a:buFont typeface="Wingdings" panose="05000000000000000000" pitchFamily="2" charset="2"/>
              <a:buChar char="Ø"/>
            </a:pPr>
            <a:r>
              <a:rPr lang="es-ES" sz="2400" dirty="0">
                <a:latin typeface="Arial" panose="020B0604020202020204" pitchFamily="34" charset="0"/>
                <a:cs typeface="Arial" panose="020B0604020202020204" pitchFamily="34" charset="0"/>
              </a:rPr>
              <a:t>visualización georreferenciada de datos.</a:t>
            </a:r>
          </a:p>
          <a:p>
            <a:pPr algn="just">
              <a:buFont typeface="Wingdings" panose="05000000000000000000" pitchFamily="2" charset="2"/>
              <a:buChar char="Ø"/>
            </a:pPr>
            <a:endParaRPr lang="es-ES" sz="2400" dirty="0">
              <a:latin typeface="Arial" panose="020B0604020202020204" pitchFamily="34" charset="0"/>
              <a:cs typeface="Arial" panose="020B0604020202020204" pitchFamily="34" charset="0"/>
            </a:endParaRPr>
          </a:p>
          <a:p>
            <a:pPr algn="just">
              <a:buFont typeface="Wingdings" panose="05000000000000000000" pitchFamily="2" charset="2"/>
              <a:buChar char="Ø"/>
            </a:pPr>
            <a:r>
              <a:rPr lang="es-ES" sz="2400" dirty="0">
                <a:latin typeface="Arial" panose="020B0604020202020204" pitchFamily="34" charset="0"/>
                <a:cs typeface="Arial" panose="020B0604020202020204" pitchFamily="34" charset="0"/>
              </a:rPr>
              <a:t>generación de reportes comparativos.</a:t>
            </a:r>
          </a:p>
          <a:p>
            <a:pPr algn="just">
              <a:buFont typeface="Wingdings" panose="05000000000000000000" pitchFamily="2" charset="2"/>
              <a:buChar char="Ø"/>
            </a:pPr>
            <a:endParaRPr lang="es-ES" sz="2400" dirty="0">
              <a:latin typeface="Arial" panose="020B0604020202020204" pitchFamily="34" charset="0"/>
              <a:cs typeface="Arial" panose="020B0604020202020204" pitchFamily="34" charset="0"/>
            </a:endParaRPr>
          </a:p>
          <a:p>
            <a:pPr algn="just"/>
            <a:endParaRPr lang="es-ES" sz="2400" dirty="0">
              <a:solidFill>
                <a:srgbClr val="000000"/>
              </a:solidFill>
              <a:effectLst/>
              <a:latin typeface="Arial" panose="020B0604020202020204" pitchFamily="34" charset="0"/>
              <a:ea typeface="Times New Roman" panose="02020603050405020304" pitchFamily="18" charset="0"/>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13</a:t>
            </a:fld>
            <a:endParaRPr lang="es-ES"/>
          </a:p>
        </p:txBody>
      </p:sp>
    </p:spTree>
    <p:extLst>
      <p:ext uri="{BB962C8B-B14F-4D97-AF65-F5344CB8AC3E}">
        <p14:creationId xmlns:p14="http://schemas.microsoft.com/office/powerpoint/2010/main" val="12761374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Funcionalidades del Sistema</a:t>
            </a:r>
            <a:endParaRPr lang="es-ES" sz="3200" dirty="0">
              <a:solidFill>
                <a:schemeClr val="bg1"/>
              </a:solidFill>
            </a:endParaRPr>
          </a:p>
        </p:txBody>
      </p:sp>
      <p:sp>
        <p:nvSpPr>
          <p:cNvPr id="3" name="2 Marcador de contenido"/>
          <p:cNvSpPr>
            <a:spLocks noGrp="1"/>
          </p:cNvSpPr>
          <p:nvPr>
            <p:ph idx="1"/>
          </p:nvPr>
        </p:nvSpPr>
        <p:spPr>
          <a:xfrm>
            <a:off x="4427984" y="1607095"/>
            <a:ext cx="5410944" cy="4814186"/>
          </a:xfrm>
        </p:spPr>
        <p:txBody>
          <a:bodyPr>
            <a:normAutofit/>
          </a:bodyPr>
          <a:lstStyle/>
          <a:p>
            <a:pPr marL="342900" lvl="0" indent="-342900" algn="just">
              <a:lnSpc>
                <a:spcPct val="115000"/>
              </a:lnSpc>
              <a:buFont typeface="Wingdings" panose="05000000000000000000" pitchFamily="2" charset="2"/>
              <a:buChar char=""/>
            </a:pPr>
            <a:r>
              <a:rPr lang="es-ES" sz="2400" dirty="0">
                <a:solidFill>
                  <a:srgbClr val="000000"/>
                </a:solidFill>
                <a:effectLst/>
                <a:latin typeface="Arial" panose="020B0604020202020204" pitchFamily="34" charset="0"/>
                <a:ea typeface="Calibri" panose="020F0502020204030204" pitchFamily="34" charset="0"/>
              </a:rPr>
              <a:t>HU_1: Autenticarse.</a:t>
            </a:r>
            <a:endParaRPr lang="es-CU" sz="2400" dirty="0">
              <a:effectLst/>
              <a:latin typeface="Arial" panose="020B0604020202020204" pitchFamily="34" charset="0"/>
              <a:ea typeface="Calibri" panose="020F0502020204030204" pitchFamily="34" charset="0"/>
            </a:endParaRPr>
          </a:p>
          <a:p>
            <a:pPr marL="342900" lvl="0" indent="-342900" algn="just">
              <a:lnSpc>
                <a:spcPct val="115000"/>
              </a:lnSpc>
              <a:buFont typeface="Wingdings" panose="05000000000000000000" pitchFamily="2" charset="2"/>
              <a:buChar char=""/>
            </a:pPr>
            <a:r>
              <a:rPr lang="es-ES" sz="2400" dirty="0">
                <a:solidFill>
                  <a:srgbClr val="000000"/>
                </a:solidFill>
                <a:effectLst/>
                <a:latin typeface="Arial" panose="020B0604020202020204" pitchFamily="34" charset="0"/>
                <a:ea typeface="Calibri" panose="020F0502020204030204" pitchFamily="34" charset="0"/>
              </a:rPr>
              <a:t>HU_2: Inicio.</a:t>
            </a:r>
            <a:endParaRPr lang="es-CU" sz="2400" dirty="0">
              <a:effectLst/>
              <a:latin typeface="Arial" panose="020B0604020202020204" pitchFamily="34" charset="0"/>
              <a:ea typeface="Calibri" panose="020F0502020204030204" pitchFamily="34" charset="0"/>
            </a:endParaRPr>
          </a:p>
          <a:p>
            <a:pPr marL="342900" lvl="0" indent="-342900" algn="just">
              <a:lnSpc>
                <a:spcPct val="115000"/>
              </a:lnSpc>
              <a:buFont typeface="Wingdings" panose="05000000000000000000" pitchFamily="2" charset="2"/>
              <a:buChar char=""/>
            </a:pPr>
            <a:r>
              <a:rPr lang="es-ES" sz="2400" dirty="0">
                <a:solidFill>
                  <a:srgbClr val="000000"/>
                </a:solidFill>
                <a:effectLst/>
                <a:latin typeface="Arial" panose="020B0604020202020204" pitchFamily="34" charset="0"/>
                <a:ea typeface="Calibri" panose="020F0502020204030204" pitchFamily="34" charset="0"/>
              </a:rPr>
              <a:t>HU_3: Gestionar Cálculos.</a:t>
            </a:r>
            <a:endParaRPr lang="es-CU" sz="2400" dirty="0">
              <a:effectLst/>
              <a:latin typeface="Arial" panose="020B0604020202020204" pitchFamily="34" charset="0"/>
              <a:ea typeface="Calibri" panose="020F0502020204030204" pitchFamily="34" charset="0"/>
            </a:endParaRPr>
          </a:p>
          <a:p>
            <a:pPr marL="342900" lvl="0" indent="-342900" algn="just">
              <a:lnSpc>
                <a:spcPct val="115000"/>
              </a:lnSpc>
              <a:buFont typeface="Wingdings" panose="05000000000000000000" pitchFamily="2" charset="2"/>
              <a:buChar char=""/>
            </a:pPr>
            <a:r>
              <a:rPr lang="es-ES" sz="2400" dirty="0">
                <a:solidFill>
                  <a:srgbClr val="000000"/>
                </a:solidFill>
                <a:effectLst/>
                <a:latin typeface="Arial" panose="020B0604020202020204" pitchFamily="34" charset="0"/>
                <a:ea typeface="Calibri" panose="020F0502020204030204" pitchFamily="34" charset="0"/>
              </a:rPr>
              <a:t>HU_4: Gestionar Usuarios.</a:t>
            </a:r>
            <a:endParaRPr lang="es-CU" sz="2400" dirty="0">
              <a:effectLst/>
              <a:latin typeface="Arial" panose="020B0604020202020204" pitchFamily="34" charset="0"/>
              <a:ea typeface="Calibri" panose="020F0502020204030204" pitchFamily="34" charset="0"/>
            </a:endParaRPr>
          </a:p>
          <a:p>
            <a:pPr marL="342900" lvl="0" indent="-342900" algn="just">
              <a:lnSpc>
                <a:spcPct val="115000"/>
              </a:lnSpc>
              <a:buFont typeface="Wingdings" panose="05000000000000000000" pitchFamily="2" charset="2"/>
              <a:buChar char=""/>
            </a:pPr>
            <a:r>
              <a:rPr lang="es-ES" sz="2400" dirty="0">
                <a:solidFill>
                  <a:srgbClr val="000000"/>
                </a:solidFill>
                <a:effectLst/>
                <a:latin typeface="Arial" panose="020B0604020202020204" pitchFamily="34" charset="0"/>
                <a:ea typeface="Calibri" panose="020F0502020204030204" pitchFamily="34" charset="0"/>
              </a:rPr>
              <a:t>HU_5: Gestionar Trazas.</a:t>
            </a:r>
            <a:endParaRPr lang="es-CU" sz="2400" dirty="0">
              <a:effectLst/>
              <a:latin typeface="Arial" panose="020B0604020202020204" pitchFamily="34" charset="0"/>
              <a:ea typeface="Calibri" panose="020F0502020204030204" pitchFamily="34" charset="0"/>
            </a:endParaRPr>
          </a:p>
          <a:p>
            <a:pPr marL="342900" lvl="0" indent="-342900" algn="just">
              <a:lnSpc>
                <a:spcPct val="115000"/>
              </a:lnSpc>
              <a:buFont typeface="Wingdings" panose="05000000000000000000" pitchFamily="2" charset="2"/>
              <a:buChar char=""/>
            </a:pPr>
            <a:r>
              <a:rPr lang="es-ES" sz="2400" dirty="0">
                <a:solidFill>
                  <a:srgbClr val="000000"/>
                </a:solidFill>
                <a:effectLst/>
                <a:latin typeface="Arial" panose="020B0604020202020204" pitchFamily="34" charset="0"/>
                <a:ea typeface="Calibri" panose="020F0502020204030204" pitchFamily="34" charset="0"/>
              </a:rPr>
              <a:t>HU_6: Búsqueda Avanzada.</a:t>
            </a:r>
            <a:endParaRPr lang="es-CU" sz="2400" dirty="0">
              <a:effectLst/>
              <a:latin typeface="Arial" panose="020B0604020202020204" pitchFamily="34" charset="0"/>
              <a:ea typeface="Calibri" panose="020F0502020204030204" pitchFamily="34" charset="0"/>
            </a:endParaRPr>
          </a:p>
          <a:p>
            <a:pPr marL="342900" lvl="0" indent="-342900" algn="just">
              <a:lnSpc>
                <a:spcPct val="115000"/>
              </a:lnSpc>
              <a:buFont typeface="Wingdings" panose="05000000000000000000" pitchFamily="2" charset="2"/>
              <a:buChar char=""/>
            </a:pPr>
            <a:r>
              <a:rPr lang="es-ES" sz="2400" dirty="0">
                <a:solidFill>
                  <a:srgbClr val="000000"/>
                </a:solidFill>
                <a:effectLst/>
                <a:latin typeface="Arial" panose="020B0604020202020204" pitchFamily="34" charset="0"/>
                <a:ea typeface="Calibri" panose="020F0502020204030204" pitchFamily="34" charset="0"/>
              </a:rPr>
              <a:t>HU_7: Gestionar Ubicaciones.</a:t>
            </a:r>
            <a:endParaRPr lang="es-CU" sz="2400" dirty="0">
              <a:effectLst/>
              <a:latin typeface="Arial" panose="020B0604020202020204" pitchFamily="34" charset="0"/>
              <a:ea typeface="Calibri" panose="020F0502020204030204" pitchFamily="34" charset="0"/>
            </a:endParaRPr>
          </a:p>
          <a:p>
            <a:pPr marL="342900" lvl="0" indent="-342900" algn="just">
              <a:lnSpc>
                <a:spcPct val="115000"/>
              </a:lnSpc>
              <a:spcAft>
                <a:spcPts val="1000"/>
              </a:spcAft>
              <a:buFont typeface="Wingdings" panose="05000000000000000000" pitchFamily="2" charset="2"/>
              <a:buChar char=""/>
            </a:pPr>
            <a:r>
              <a:rPr lang="es-ES" sz="2400" dirty="0">
                <a:solidFill>
                  <a:srgbClr val="000000"/>
                </a:solidFill>
                <a:effectLst/>
                <a:latin typeface="Arial" panose="020B0604020202020204" pitchFamily="34" charset="0"/>
                <a:ea typeface="Calibri" panose="020F0502020204030204" pitchFamily="34" charset="0"/>
              </a:rPr>
              <a:t>HU_8: Ver reportes en gráficas.</a:t>
            </a:r>
            <a:endParaRPr lang="es-CU" sz="2400" dirty="0">
              <a:effectLst/>
              <a:latin typeface="Arial" panose="020B0604020202020204" pitchFamily="34" charset="0"/>
              <a:ea typeface="Calibri" panose="020F0502020204030204" pitchFamily="34" charset="0"/>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14</a:t>
            </a:fld>
            <a:endParaRPr lang="es-ES"/>
          </a:p>
        </p:txBody>
      </p:sp>
      <p:pic>
        <p:nvPicPr>
          <p:cNvPr id="9" name="Imagen 8">
            <a:extLst>
              <a:ext uri="{FF2B5EF4-FFF2-40B4-BE49-F238E27FC236}">
                <a16:creationId xmlns:a16="http://schemas.microsoft.com/office/drawing/2014/main" id="{47F82248-DC8A-43DA-8999-F316FBC618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537" y="2045189"/>
            <a:ext cx="4410447" cy="3061291"/>
          </a:xfrm>
          <a:prstGeom prst="rect">
            <a:avLst/>
          </a:prstGeom>
        </p:spPr>
      </p:pic>
    </p:spTree>
    <p:extLst>
      <p:ext uri="{BB962C8B-B14F-4D97-AF65-F5344CB8AC3E}">
        <p14:creationId xmlns:p14="http://schemas.microsoft.com/office/powerpoint/2010/main" val="34872259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Historias Técnicas</a:t>
            </a:r>
            <a:endParaRPr lang="es-ES" sz="3200" dirty="0">
              <a:solidFill>
                <a:schemeClr val="bg1"/>
              </a:solidFill>
            </a:endParaRPr>
          </a:p>
        </p:txBody>
      </p:sp>
      <p:sp>
        <p:nvSpPr>
          <p:cNvPr id="3" name="2 Marcador de contenido"/>
          <p:cNvSpPr>
            <a:spLocks noGrp="1"/>
          </p:cNvSpPr>
          <p:nvPr>
            <p:ph idx="1"/>
          </p:nvPr>
        </p:nvSpPr>
        <p:spPr>
          <a:xfrm>
            <a:off x="87225" y="1143000"/>
            <a:ext cx="8949272" cy="5145564"/>
          </a:xfrm>
        </p:spPr>
        <p:txBody>
          <a:bodyPr>
            <a:normAutofit/>
          </a:bodyPr>
          <a:lstStyle/>
          <a:p>
            <a:pPr marL="0" lvl="0" indent="0" algn="just">
              <a:lnSpc>
                <a:spcPct val="115000"/>
              </a:lnSpc>
              <a:buNone/>
            </a:pPr>
            <a:r>
              <a:rPr lang="es-CU" sz="2400" dirty="0">
                <a:latin typeface="Arial" panose="020B0604020202020204" pitchFamily="34" charset="0"/>
                <a:ea typeface="Calibri" panose="020F0502020204030204" pitchFamily="34" charset="0"/>
              </a:rPr>
              <a:t>Las historias técnicas o “Requisitos no funcionales” propiedades o cualidades que el producto debe tener.</a:t>
            </a: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15</a:t>
            </a:fld>
            <a:endParaRPr lang="es-ES"/>
          </a:p>
        </p:txBody>
      </p:sp>
      <p:sp>
        <p:nvSpPr>
          <p:cNvPr id="5" name="Rectangle 1">
            <a:extLst>
              <a:ext uri="{FF2B5EF4-FFF2-40B4-BE49-F238E27FC236}">
                <a16:creationId xmlns:a16="http://schemas.microsoft.com/office/drawing/2014/main" id="{B9132FF8-7028-0C0B-203C-BE109252354F}"/>
              </a:ext>
            </a:extLst>
          </p:cNvPr>
          <p:cNvSpPr>
            <a:spLocks noChangeArrowheads="1"/>
          </p:cNvSpPr>
          <p:nvPr/>
        </p:nvSpPr>
        <p:spPr bwMode="auto">
          <a:xfrm rot="10800000" flipV="1">
            <a:off x="107503" y="2145028"/>
            <a:ext cx="9145016" cy="41549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Seguro</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Usable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a:ln>
                  <a:noFill/>
                </a:ln>
                <a:solidFill>
                  <a:schemeClr val="tx1"/>
                </a:solidFill>
                <a:effectLst/>
                <a:latin typeface="Arial" panose="020B0604020202020204" pitchFamily="34" charset="0"/>
              </a:rPr>
              <a:t>Disponible</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err="1">
                <a:ln>
                  <a:noFill/>
                </a:ln>
                <a:solidFill>
                  <a:schemeClr val="tx1"/>
                </a:solidFill>
                <a:effectLst/>
                <a:latin typeface="Arial" panose="020B0604020202020204" pitchFamily="34" charset="0"/>
              </a:rPr>
              <a:t>Fiable</a:t>
            </a:r>
            <a:endParaRPr kumimoji="0" lang="en-US" altLang="en-US"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2400" b="1" i="0" u="none" strike="noStrike" cap="none" normalizeH="0" baseline="0" dirty="0" err="1">
                <a:ln>
                  <a:noFill/>
                </a:ln>
                <a:solidFill>
                  <a:schemeClr val="tx1"/>
                </a:solidFill>
                <a:effectLst/>
                <a:latin typeface="Arial" panose="020B0604020202020204" pitchFamily="34" charset="0"/>
              </a:rPr>
              <a:t>Mantenible</a:t>
            </a:r>
            <a:endParaRPr kumimoji="0" lang="en-US" altLang="en-US" sz="24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sz="2400" b="1" dirty="0">
              <a:latin typeface="Arial" panose="020B0604020202020204" pitchFamily="34" charset="0"/>
            </a:endParaRPr>
          </a:p>
          <a:p>
            <a:pPr eaLnBrk="0" fontAlgn="base" hangingPunct="0">
              <a:spcBef>
                <a:spcPct val="0"/>
              </a:spcBef>
              <a:spcAft>
                <a:spcPct val="0"/>
              </a:spcAft>
              <a:buFontTx/>
              <a:buChar char="•"/>
            </a:pPr>
            <a:r>
              <a:rPr lang="en-US" altLang="en-US" sz="2400" b="1" dirty="0" err="1">
                <a:latin typeface="Arial" panose="020B0604020202020204" pitchFamily="34" charset="0"/>
              </a:rPr>
              <a:t>Rápido</a:t>
            </a:r>
            <a:r>
              <a:rPr lang="en-US" altLang="en-US" sz="2400" b="1" dirty="0">
                <a:latin typeface="Arial" panose="020B0604020202020204" pitchFamily="34" charset="0"/>
              </a:rPr>
              <a:t> y </a:t>
            </a:r>
            <a:r>
              <a:rPr lang="en-US" altLang="en-US" sz="2400" b="1" dirty="0" err="1">
                <a:latin typeface="Arial" panose="020B0604020202020204" pitchFamily="34" charset="0"/>
              </a:rPr>
              <a:t>eficiente</a:t>
            </a:r>
            <a:r>
              <a:rPr lang="en-US" altLang="en-US" sz="2400" dirty="0">
                <a:latin typeface="Arial" panose="020B0604020202020204" pitchFamily="34" charset="0"/>
              </a:rPr>
              <a:t> </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7" name="Imagen 6">
            <a:extLst>
              <a:ext uri="{FF2B5EF4-FFF2-40B4-BE49-F238E27FC236}">
                <a16:creationId xmlns:a16="http://schemas.microsoft.com/office/drawing/2014/main" id="{95DBAF12-D682-A362-46F0-2657FAD2B0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76121" y="2039030"/>
            <a:ext cx="4799551" cy="3653211"/>
          </a:xfrm>
          <a:prstGeom prst="rect">
            <a:avLst/>
          </a:prstGeom>
        </p:spPr>
      </p:pic>
    </p:spTree>
    <p:extLst>
      <p:ext uri="{BB962C8B-B14F-4D97-AF65-F5344CB8AC3E}">
        <p14:creationId xmlns:p14="http://schemas.microsoft.com/office/powerpoint/2010/main" val="31081100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Historias de Usuarios</a:t>
            </a:r>
            <a:endParaRPr lang="es-ES" sz="3200" dirty="0">
              <a:solidFill>
                <a:schemeClr val="bg1"/>
              </a:solidFill>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16</a:t>
            </a:fld>
            <a:endParaRPr lang="es-ES"/>
          </a:p>
        </p:txBody>
      </p:sp>
      <p:pic>
        <p:nvPicPr>
          <p:cNvPr id="5" name="Imagen 4" descr="Texto, Escala de tiempo&#10;&#10;El contenido generado por IA puede ser incorrecto.">
            <a:extLst>
              <a:ext uri="{FF2B5EF4-FFF2-40B4-BE49-F238E27FC236}">
                <a16:creationId xmlns:a16="http://schemas.microsoft.com/office/drawing/2014/main" id="{D78F4414-2F2B-2EF9-328B-2306E229736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09258" y="1237944"/>
            <a:ext cx="6325483" cy="5118406"/>
          </a:xfrm>
          <a:prstGeom prst="rect">
            <a:avLst/>
          </a:prstGeom>
        </p:spPr>
      </p:pic>
      <p:pic>
        <p:nvPicPr>
          <p:cNvPr id="8" name="Imagen 7">
            <a:extLst>
              <a:ext uri="{FF2B5EF4-FFF2-40B4-BE49-F238E27FC236}">
                <a16:creationId xmlns:a16="http://schemas.microsoft.com/office/drawing/2014/main" id="{28E6CD89-0491-68F9-FB6C-666F04413AD1}"/>
              </a:ext>
            </a:extLst>
          </p:cNvPr>
          <p:cNvPicPr>
            <a:picLocks noChangeAspect="1"/>
          </p:cNvPicPr>
          <p:nvPr/>
        </p:nvPicPr>
        <p:blipFill>
          <a:blip r:embed="rId5"/>
          <a:stretch>
            <a:fillRect/>
          </a:stretch>
        </p:blipFill>
        <p:spPr>
          <a:xfrm>
            <a:off x="1399732" y="1228418"/>
            <a:ext cx="6344535" cy="4401164"/>
          </a:xfrm>
          <a:prstGeom prst="rect">
            <a:avLst/>
          </a:prstGeom>
        </p:spPr>
      </p:pic>
    </p:spTree>
    <p:extLst>
      <p:ext uri="{BB962C8B-B14F-4D97-AF65-F5344CB8AC3E}">
        <p14:creationId xmlns:p14="http://schemas.microsoft.com/office/powerpoint/2010/main" val="16804825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Arquitectura del Sistema</a:t>
            </a:r>
            <a:endParaRPr lang="es-ES" sz="3200" dirty="0">
              <a:solidFill>
                <a:schemeClr val="bg1"/>
              </a:solidFill>
            </a:endParaRPr>
          </a:p>
        </p:txBody>
      </p:sp>
      <p:sp>
        <p:nvSpPr>
          <p:cNvPr id="3" name="2 Marcador de contenido"/>
          <p:cNvSpPr>
            <a:spLocks noGrp="1"/>
          </p:cNvSpPr>
          <p:nvPr>
            <p:ph idx="1"/>
          </p:nvPr>
        </p:nvSpPr>
        <p:spPr>
          <a:xfrm>
            <a:off x="390364" y="1076393"/>
            <a:ext cx="8363271" cy="4814186"/>
          </a:xfrm>
        </p:spPr>
        <p:txBody>
          <a:bodyPr>
            <a:normAutofit/>
          </a:bodyPr>
          <a:lstStyle/>
          <a:p>
            <a:pPr marL="0" indent="0" algn="l">
              <a:buNone/>
            </a:pPr>
            <a:r>
              <a:rPr lang="es-ES" sz="2400" b="1" i="0" dirty="0">
                <a:effectLst/>
                <a:latin typeface="quote-cjk-patch"/>
              </a:rPr>
              <a:t>Modelo Vistas Controlador </a:t>
            </a:r>
            <a:r>
              <a:rPr lang="es-ES" sz="2400" b="0" i="0" dirty="0">
                <a:effectLst/>
                <a:latin typeface="quote-cjk-patch"/>
              </a:rPr>
              <a:t> es un patrón de arquitectura de software que organiza una aplicación en tres componentes principales:</a:t>
            </a:r>
          </a:p>
          <a:p>
            <a:pPr algn="l">
              <a:buFont typeface="+mj-lt"/>
              <a:buAutoNum type="arabicPeriod"/>
            </a:pPr>
            <a:r>
              <a:rPr lang="es-ES" sz="2400" b="1" i="0" dirty="0">
                <a:effectLst/>
                <a:latin typeface="quote-cjk-patch"/>
              </a:rPr>
              <a:t>Modelo</a:t>
            </a:r>
            <a:r>
              <a:rPr lang="es-ES" sz="2400" b="0" i="0" dirty="0">
                <a:effectLst/>
                <a:latin typeface="quote-cjk-patch"/>
              </a:rPr>
              <a:t>: Gestiona los </a:t>
            </a:r>
            <a:r>
              <a:rPr lang="es-ES" sz="2400" b="1" i="0" dirty="0">
                <a:effectLst/>
                <a:latin typeface="quote-cjk-patch"/>
              </a:rPr>
              <a:t>datos</a:t>
            </a:r>
            <a:r>
              <a:rPr lang="es-ES" sz="2400" b="0" i="0" dirty="0">
                <a:effectLst/>
                <a:latin typeface="quote-cjk-patch"/>
              </a:rPr>
              <a:t> y la </a:t>
            </a:r>
            <a:r>
              <a:rPr lang="es-ES" sz="2400" b="1" i="0" dirty="0">
                <a:effectLst/>
                <a:latin typeface="quote-cjk-patch"/>
              </a:rPr>
              <a:t>lógica de negocio</a:t>
            </a:r>
            <a:r>
              <a:rPr lang="es-ES" sz="2400" b="0" i="0" dirty="0">
                <a:effectLst/>
                <a:latin typeface="quote-cjk-patch"/>
              </a:rPr>
              <a:t>.</a:t>
            </a:r>
          </a:p>
          <a:p>
            <a:pPr algn="l">
              <a:buFont typeface="+mj-lt"/>
              <a:buAutoNum type="arabicPeriod"/>
            </a:pPr>
            <a:r>
              <a:rPr lang="es-ES" sz="2400" b="1" i="0" dirty="0">
                <a:effectLst/>
                <a:latin typeface="quote-cjk-patch"/>
              </a:rPr>
              <a:t>Vista</a:t>
            </a:r>
            <a:r>
              <a:rPr lang="es-ES" sz="2400" b="0" i="0" dirty="0">
                <a:effectLst/>
                <a:latin typeface="quote-cjk-patch"/>
              </a:rPr>
              <a:t>: Muestra la </a:t>
            </a:r>
            <a:r>
              <a:rPr lang="es-ES" sz="2400" b="1" i="0" dirty="0">
                <a:effectLst/>
                <a:latin typeface="quote-cjk-patch"/>
              </a:rPr>
              <a:t>interfaz gráfica</a:t>
            </a:r>
            <a:r>
              <a:rPr lang="es-ES" sz="2400" b="0" i="0" dirty="0">
                <a:effectLst/>
                <a:latin typeface="quote-cjk-patch"/>
              </a:rPr>
              <a:t> al usuario.</a:t>
            </a:r>
          </a:p>
          <a:p>
            <a:pPr algn="l">
              <a:buFont typeface="+mj-lt"/>
              <a:buAutoNum type="arabicPeriod"/>
            </a:pPr>
            <a:r>
              <a:rPr lang="es-ES" sz="2400" b="1" i="0" dirty="0">
                <a:effectLst/>
                <a:latin typeface="quote-cjk-patch"/>
              </a:rPr>
              <a:t>Controlador</a:t>
            </a:r>
            <a:r>
              <a:rPr lang="es-ES" sz="2400" b="0" i="0" dirty="0">
                <a:effectLst/>
                <a:latin typeface="quote-cjk-patch"/>
              </a:rPr>
              <a:t>: </a:t>
            </a:r>
            <a:r>
              <a:rPr lang="es-ES" sz="2400" b="1" i="0" dirty="0">
                <a:effectLst/>
                <a:latin typeface="quote-cjk-patch"/>
              </a:rPr>
              <a:t>Intermedia</a:t>
            </a:r>
            <a:r>
              <a:rPr lang="es-ES" sz="2400" b="0" i="0" dirty="0">
                <a:effectLst/>
                <a:latin typeface="quote-cjk-patch"/>
              </a:rPr>
              <a:t> entre el Modelo y la Vista.</a:t>
            </a:r>
          </a:p>
          <a:p>
            <a:pPr marL="457200" lvl="1" indent="0" algn="l">
              <a:buNone/>
            </a:pPr>
            <a:endParaRPr lang="es-ES" b="0" i="0" dirty="0">
              <a:effectLst/>
              <a:latin typeface="quote-cjk-patch"/>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17</a:t>
            </a:fld>
            <a:endParaRPr lang="es-ES"/>
          </a:p>
        </p:txBody>
      </p:sp>
      <p:pic>
        <p:nvPicPr>
          <p:cNvPr id="5" name="Imagen 4">
            <a:extLst>
              <a:ext uri="{FF2B5EF4-FFF2-40B4-BE49-F238E27FC236}">
                <a16:creationId xmlns:a16="http://schemas.microsoft.com/office/drawing/2014/main" id="{2E831681-87F0-B726-C8CF-C25514B79E5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172357" y="3717032"/>
            <a:ext cx="6214822" cy="2832904"/>
          </a:xfrm>
          <a:prstGeom prst="rect">
            <a:avLst/>
          </a:prstGeom>
          <a:noFill/>
          <a:ln w="3175" cmpd="sng">
            <a:solidFill>
              <a:srgbClr val="000000"/>
            </a:solidFill>
            <a:miter lim="800000"/>
            <a:headEnd/>
            <a:tailEnd/>
          </a:ln>
          <a:effectLst/>
        </p:spPr>
      </p:pic>
    </p:spTree>
    <p:extLst>
      <p:ext uri="{BB962C8B-B14F-4D97-AF65-F5344CB8AC3E}">
        <p14:creationId xmlns:p14="http://schemas.microsoft.com/office/powerpoint/2010/main" val="37874246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DF9AF-A900-2C6A-9258-413905233273}"/>
            </a:ext>
          </a:extLst>
        </p:cNvPr>
        <p:cNvGrpSpPr/>
        <p:nvPr/>
      </p:nvGrpSpPr>
      <p:grpSpPr>
        <a:xfrm>
          <a:off x="0" y="0"/>
          <a:ext cx="0" cy="0"/>
          <a:chOff x="0" y="0"/>
          <a:chExt cx="0" cy="0"/>
        </a:xfrm>
      </p:grpSpPr>
      <p:pic>
        <p:nvPicPr>
          <p:cNvPr id="2051" name="Picture 3">
            <a:extLst>
              <a:ext uri="{FF2B5EF4-FFF2-40B4-BE49-F238E27FC236}">
                <a16:creationId xmlns:a16="http://schemas.microsoft.com/office/drawing/2014/main" id="{7DF0E05C-6282-9938-ADAC-54200CF188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a:extLst>
              <a:ext uri="{FF2B5EF4-FFF2-40B4-BE49-F238E27FC236}">
                <a16:creationId xmlns:a16="http://schemas.microsoft.com/office/drawing/2014/main" id="{BD9ECABC-78E9-2D54-33F3-EC202AD630C6}"/>
              </a:ext>
            </a:extLst>
          </p:cNvPr>
          <p:cNvSpPr>
            <a:spLocks noGrp="1"/>
          </p:cNvSpPr>
          <p:nvPr>
            <p:ph type="title"/>
          </p:nvPr>
        </p:nvSpPr>
        <p:spPr>
          <a:xfrm>
            <a:off x="2555776" y="-66607"/>
            <a:ext cx="5410944" cy="1143000"/>
          </a:xfrm>
        </p:spPr>
        <p:txBody>
          <a:bodyPr>
            <a:normAutofit/>
          </a:bodyPr>
          <a:lstStyle/>
          <a:p>
            <a:r>
              <a:rPr lang="es-ES" sz="3200" b="1" dirty="0">
                <a:solidFill>
                  <a:schemeClr val="bg1"/>
                </a:solidFill>
              </a:rPr>
              <a:t>Diagrama de Clase</a:t>
            </a:r>
            <a:endParaRPr lang="es-ES" sz="3200" dirty="0">
              <a:solidFill>
                <a:schemeClr val="bg1"/>
              </a:solidFill>
            </a:endParaRPr>
          </a:p>
        </p:txBody>
      </p:sp>
      <p:pic>
        <p:nvPicPr>
          <p:cNvPr id="6" name="Imagen 5">
            <a:extLst>
              <a:ext uri="{FF2B5EF4-FFF2-40B4-BE49-F238E27FC236}">
                <a16:creationId xmlns:a16="http://schemas.microsoft.com/office/drawing/2014/main" id="{81C8510A-2485-FA22-EF1F-4E6579187B34}"/>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a:extLst>
              <a:ext uri="{FF2B5EF4-FFF2-40B4-BE49-F238E27FC236}">
                <a16:creationId xmlns:a16="http://schemas.microsoft.com/office/drawing/2014/main" id="{F932BFE7-6EAC-D277-C358-E0B67212B14E}"/>
              </a:ext>
            </a:extLst>
          </p:cNvPr>
          <p:cNvSpPr>
            <a:spLocks noGrp="1"/>
          </p:cNvSpPr>
          <p:nvPr>
            <p:ph type="sldNum" sz="quarter" idx="12"/>
          </p:nvPr>
        </p:nvSpPr>
        <p:spPr/>
        <p:txBody>
          <a:bodyPr/>
          <a:lstStyle/>
          <a:p>
            <a:fld id="{132FADFE-3B8F-471C-ABF0-DBC7717ECBBC}" type="slidenum">
              <a:rPr lang="es-ES" smtClean="0"/>
              <a:t>18</a:t>
            </a:fld>
            <a:endParaRPr lang="es-ES"/>
          </a:p>
        </p:txBody>
      </p:sp>
      <p:pic>
        <p:nvPicPr>
          <p:cNvPr id="8" name="Imagen 7">
            <a:extLst>
              <a:ext uri="{FF2B5EF4-FFF2-40B4-BE49-F238E27FC236}">
                <a16:creationId xmlns:a16="http://schemas.microsoft.com/office/drawing/2014/main" id="{F19CF6F5-435B-45FE-79EC-CBEF2BA70357}"/>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198315" y="2210328"/>
            <a:ext cx="8747369" cy="39527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701422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38939-866D-2637-A3B5-7E8A45E55A5C}"/>
            </a:ext>
          </a:extLst>
        </p:cNvPr>
        <p:cNvGrpSpPr/>
        <p:nvPr/>
      </p:nvGrpSpPr>
      <p:grpSpPr>
        <a:xfrm>
          <a:off x="0" y="0"/>
          <a:ext cx="0" cy="0"/>
          <a:chOff x="0" y="0"/>
          <a:chExt cx="0" cy="0"/>
        </a:xfrm>
      </p:grpSpPr>
      <p:pic>
        <p:nvPicPr>
          <p:cNvPr id="2051" name="Picture 3">
            <a:extLst>
              <a:ext uri="{FF2B5EF4-FFF2-40B4-BE49-F238E27FC236}">
                <a16:creationId xmlns:a16="http://schemas.microsoft.com/office/drawing/2014/main" id="{F663C5BF-8855-5031-76DA-6122DD1CB5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a:extLst>
              <a:ext uri="{FF2B5EF4-FFF2-40B4-BE49-F238E27FC236}">
                <a16:creationId xmlns:a16="http://schemas.microsoft.com/office/drawing/2014/main" id="{28193A7F-6EF9-859F-BF91-F4B2E6D278C2}"/>
              </a:ext>
            </a:extLst>
          </p:cNvPr>
          <p:cNvSpPr>
            <a:spLocks noGrp="1"/>
          </p:cNvSpPr>
          <p:nvPr>
            <p:ph type="title"/>
          </p:nvPr>
        </p:nvSpPr>
        <p:spPr>
          <a:xfrm>
            <a:off x="2555776" y="-66607"/>
            <a:ext cx="5410944" cy="1143000"/>
          </a:xfrm>
        </p:spPr>
        <p:txBody>
          <a:bodyPr>
            <a:normAutofit/>
          </a:bodyPr>
          <a:lstStyle/>
          <a:p>
            <a:r>
              <a:rPr lang="es-ES" sz="3200" b="1" dirty="0">
                <a:solidFill>
                  <a:schemeClr val="bg1"/>
                </a:solidFill>
              </a:rPr>
              <a:t>Diagrama de Base de Datos</a:t>
            </a:r>
            <a:endParaRPr lang="es-ES" sz="3200" dirty="0">
              <a:solidFill>
                <a:schemeClr val="bg1"/>
              </a:solidFill>
            </a:endParaRPr>
          </a:p>
        </p:txBody>
      </p:sp>
      <p:pic>
        <p:nvPicPr>
          <p:cNvPr id="6" name="Imagen 5">
            <a:extLst>
              <a:ext uri="{FF2B5EF4-FFF2-40B4-BE49-F238E27FC236}">
                <a16:creationId xmlns:a16="http://schemas.microsoft.com/office/drawing/2014/main" id="{5903C6CC-A1F7-F753-30E1-FEEC6D61A45C}"/>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a:extLst>
              <a:ext uri="{FF2B5EF4-FFF2-40B4-BE49-F238E27FC236}">
                <a16:creationId xmlns:a16="http://schemas.microsoft.com/office/drawing/2014/main" id="{EE3D403A-B725-A9CF-C0F7-81A1AA9E2A50}"/>
              </a:ext>
            </a:extLst>
          </p:cNvPr>
          <p:cNvSpPr>
            <a:spLocks noGrp="1"/>
          </p:cNvSpPr>
          <p:nvPr>
            <p:ph type="sldNum" sz="quarter" idx="12"/>
          </p:nvPr>
        </p:nvSpPr>
        <p:spPr/>
        <p:txBody>
          <a:bodyPr/>
          <a:lstStyle/>
          <a:p>
            <a:fld id="{132FADFE-3B8F-471C-ABF0-DBC7717ECBBC}" type="slidenum">
              <a:rPr lang="es-ES" smtClean="0"/>
              <a:t>19</a:t>
            </a:fld>
            <a:endParaRPr lang="es-ES"/>
          </a:p>
        </p:txBody>
      </p:sp>
      <p:pic>
        <p:nvPicPr>
          <p:cNvPr id="3" name="Imagen 2">
            <a:extLst>
              <a:ext uri="{FF2B5EF4-FFF2-40B4-BE49-F238E27FC236}">
                <a16:creationId xmlns:a16="http://schemas.microsoft.com/office/drawing/2014/main" id="{A629404C-73B6-9896-0A71-24B37887D6DD}"/>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0" y="1484784"/>
            <a:ext cx="9144000" cy="425937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132140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Pruebas de Aceptación</a:t>
            </a:r>
            <a:endParaRPr lang="es-ES" sz="3200" dirty="0">
              <a:solidFill>
                <a:schemeClr val="bg1"/>
              </a:solidFill>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20</a:t>
            </a:fld>
            <a:endParaRPr lang="es-ES"/>
          </a:p>
        </p:txBody>
      </p:sp>
      <p:pic>
        <p:nvPicPr>
          <p:cNvPr id="9" name="Marcador de contenido 8" descr="Texto&#10;&#10;El contenido generado por IA puede ser incorrecto.">
            <a:extLst>
              <a:ext uri="{FF2B5EF4-FFF2-40B4-BE49-F238E27FC236}">
                <a16:creationId xmlns:a16="http://schemas.microsoft.com/office/drawing/2014/main" id="{E4913D87-377B-A201-E583-844BABA23E83}"/>
              </a:ext>
            </a:extLst>
          </p:cNvPr>
          <p:cNvPicPr>
            <a:picLocks noGrp="1" noChangeAspect="1"/>
          </p:cNvPicPr>
          <p:nvPr>
            <p:ph idx="1"/>
          </p:nvPr>
        </p:nvPicPr>
        <p:blipFill>
          <a:blip r:embed="rId4">
            <a:extLst>
              <a:ext uri="{28A0092B-C50C-407E-A947-70E740481C1C}">
                <a14:useLocalDpi xmlns:a14="http://schemas.microsoft.com/office/drawing/2010/main" val="0"/>
              </a:ext>
            </a:extLst>
          </a:blip>
          <a:stretch>
            <a:fillRect/>
          </a:stretch>
        </p:blipFill>
        <p:spPr>
          <a:xfrm>
            <a:off x="763986" y="1725972"/>
            <a:ext cx="7761129" cy="3406056"/>
          </a:xfrm>
        </p:spPr>
      </p:pic>
    </p:spTree>
    <p:extLst>
      <p:ext uri="{BB962C8B-B14F-4D97-AF65-F5344CB8AC3E}">
        <p14:creationId xmlns:p14="http://schemas.microsoft.com/office/powerpoint/2010/main" val="1827015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p:cNvSpPr>
            <a:spLocks noGrp="1"/>
          </p:cNvSpPr>
          <p:nvPr>
            <p:ph type="title"/>
          </p:nvPr>
        </p:nvSpPr>
        <p:spPr>
          <a:xfrm>
            <a:off x="2555776" y="-66607"/>
            <a:ext cx="5410944" cy="1143000"/>
          </a:xfrm>
        </p:spPr>
        <p:txBody>
          <a:bodyPr>
            <a:normAutofit/>
          </a:bodyPr>
          <a:lstStyle/>
          <a:p>
            <a:r>
              <a:rPr lang="es-ES" sz="3200" b="1" dirty="0">
                <a:solidFill>
                  <a:schemeClr val="bg1"/>
                </a:solidFill>
              </a:rPr>
              <a:t>Interfaz Del Sistema</a:t>
            </a:r>
            <a:endParaRPr lang="es-ES" sz="3200" dirty="0">
              <a:solidFill>
                <a:schemeClr val="bg1"/>
              </a:solidFill>
            </a:endParaRPr>
          </a:p>
        </p:txBody>
      </p:sp>
      <p:pic>
        <p:nvPicPr>
          <p:cNvPr id="6" name="Imagen 5"/>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p:cNvSpPr>
            <a:spLocks noGrp="1"/>
          </p:cNvSpPr>
          <p:nvPr>
            <p:ph type="sldNum" sz="quarter" idx="12"/>
          </p:nvPr>
        </p:nvSpPr>
        <p:spPr/>
        <p:txBody>
          <a:bodyPr/>
          <a:lstStyle/>
          <a:p>
            <a:fld id="{132FADFE-3B8F-471C-ABF0-DBC7717ECBBC}" type="slidenum">
              <a:rPr lang="es-ES" smtClean="0"/>
              <a:t>21</a:t>
            </a:fld>
            <a:endParaRPr lang="es-ES"/>
          </a:p>
        </p:txBody>
      </p:sp>
      <p:pic>
        <p:nvPicPr>
          <p:cNvPr id="5" name="Imagen 4" descr="Captura de pantalla de un celular&#10;&#10;El contenido generado por IA puede ser incorrecto.">
            <a:extLst>
              <a:ext uri="{FF2B5EF4-FFF2-40B4-BE49-F238E27FC236}">
                <a16:creationId xmlns:a16="http://schemas.microsoft.com/office/drawing/2014/main" id="{CA8A267A-2666-E415-9FA5-487C5C9590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659828"/>
            <a:ext cx="9144000" cy="4568140"/>
          </a:xfrm>
          <a:prstGeom prst="rect">
            <a:avLst/>
          </a:prstGeom>
        </p:spPr>
      </p:pic>
    </p:spTree>
    <p:extLst>
      <p:ext uri="{BB962C8B-B14F-4D97-AF65-F5344CB8AC3E}">
        <p14:creationId xmlns:p14="http://schemas.microsoft.com/office/powerpoint/2010/main" val="6694806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9601A-BF2D-58EC-C684-BA01BEA14A39}"/>
            </a:ext>
          </a:extLst>
        </p:cNvPr>
        <p:cNvGrpSpPr/>
        <p:nvPr/>
      </p:nvGrpSpPr>
      <p:grpSpPr>
        <a:xfrm>
          <a:off x="0" y="0"/>
          <a:ext cx="0" cy="0"/>
          <a:chOff x="0" y="0"/>
          <a:chExt cx="0" cy="0"/>
        </a:xfrm>
      </p:grpSpPr>
      <p:pic>
        <p:nvPicPr>
          <p:cNvPr id="2051" name="Picture 3">
            <a:extLst>
              <a:ext uri="{FF2B5EF4-FFF2-40B4-BE49-F238E27FC236}">
                <a16:creationId xmlns:a16="http://schemas.microsoft.com/office/drawing/2014/main" id="{722236E3-E8D9-C745-2569-7D3BEA05C3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a:extLst>
              <a:ext uri="{FF2B5EF4-FFF2-40B4-BE49-F238E27FC236}">
                <a16:creationId xmlns:a16="http://schemas.microsoft.com/office/drawing/2014/main" id="{3162B693-5543-8973-343D-04BA6FD70BEC}"/>
              </a:ext>
            </a:extLst>
          </p:cNvPr>
          <p:cNvSpPr>
            <a:spLocks noGrp="1"/>
          </p:cNvSpPr>
          <p:nvPr>
            <p:ph type="title"/>
          </p:nvPr>
        </p:nvSpPr>
        <p:spPr>
          <a:xfrm>
            <a:off x="2555776" y="-66607"/>
            <a:ext cx="5410944" cy="1143000"/>
          </a:xfrm>
        </p:spPr>
        <p:txBody>
          <a:bodyPr>
            <a:normAutofit/>
          </a:bodyPr>
          <a:lstStyle/>
          <a:p>
            <a:r>
              <a:rPr lang="es-ES" sz="3200" b="1" dirty="0">
                <a:solidFill>
                  <a:schemeClr val="bg1"/>
                </a:solidFill>
              </a:rPr>
              <a:t>Conclusiones</a:t>
            </a:r>
            <a:endParaRPr lang="es-ES" sz="3200" dirty="0">
              <a:solidFill>
                <a:schemeClr val="bg1"/>
              </a:solidFill>
            </a:endParaRPr>
          </a:p>
        </p:txBody>
      </p:sp>
      <p:pic>
        <p:nvPicPr>
          <p:cNvPr id="6" name="Imagen 5">
            <a:extLst>
              <a:ext uri="{FF2B5EF4-FFF2-40B4-BE49-F238E27FC236}">
                <a16:creationId xmlns:a16="http://schemas.microsoft.com/office/drawing/2014/main" id="{141C44B4-1304-3F03-518C-29280674BF3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a:extLst>
              <a:ext uri="{FF2B5EF4-FFF2-40B4-BE49-F238E27FC236}">
                <a16:creationId xmlns:a16="http://schemas.microsoft.com/office/drawing/2014/main" id="{A60761BD-A242-3D09-756C-7D014739C275}"/>
              </a:ext>
            </a:extLst>
          </p:cNvPr>
          <p:cNvSpPr>
            <a:spLocks noGrp="1"/>
          </p:cNvSpPr>
          <p:nvPr>
            <p:ph type="sldNum" sz="quarter" idx="12"/>
          </p:nvPr>
        </p:nvSpPr>
        <p:spPr/>
        <p:txBody>
          <a:bodyPr/>
          <a:lstStyle/>
          <a:p>
            <a:fld id="{132FADFE-3B8F-471C-ABF0-DBC7717ECBBC}" type="slidenum">
              <a:rPr lang="es-ES" smtClean="0"/>
              <a:t>22</a:t>
            </a:fld>
            <a:endParaRPr lang="es-ES"/>
          </a:p>
        </p:txBody>
      </p:sp>
      <p:sp>
        <p:nvSpPr>
          <p:cNvPr id="7" name="CuadroTexto 6">
            <a:extLst>
              <a:ext uri="{FF2B5EF4-FFF2-40B4-BE49-F238E27FC236}">
                <a16:creationId xmlns:a16="http://schemas.microsoft.com/office/drawing/2014/main" id="{87CC387C-F119-8F29-9349-7312B7CF7076}"/>
              </a:ext>
            </a:extLst>
          </p:cNvPr>
          <p:cNvSpPr txBox="1"/>
          <p:nvPr/>
        </p:nvSpPr>
        <p:spPr>
          <a:xfrm>
            <a:off x="0" y="1412776"/>
            <a:ext cx="9036496" cy="3301032"/>
          </a:xfrm>
          <a:prstGeom prst="rect">
            <a:avLst/>
          </a:prstGeom>
          <a:noFill/>
        </p:spPr>
        <p:txBody>
          <a:bodyPr wrap="square">
            <a:spAutoFit/>
          </a:bodyPr>
          <a:lstStyle/>
          <a:p>
            <a:pPr marL="285750" indent="-285750" algn="just">
              <a:lnSpc>
                <a:spcPts val="2143"/>
              </a:lnSpc>
              <a:spcBef>
                <a:spcPts val="1029"/>
              </a:spcBef>
              <a:spcAft>
                <a:spcPts val="1029"/>
              </a:spcAft>
              <a:buFont typeface="Wingdings" panose="05000000000000000000" pitchFamily="2" charset="2"/>
              <a:buChar char="Ø"/>
            </a:pPr>
            <a:r>
              <a:rPr lang="es-ES" sz="2400" b="0" i="0" dirty="0">
                <a:solidFill>
                  <a:srgbClr val="404040"/>
                </a:solidFill>
                <a:effectLst/>
                <a:latin typeface="Arial" panose="020B0604020202020204" pitchFamily="34" charset="0"/>
                <a:cs typeface="Arial" panose="020B0604020202020204" pitchFamily="34" charset="0"/>
              </a:rPr>
              <a:t>Implementada solución web especializada para gestión y cálculo de transporte de sedimentos en costas sur-orientales de Cuba, fortaleciendo análisis ambiental y toma de decisiones costeras.</a:t>
            </a:r>
          </a:p>
          <a:p>
            <a:pPr marL="285750" indent="-285750" algn="just">
              <a:lnSpc>
                <a:spcPts val="2143"/>
              </a:lnSpc>
              <a:spcBef>
                <a:spcPts val="1029"/>
              </a:spcBef>
              <a:spcAft>
                <a:spcPts val="1029"/>
              </a:spcAft>
              <a:buFont typeface="Wingdings" panose="05000000000000000000" pitchFamily="2" charset="2"/>
              <a:buChar char="Ø"/>
            </a:pPr>
            <a:r>
              <a:rPr lang="es-ES" sz="2400" b="0" i="0" dirty="0">
                <a:solidFill>
                  <a:srgbClr val="404040"/>
                </a:solidFill>
                <a:effectLst/>
                <a:latin typeface="Arial" panose="020B0604020202020204" pitchFamily="34" charset="0"/>
                <a:cs typeface="Arial" panose="020B0604020202020204" pitchFamily="34" charset="0"/>
              </a:rPr>
              <a:t>Automatización mediante modelos matemáticos validados, eliminando errores manuales y reduciendo tiempos de análisis en estudios costeros.</a:t>
            </a:r>
          </a:p>
          <a:p>
            <a:pPr marL="285750" indent="-285750" algn="just">
              <a:lnSpc>
                <a:spcPts val="2143"/>
              </a:lnSpc>
              <a:spcBef>
                <a:spcPts val="1029"/>
              </a:spcBef>
              <a:spcAft>
                <a:spcPts val="1029"/>
              </a:spcAft>
              <a:buFont typeface="Wingdings" panose="05000000000000000000" pitchFamily="2" charset="2"/>
              <a:buChar char="Ø"/>
            </a:pPr>
            <a:r>
              <a:rPr lang="es-ES" sz="2400" b="0" i="0" dirty="0">
                <a:solidFill>
                  <a:srgbClr val="404040"/>
                </a:solidFill>
                <a:effectLst/>
                <a:latin typeface="Arial" panose="020B0604020202020204" pitchFamily="34" charset="0"/>
                <a:cs typeface="Arial" panose="020B0604020202020204" pitchFamily="34" charset="0"/>
              </a:rPr>
              <a:t>Solución contextualizada que digitaliza y optimiza el control técnico de sedimentos, contribuyendo a la conservación de ecosistemas costeros vulnerables.</a:t>
            </a:r>
          </a:p>
        </p:txBody>
      </p:sp>
    </p:spTree>
    <p:extLst>
      <p:ext uri="{BB962C8B-B14F-4D97-AF65-F5344CB8AC3E}">
        <p14:creationId xmlns:p14="http://schemas.microsoft.com/office/powerpoint/2010/main" val="2193556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4717B7-29FE-8A87-F45E-66C86F3F0B99}"/>
            </a:ext>
          </a:extLst>
        </p:cNvPr>
        <p:cNvGrpSpPr/>
        <p:nvPr/>
      </p:nvGrpSpPr>
      <p:grpSpPr>
        <a:xfrm>
          <a:off x="0" y="0"/>
          <a:ext cx="0" cy="0"/>
          <a:chOff x="0" y="0"/>
          <a:chExt cx="0" cy="0"/>
        </a:xfrm>
      </p:grpSpPr>
      <p:pic>
        <p:nvPicPr>
          <p:cNvPr id="2051" name="Picture 3">
            <a:extLst>
              <a:ext uri="{FF2B5EF4-FFF2-40B4-BE49-F238E27FC236}">
                <a16:creationId xmlns:a16="http://schemas.microsoft.com/office/drawing/2014/main" id="{62A2215C-EC2A-D53D-2D77-14C748AA18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a:extLst>
              <a:ext uri="{FF2B5EF4-FFF2-40B4-BE49-F238E27FC236}">
                <a16:creationId xmlns:a16="http://schemas.microsoft.com/office/drawing/2014/main" id="{246252CE-9A8E-B277-0617-472B113B2BD8}"/>
              </a:ext>
            </a:extLst>
          </p:cNvPr>
          <p:cNvSpPr>
            <a:spLocks noGrp="1"/>
          </p:cNvSpPr>
          <p:nvPr>
            <p:ph type="title"/>
          </p:nvPr>
        </p:nvSpPr>
        <p:spPr>
          <a:xfrm>
            <a:off x="2555776" y="-66607"/>
            <a:ext cx="5410944" cy="1143000"/>
          </a:xfrm>
        </p:spPr>
        <p:txBody>
          <a:bodyPr>
            <a:normAutofit/>
          </a:bodyPr>
          <a:lstStyle/>
          <a:p>
            <a:r>
              <a:rPr lang="es-ES" sz="3200" b="1" dirty="0">
                <a:solidFill>
                  <a:schemeClr val="bg1"/>
                </a:solidFill>
              </a:rPr>
              <a:t>Recomendaciones</a:t>
            </a:r>
            <a:endParaRPr lang="es-ES" sz="3200" dirty="0">
              <a:solidFill>
                <a:schemeClr val="bg1"/>
              </a:solidFill>
            </a:endParaRPr>
          </a:p>
        </p:txBody>
      </p:sp>
      <p:pic>
        <p:nvPicPr>
          <p:cNvPr id="6" name="Imagen 5">
            <a:extLst>
              <a:ext uri="{FF2B5EF4-FFF2-40B4-BE49-F238E27FC236}">
                <a16:creationId xmlns:a16="http://schemas.microsoft.com/office/drawing/2014/main" id="{E4B25A5E-09B2-0494-7C5C-F992F5DCBE3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a:extLst>
              <a:ext uri="{FF2B5EF4-FFF2-40B4-BE49-F238E27FC236}">
                <a16:creationId xmlns:a16="http://schemas.microsoft.com/office/drawing/2014/main" id="{2A462989-F7BB-4261-092E-730278A3AB8B}"/>
              </a:ext>
            </a:extLst>
          </p:cNvPr>
          <p:cNvSpPr>
            <a:spLocks noGrp="1"/>
          </p:cNvSpPr>
          <p:nvPr>
            <p:ph type="sldNum" sz="quarter" idx="12"/>
          </p:nvPr>
        </p:nvSpPr>
        <p:spPr/>
        <p:txBody>
          <a:bodyPr/>
          <a:lstStyle/>
          <a:p>
            <a:fld id="{132FADFE-3B8F-471C-ABF0-DBC7717ECBBC}" type="slidenum">
              <a:rPr lang="es-ES" smtClean="0"/>
              <a:t>23</a:t>
            </a:fld>
            <a:endParaRPr lang="es-ES"/>
          </a:p>
        </p:txBody>
      </p:sp>
      <p:sp>
        <p:nvSpPr>
          <p:cNvPr id="7" name="CuadroTexto 6">
            <a:extLst>
              <a:ext uri="{FF2B5EF4-FFF2-40B4-BE49-F238E27FC236}">
                <a16:creationId xmlns:a16="http://schemas.microsoft.com/office/drawing/2014/main" id="{7299EAE4-8F49-30FA-D9C8-3D952D64AD6C}"/>
              </a:ext>
            </a:extLst>
          </p:cNvPr>
          <p:cNvSpPr txBox="1"/>
          <p:nvPr/>
        </p:nvSpPr>
        <p:spPr>
          <a:xfrm>
            <a:off x="0" y="1412776"/>
            <a:ext cx="9036496" cy="4062651"/>
          </a:xfrm>
          <a:prstGeom prst="rect">
            <a:avLst/>
          </a:prstGeom>
          <a:noFill/>
        </p:spPr>
        <p:txBody>
          <a:bodyPr wrap="square">
            <a:spAutoFit/>
          </a:bodyPr>
          <a:lstStyle/>
          <a:p>
            <a:br>
              <a:rPr lang="es-ES" dirty="0"/>
            </a:br>
            <a:r>
              <a:rPr lang="es-ES" sz="2400" dirty="0">
                <a:latin typeface="Arial" panose="020B0604020202020204" pitchFamily="34" charset="0"/>
                <a:cs typeface="Arial" panose="020B0604020202020204" pitchFamily="34" charset="0"/>
              </a:rPr>
              <a:t>• Ampliar módulos funcionales</a:t>
            </a:r>
          </a:p>
          <a:p>
            <a:br>
              <a:rPr lang="es-ES" sz="2400" dirty="0">
                <a:latin typeface="Arial" panose="020B0604020202020204" pitchFamily="34" charset="0"/>
                <a:cs typeface="Arial" panose="020B0604020202020204" pitchFamily="34" charset="0"/>
              </a:rPr>
            </a:br>
            <a:r>
              <a:rPr lang="es-ES" sz="2400" dirty="0">
                <a:latin typeface="Arial" panose="020B0604020202020204" pitchFamily="34" charset="0"/>
                <a:cs typeface="Arial" panose="020B0604020202020204" pitchFamily="34" charset="0"/>
              </a:rPr>
              <a:t>• Implementar microservicios para estadísticas históricas y control de zonas de riesgo</a:t>
            </a:r>
          </a:p>
          <a:p>
            <a:br>
              <a:rPr lang="es-ES" sz="2400" dirty="0">
                <a:latin typeface="Arial" panose="020B0604020202020204" pitchFamily="34" charset="0"/>
                <a:cs typeface="Arial" panose="020B0604020202020204" pitchFamily="34" charset="0"/>
              </a:rPr>
            </a:br>
            <a:r>
              <a:rPr lang="es-ES" sz="2400" dirty="0">
                <a:latin typeface="Arial" panose="020B0604020202020204" pitchFamily="34" charset="0"/>
                <a:cs typeface="Arial" panose="020B0604020202020204" pitchFamily="34" charset="0"/>
              </a:rPr>
              <a:t>• Ajustar algoritmos con especialistas de GEOCUBA según evolución de modelos y necesidades regionales</a:t>
            </a:r>
          </a:p>
          <a:p>
            <a:br>
              <a:rPr lang="es-ES" sz="2400" dirty="0">
                <a:latin typeface="Arial" panose="020B0604020202020204" pitchFamily="34" charset="0"/>
                <a:cs typeface="Arial" panose="020B0604020202020204" pitchFamily="34" charset="0"/>
              </a:rPr>
            </a:br>
            <a:r>
              <a:rPr lang="es-ES" sz="2400" dirty="0">
                <a:latin typeface="Arial" panose="020B0604020202020204" pitchFamily="34" charset="0"/>
                <a:cs typeface="Arial" panose="020B0604020202020204" pitchFamily="34" charset="0"/>
              </a:rPr>
              <a:t>• Evaluar extensión del sistema a otras provincias costeras con problemas similares de erosión/sedimentación</a:t>
            </a:r>
          </a:p>
        </p:txBody>
      </p:sp>
    </p:spTree>
    <p:extLst>
      <p:ext uri="{BB962C8B-B14F-4D97-AF65-F5344CB8AC3E}">
        <p14:creationId xmlns:p14="http://schemas.microsoft.com/office/powerpoint/2010/main" val="35542140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E35C2-407E-D55E-8888-3F2800BFFFF2}"/>
            </a:ext>
          </a:extLst>
        </p:cNvPr>
        <p:cNvGrpSpPr/>
        <p:nvPr/>
      </p:nvGrpSpPr>
      <p:grpSpPr>
        <a:xfrm>
          <a:off x="0" y="0"/>
          <a:ext cx="0" cy="0"/>
          <a:chOff x="0" y="0"/>
          <a:chExt cx="0" cy="0"/>
        </a:xfrm>
      </p:grpSpPr>
      <p:pic>
        <p:nvPicPr>
          <p:cNvPr id="1028" name="Picture 4">
            <a:extLst>
              <a:ext uri="{FF2B5EF4-FFF2-40B4-BE49-F238E27FC236}">
                <a16:creationId xmlns:a16="http://schemas.microsoft.com/office/drawing/2014/main" id="{C453890D-D67F-6D58-A3BB-443EA87BE3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600" y="1517"/>
            <a:ext cx="3816424" cy="685758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1 CuadroTexto">
            <a:extLst>
              <a:ext uri="{FF2B5EF4-FFF2-40B4-BE49-F238E27FC236}">
                <a16:creationId xmlns:a16="http://schemas.microsoft.com/office/drawing/2014/main" id="{97F277A7-F9AD-5A78-9FCE-892A766DFC0A}"/>
              </a:ext>
            </a:extLst>
          </p:cNvPr>
          <p:cNvSpPr txBox="1"/>
          <p:nvPr/>
        </p:nvSpPr>
        <p:spPr>
          <a:xfrm>
            <a:off x="3129897" y="2638266"/>
            <a:ext cx="5844674" cy="707886"/>
          </a:xfrm>
          <a:prstGeom prst="rect">
            <a:avLst/>
          </a:prstGeom>
          <a:noFill/>
        </p:spPr>
        <p:txBody>
          <a:bodyPr wrap="square" rtlCol="0">
            <a:spAutoFit/>
          </a:bodyPr>
          <a:lstStyle/>
          <a:p>
            <a:pPr algn="ctr"/>
            <a:r>
              <a:rPr lang="es-ES" sz="4000" b="1" dirty="0"/>
              <a:t>Trabajo de Diploma</a:t>
            </a:r>
          </a:p>
        </p:txBody>
      </p:sp>
      <p:sp>
        <p:nvSpPr>
          <p:cNvPr id="8" name="1 CuadroTexto">
            <a:extLst>
              <a:ext uri="{FF2B5EF4-FFF2-40B4-BE49-F238E27FC236}">
                <a16:creationId xmlns:a16="http://schemas.microsoft.com/office/drawing/2014/main" id="{184D8B79-5B46-F4C0-DC36-84B9A18FF598}"/>
              </a:ext>
            </a:extLst>
          </p:cNvPr>
          <p:cNvSpPr txBox="1"/>
          <p:nvPr/>
        </p:nvSpPr>
        <p:spPr>
          <a:xfrm>
            <a:off x="3008208" y="5346413"/>
            <a:ext cx="6135792" cy="1569660"/>
          </a:xfrm>
          <a:prstGeom prst="rect">
            <a:avLst/>
          </a:prstGeom>
          <a:noFill/>
        </p:spPr>
        <p:txBody>
          <a:bodyPr wrap="square" rtlCol="0">
            <a:spAutoFit/>
          </a:bodyPr>
          <a:lstStyle/>
          <a:p>
            <a:r>
              <a:rPr lang="es-ES" sz="2000" b="1" dirty="0"/>
              <a:t>Autor: </a:t>
            </a:r>
            <a:r>
              <a:rPr lang="es-ES" sz="2000" dirty="0"/>
              <a:t>Dariel Enmanuel Cabrera López</a:t>
            </a:r>
          </a:p>
          <a:p>
            <a:r>
              <a:rPr lang="es-ES" sz="2000" b="1" dirty="0"/>
              <a:t>Tutor:  </a:t>
            </a:r>
            <a:r>
              <a:rPr lang="es-CU" sz="1800" dirty="0" err="1">
                <a:effectLst/>
                <a:latin typeface="Arial" panose="020B0604020202020204" pitchFamily="34" charset="0"/>
                <a:ea typeface="Arial" panose="020B0604020202020204" pitchFamily="34" charset="0"/>
              </a:rPr>
              <a:t>Dr.C</a:t>
            </a:r>
            <a:r>
              <a:rPr lang="es-CU" sz="1800" dirty="0">
                <a:effectLst/>
                <a:latin typeface="Arial" panose="020B0604020202020204" pitchFamily="34" charset="0"/>
                <a:ea typeface="Arial" panose="020B0604020202020204" pitchFamily="34" charset="0"/>
              </a:rPr>
              <a:t> </a:t>
            </a:r>
            <a:r>
              <a:rPr lang="es-CU" sz="1800" dirty="0" err="1">
                <a:effectLst/>
                <a:latin typeface="Arial" panose="020B0604020202020204" pitchFamily="34" charset="0"/>
                <a:ea typeface="Arial" panose="020B0604020202020204" pitchFamily="34" charset="0"/>
              </a:rPr>
              <a:t>Dionis</a:t>
            </a:r>
            <a:r>
              <a:rPr lang="es-CU" sz="1800" dirty="0">
                <a:effectLst/>
                <a:latin typeface="Arial" panose="020B0604020202020204" pitchFamily="34" charset="0"/>
                <a:ea typeface="Arial" panose="020B0604020202020204" pitchFamily="34" charset="0"/>
              </a:rPr>
              <a:t> López Ramos</a:t>
            </a:r>
            <a:r>
              <a:rPr lang="es-CU" sz="1800" dirty="0">
                <a:solidFill>
                  <a:srgbClr val="000000"/>
                </a:solidFill>
                <a:effectLst/>
                <a:latin typeface="Arial" panose="020B0604020202020204" pitchFamily="34" charset="0"/>
                <a:ea typeface="Arial" panose="020B0604020202020204" pitchFamily="34" charset="0"/>
              </a:rPr>
              <a:t> </a:t>
            </a:r>
          </a:p>
          <a:p>
            <a:endParaRPr lang="es-CU" sz="1800" dirty="0">
              <a:solidFill>
                <a:srgbClr val="000000"/>
              </a:solidFill>
              <a:effectLst/>
              <a:latin typeface="Arial" panose="020B0604020202020204" pitchFamily="34" charset="0"/>
              <a:ea typeface="Arial" panose="020B0604020202020204" pitchFamily="34" charset="0"/>
            </a:endParaRPr>
          </a:p>
          <a:p>
            <a:pPr algn="ctr"/>
            <a:r>
              <a:rPr lang="es-CU" dirty="0">
                <a:solidFill>
                  <a:srgbClr val="000000"/>
                </a:solidFill>
                <a:latin typeface="Arial" panose="020B0604020202020204" pitchFamily="34" charset="0"/>
              </a:rPr>
              <a:t>Santiago de Cuba</a:t>
            </a:r>
            <a:endParaRPr lang="es-ES" sz="2000" dirty="0"/>
          </a:p>
          <a:p>
            <a:pPr algn="ctr"/>
            <a:r>
              <a:rPr lang="es-ES" sz="2000" dirty="0"/>
              <a:t>2025</a:t>
            </a:r>
          </a:p>
        </p:txBody>
      </p:sp>
      <p:sp>
        <p:nvSpPr>
          <p:cNvPr id="10" name="1 CuadroTexto">
            <a:extLst>
              <a:ext uri="{FF2B5EF4-FFF2-40B4-BE49-F238E27FC236}">
                <a16:creationId xmlns:a16="http://schemas.microsoft.com/office/drawing/2014/main" id="{88843958-D34B-E74E-EAAD-04FE363EC8E4}"/>
              </a:ext>
            </a:extLst>
          </p:cNvPr>
          <p:cNvSpPr txBox="1"/>
          <p:nvPr/>
        </p:nvSpPr>
        <p:spPr>
          <a:xfrm>
            <a:off x="3008208" y="3402690"/>
            <a:ext cx="6088051" cy="1755802"/>
          </a:xfrm>
          <a:prstGeom prst="rect">
            <a:avLst/>
          </a:prstGeom>
          <a:noFill/>
        </p:spPr>
        <p:txBody>
          <a:bodyPr wrap="square" rtlCol="0">
            <a:spAutoFit/>
          </a:bodyPr>
          <a:lstStyle/>
          <a:p>
            <a:pPr algn="just"/>
            <a:r>
              <a:rPr lang="es-CU" sz="2400" b="1" dirty="0"/>
              <a:t>Tema:</a:t>
            </a:r>
          </a:p>
          <a:p>
            <a:pPr marL="6350" indent="-6350" algn="just">
              <a:lnSpc>
                <a:spcPct val="146000"/>
              </a:lnSpc>
              <a:spcAft>
                <a:spcPts val="635"/>
              </a:spcAft>
            </a:pPr>
            <a:r>
              <a:rPr lang="es-CU" sz="2000" dirty="0">
                <a:solidFill>
                  <a:srgbClr val="000000"/>
                </a:solidFill>
                <a:effectLst/>
                <a:latin typeface="Arial" panose="020B0604020202020204" pitchFamily="34" charset="0"/>
                <a:ea typeface="Arial" panose="020B0604020202020204" pitchFamily="34" charset="0"/>
              </a:rPr>
              <a:t>"Sistema Informático para la Gestión del Cálculo del Transporte de Sedimentos en Costas Sur-Orientales" </a:t>
            </a:r>
          </a:p>
        </p:txBody>
      </p:sp>
      <p:pic>
        <p:nvPicPr>
          <p:cNvPr id="2" name="Imagen 1">
            <a:extLst>
              <a:ext uri="{FF2B5EF4-FFF2-40B4-BE49-F238E27FC236}">
                <a16:creationId xmlns:a16="http://schemas.microsoft.com/office/drawing/2014/main" id="{EE99770C-6182-05B0-97D6-7A69C59F534F}"/>
              </a:ext>
            </a:extLst>
          </p:cNvPr>
          <p:cNvPicPr>
            <a:picLocks noChangeAspect="1"/>
          </p:cNvPicPr>
          <p:nvPr/>
        </p:nvPicPr>
        <p:blipFill>
          <a:blip r:embed="rId3"/>
          <a:stretch>
            <a:fillRect/>
          </a:stretch>
        </p:blipFill>
        <p:spPr>
          <a:xfrm>
            <a:off x="5415060" y="43252"/>
            <a:ext cx="1513539" cy="1513539"/>
          </a:xfrm>
          <a:prstGeom prst="rect">
            <a:avLst/>
          </a:prstGeom>
        </p:spPr>
      </p:pic>
      <p:sp>
        <p:nvSpPr>
          <p:cNvPr id="3" name="Rectángulo 2">
            <a:extLst>
              <a:ext uri="{FF2B5EF4-FFF2-40B4-BE49-F238E27FC236}">
                <a16:creationId xmlns:a16="http://schemas.microsoft.com/office/drawing/2014/main" id="{A87D22FA-8AC6-E60C-42C1-259F302FF827}"/>
              </a:ext>
            </a:extLst>
          </p:cNvPr>
          <p:cNvSpPr/>
          <p:nvPr/>
        </p:nvSpPr>
        <p:spPr>
          <a:xfrm>
            <a:off x="3203848" y="1483007"/>
            <a:ext cx="5940151" cy="1015663"/>
          </a:xfrm>
          <a:prstGeom prst="rect">
            <a:avLst/>
          </a:prstGeom>
        </p:spPr>
        <p:txBody>
          <a:bodyPr wrap="square">
            <a:spAutoFit/>
          </a:bodyPr>
          <a:lstStyle/>
          <a:p>
            <a:pPr algn="ctr"/>
            <a:r>
              <a:rPr lang="es-ES" sz="2000" b="1" dirty="0"/>
              <a:t>Facultad de Ingeniería en </a:t>
            </a:r>
          </a:p>
          <a:p>
            <a:pPr algn="ctr"/>
            <a:r>
              <a:rPr lang="es-ES" sz="2000" b="1" dirty="0"/>
              <a:t>Telecomunicaciones Informática y Biomédica</a:t>
            </a:r>
          </a:p>
          <a:p>
            <a:pPr algn="ctr"/>
            <a:r>
              <a:rPr lang="es-ES" sz="2000" b="1" dirty="0"/>
              <a:t>Departamento de Ingeniería Informática</a:t>
            </a:r>
          </a:p>
        </p:txBody>
      </p:sp>
    </p:spTree>
    <p:extLst>
      <p:ext uri="{BB962C8B-B14F-4D97-AF65-F5344CB8AC3E}">
        <p14:creationId xmlns:p14="http://schemas.microsoft.com/office/powerpoint/2010/main" val="773100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8D981-AC26-2E1D-9E3F-9D2BE9A315E7}"/>
            </a:ext>
          </a:extLst>
        </p:cNvPr>
        <p:cNvGrpSpPr/>
        <p:nvPr/>
      </p:nvGrpSpPr>
      <p:grpSpPr>
        <a:xfrm>
          <a:off x="0" y="0"/>
          <a:ext cx="0" cy="0"/>
          <a:chOff x="0" y="0"/>
          <a:chExt cx="0" cy="0"/>
        </a:xfrm>
      </p:grpSpPr>
      <p:pic>
        <p:nvPicPr>
          <p:cNvPr id="2051" name="Picture 3">
            <a:extLst>
              <a:ext uri="{FF2B5EF4-FFF2-40B4-BE49-F238E27FC236}">
                <a16:creationId xmlns:a16="http://schemas.microsoft.com/office/drawing/2014/main" id="{0A4EDB5B-E429-9885-B01B-9E08AAF71B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5657" y="0"/>
            <a:ext cx="7668344" cy="101146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1 Título">
            <a:extLst>
              <a:ext uri="{FF2B5EF4-FFF2-40B4-BE49-F238E27FC236}">
                <a16:creationId xmlns:a16="http://schemas.microsoft.com/office/drawing/2014/main" id="{2224DB92-AAF0-6D1D-2E97-C7271CD6A768}"/>
              </a:ext>
            </a:extLst>
          </p:cNvPr>
          <p:cNvSpPr>
            <a:spLocks noGrp="1"/>
          </p:cNvSpPr>
          <p:nvPr>
            <p:ph type="title"/>
          </p:nvPr>
        </p:nvSpPr>
        <p:spPr>
          <a:xfrm>
            <a:off x="2555776" y="-66607"/>
            <a:ext cx="5410944" cy="1143000"/>
          </a:xfrm>
        </p:spPr>
        <p:txBody>
          <a:bodyPr>
            <a:normAutofit/>
          </a:bodyPr>
          <a:lstStyle/>
          <a:p>
            <a:r>
              <a:rPr lang="es-ES" sz="3200" b="1" dirty="0">
                <a:solidFill>
                  <a:schemeClr val="bg1"/>
                </a:solidFill>
              </a:rPr>
              <a:t>Preguntas</a:t>
            </a:r>
            <a:endParaRPr lang="es-ES" sz="3200" dirty="0">
              <a:solidFill>
                <a:schemeClr val="bg1"/>
              </a:solidFill>
            </a:endParaRPr>
          </a:p>
        </p:txBody>
      </p:sp>
      <p:pic>
        <p:nvPicPr>
          <p:cNvPr id="6" name="Imagen 5">
            <a:extLst>
              <a:ext uri="{FF2B5EF4-FFF2-40B4-BE49-F238E27FC236}">
                <a16:creationId xmlns:a16="http://schemas.microsoft.com/office/drawing/2014/main" id="{69FE9503-C67A-709E-5A30-37C8D8DE3F02}"/>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4235" t="5471" r="70358" b="63070"/>
          <a:stretch/>
        </p:blipFill>
        <p:spPr>
          <a:xfrm>
            <a:off x="303249" y="0"/>
            <a:ext cx="921475" cy="883080"/>
          </a:xfrm>
          <a:prstGeom prst="rect">
            <a:avLst/>
          </a:prstGeom>
        </p:spPr>
      </p:pic>
      <p:sp>
        <p:nvSpPr>
          <p:cNvPr id="4" name="Marcador de número de diapositiva 3">
            <a:extLst>
              <a:ext uri="{FF2B5EF4-FFF2-40B4-BE49-F238E27FC236}">
                <a16:creationId xmlns:a16="http://schemas.microsoft.com/office/drawing/2014/main" id="{D170727B-DD45-F881-391D-EE664D2FFAFB}"/>
              </a:ext>
            </a:extLst>
          </p:cNvPr>
          <p:cNvSpPr>
            <a:spLocks noGrp="1"/>
          </p:cNvSpPr>
          <p:nvPr>
            <p:ph type="sldNum" sz="quarter" idx="12"/>
          </p:nvPr>
        </p:nvSpPr>
        <p:spPr/>
        <p:txBody>
          <a:bodyPr/>
          <a:lstStyle/>
          <a:p>
            <a:fld id="{132FADFE-3B8F-471C-ABF0-DBC7717ECBBC}" type="slidenum">
              <a:rPr lang="es-ES" smtClean="0"/>
              <a:t>25</a:t>
            </a:fld>
            <a:endParaRPr lang="es-ES"/>
          </a:p>
        </p:txBody>
      </p:sp>
      <p:sp>
        <p:nvSpPr>
          <p:cNvPr id="7" name="CuadroTexto 6">
            <a:extLst>
              <a:ext uri="{FF2B5EF4-FFF2-40B4-BE49-F238E27FC236}">
                <a16:creationId xmlns:a16="http://schemas.microsoft.com/office/drawing/2014/main" id="{5583EE2F-1941-3A27-9173-1CFBA3FB0728}"/>
              </a:ext>
            </a:extLst>
          </p:cNvPr>
          <p:cNvSpPr txBox="1"/>
          <p:nvPr/>
        </p:nvSpPr>
        <p:spPr>
          <a:xfrm>
            <a:off x="303249" y="1412776"/>
            <a:ext cx="8383551" cy="3816429"/>
          </a:xfrm>
          <a:prstGeom prst="rect">
            <a:avLst/>
          </a:prstGeom>
          <a:noFill/>
        </p:spPr>
        <p:txBody>
          <a:bodyPr wrap="square">
            <a:spAutoFit/>
          </a:bodyPr>
          <a:lstStyle/>
          <a:p>
            <a:pPr marL="457200" indent="-457200">
              <a:buAutoNum type="arabicPeriod"/>
            </a:pPr>
            <a:r>
              <a:rPr lang="es-ES" sz="2000" dirty="0">
                <a:latin typeface="Arial" panose="020B0604020202020204" pitchFamily="34" charset="0"/>
                <a:cs typeface="Arial" panose="020B0604020202020204" pitchFamily="34" charset="0"/>
              </a:rPr>
              <a:t>Usted tiene en cuenta en su implementación salvar las trazas de todas las acciones realizadas en el Sistema Informático como parte de la Seguridad.</a:t>
            </a:r>
          </a:p>
          <a:p>
            <a:r>
              <a:rPr lang="es-ES" dirty="0"/>
              <a:t>2</a:t>
            </a:r>
            <a:r>
              <a:rPr lang="es-ES" dirty="0">
                <a:latin typeface="Arial" panose="020B0604020202020204" pitchFamily="34" charset="0"/>
                <a:cs typeface="Arial" panose="020B0604020202020204" pitchFamily="34" charset="0"/>
              </a:rPr>
              <a:t>.  En el Documento de su Tesis, usted plantea en el ámbito nacional, aunque se han realizado investigaciones en el cálculo de transporte de sedimentos en costas cubanas utilizando estos mismos modelos internacionales, no hay evidencia clara de que se haya desarrollado un software nativo cubano específicamente para este propósito.</a:t>
            </a:r>
            <a:endParaRPr lang="en-US" dirty="0">
              <a:latin typeface="Arial" panose="020B0604020202020204" pitchFamily="34" charset="0"/>
              <a:cs typeface="Arial" panose="020B0604020202020204" pitchFamily="34" charset="0"/>
            </a:endParaRPr>
          </a:p>
          <a:p>
            <a:r>
              <a:rPr lang="es-ES" dirty="0">
                <a:latin typeface="Arial" panose="020B0604020202020204" pitchFamily="34" charset="0"/>
                <a:cs typeface="Arial" panose="020B0604020202020204" pitchFamily="34" charset="0"/>
              </a:rPr>
              <a:t>Si es as</a:t>
            </a:r>
            <a:r>
              <a:rPr lang="es-MX" dirty="0">
                <a:latin typeface="Arial" panose="020B0604020202020204" pitchFamily="34" charset="0"/>
                <a:cs typeface="Arial" panose="020B0604020202020204" pitchFamily="34" charset="0"/>
              </a:rPr>
              <a:t>í</a:t>
            </a:r>
            <a:r>
              <a:rPr lang="es-ES" dirty="0">
                <a:latin typeface="Arial" panose="020B0604020202020204" pitchFamily="34" charset="0"/>
                <a:cs typeface="Arial" panose="020B0604020202020204" pitchFamily="34" charset="0"/>
              </a:rPr>
              <a:t>, porque los investigadores no trabajan directamente con el Delft3D si es de </a:t>
            </a:r>
            <a:r>
              <a:rPr lang="es-ES" dirty="0" err="1">
                <a:latin typeface="Arial" panose="020B0604020202020204" pitchFamily="34" charset="0"/>
                <a:cs typeface="Arial" panose="020B0604020202020204" pitchFamily="34" charset="0"/>
              </a:rPr>
              <a:t>codigo</a:t>
            </a:r>
            <a:r>
              <a:rPr lang="es-ES" dirty="0">
                <a:latin typeface="Arial" panose="020B0604020202020204" pitchFamily="34" charset="0"/>
                <a:cs typeface="Arial" panose="020B0604020202020204" pitchFamily="34" charset="0"/>
              </a:rPr>
              <a:t> abierto.</a:t>
            </a:r>
            <a:endParaRPr lang="en-US" dirty="0">
              <a:latin typeface="Arial" panose="020B0604020202020204" pitchFamily="34" charset="0"/>
              <a:cs typeface="Arial" panose="020B0604020202020204" pitchFamily="34" charset="0"/>
            </a:endParaRPr>
          </a:p>
          <a:p>
            <a:r>
              <a:rPr lang="es-ES" dirty="0">
                <a:latin typeface="Arial" panose="020B0604020202020204" pitchFamily="34" charset="0"/>
                <a:cs typeface="Arial" panose="020B0604020202020204" pitchFamily="34" charset="0"/>
              </a:rPr>
              <a:t>Responda el porque no se realizaron modificaciones al mismo para el Contexto cubano y si Como futuro Ingeniero ¿se valor</a:t>
            </a:r>
            <a:r>
              <a:rPr lang="es-MX" dirty="0" err="1">
                <a:latin typeface="Arial" panose="020B0604020202020204" pitchFamily="34" charset="0"/>
                <a:cs typeface="Arial" panose="020B0604020202020204" pitchFamily="34" charset="0"/>
              </a:rPr>
              <a:t>ó</a:t>
            </a:r>
            <a:r>
              <a:rPr lang="es-MX" dirty="0">
                <a:latin typeface="Arial" panose="020B0604020202020204" pitchFamily="34" charset="0"/>
                <a:cs typeface="Arial" panose="020B0604020202020204" pitchFamily="34" charset="0"/>
              </a:rPr>
              <a:t> </a:t>
            </a:r>
            <a:r>
              <a:rPr lang="es-ES" dirty="0">
                <a:latin typeface="Arial" panose="020B0604020202020204" pitchFamily="34" charset="0"/>
                <a:cs typeface="Arial" panose="020B0604020202020204" pitchFamily="34" charset="0"/>
              </a:rPr>
              <a:t>esta Propuesta con su Cliente? </a:t>
            </a:r>
            <a:endParaRPr lang="en-US" dirty="0">
              <a:latin typeface="Arial" panose="020B0604020202020204" pitchFamily="34" charset="0"/>
              <a:cs typeface="Arial" panose="020B0604020202020204" pitchFamily="34" charset="0"/>
            </a:endParaRPr>
          </a:p>
          <a:p>
            <a:pPr marL="457200" indent="-457200">
              <a:buAutoNum type="arabicPeriod"/>
            </a:pP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47127183"/>
      </p:ext>
    </p:extLst>
  </p:cSld>
  <p:clrMapOvr>
    <a:masterClrMapping/>
  </p:clrMapOvr>
</p:sld>
</file>

<file path=ppt/theme/theme1.xml><?xml version="1.0" encoding="utf-8"?>
<a:theme xmlns:a="http://schemas.openxmlformats.org/drawingml/2006/main" name="Tema de Office">
  <a:themeElements>
    <a:clrScheme name="Oficin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icin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cin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1738</TotalTime>
  <Words>1006</Words>
  <Application>Microsoft Office PowerPoint</Application>
  <PresentationFormat>Presentación en pantalla (4:3)</PresentationFormat>
  <Paragraphs>152</Paragraphs>
  <Slides>25</Slides>
  <Notes>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25</vt:i4>
      </vt:variant>
    </vt:vector>
  </HeadingPairs>
  <TitlesOfParts>
    <vt:vector size="32" baseType="lpstr">
      <vt:lpstr>Arial</vt:lpstr>
      <vt:lpstr>Calibri</vt:lpstr>
      <vt:lpstr>quote-cjk-patch</vt:lpstr>
      <vt:lpstr>Symbol</vt:lpstr>
      <vt:lpstr>Times New Roman</vt:lpstr>
      <vt:lpstr>Wingdings</vt:lpstr>
      <vt:lpstr>Tema de Office</vt:lpstr>
      <vt:lpstr>Presentación de PowerPoint</vt:lpstr>
      <vt:lpstr>Introducción</vt:lpstr>
      <vt:lpstr>Situación Problémica</vt:lpstr>
      <vt:lpstr>Sistemas Realizados en el Ámbito Internacional</vt:lpstr>
      <vt:lpstr>Sistemas Realizados en el Ámbito Nacional</vt:lpstr>
      <vt:lpstr>Objetivo General</vt:lpstr>
      <vt:lpstr>Objetivo Específico</vt:lpstr>
      <vt:lpstr>Objeto de Estudio</vt:lpstr>
      <vt:lpstr>Campo de Acción</vt:lpstr>
      <vt:lpstr>Hipótesis</vt:lpstr>
      <vt:lpstr>Herramientas</vt:lpstr>
      <vt:lpstr>Metodología de Desarrollo</vt:lpstr>
      <vt:lpstr>Propuesta del Sistema</vt:lpstr>
      <vt:lpstr>Funcionalidades del Sistema</vt:lpstr>
      <vt:lpstr>Historias Técnicas</vt:lpstr>
      <vt:lpstr>Historias de Usuarios</vt:lpstr>
      <vt:lpstr>Arquitectura del Sistema</vt:lpstr>
      <vt:lpstr>Diagrama de Clase</vt:lpstr>
      <vt:lpstr>Diagrama de Base de Datos</vt:lpstr>
      <vt:lpstr>Pruebas de Aceptación</vt:lpstr>
      <vt:lpstr>Interfaz Del Sistema</vt:lpstr>
      <vt:lpstr>Conclusiones</vt:lpstr>
      <vt:lpstr>Recomendaciones</vt:lpstr>
      <vt:lpstr>Presentación de PowerPoint</vt:lpstr>
      <vt:lpstr>Preguntas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Adán Rául</dc:creator>
  <cp:lastModifiedBy>Murray Farrar</cp:lastModifiedBy>
  <cp:revision>235</cp:revision>
  <dcterms:created xsi:type="dcterms:W3CDTF">2018-09-07T22:19:46Z</dcterms:created>
  <dcterms:modified xsi:type="dcterms:W3CDTF">2025-06-26T12:59:48Z</dcterms:modified>
</cp:coreProperties>
</file>