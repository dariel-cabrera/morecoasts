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1"/>
  </p:notesMasterIdLst>
  <p:sldIdLst>
    <p:sldId id="257" r:id="rId2"/>
    <p:sldId id="288" r:id="rId3"/>
    <p:sldId id="317" r:id="rId4"/>
    <p:sldId id="306" r:id="rId5"/>
    <p:sldId id="318" r:id="rId6"/>
    <p:sldId id="319" r:id="rId7"/>
    <p:sldId id="270" r:id="rId8"/>
    <p:sldId id="320" r:id="rId9"/>
    <p:sldId id="321" r:id="rId10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70FA"/>
    <a:srgbClr val="B7DBFF"/>
    <a:srgbClr val="85C2FF"/>
    <a:srgbClr val="3F9FFF"/>
    <a:srgbClr val="ABD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56" d="100"/>
          <a:sy n="56" d="100"/>
        </p:scale>
        <p:origin x="54" y="3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803A06-23BD-4449-A1D1-6ADBCF91F056}" type="datetimeFigureOut">
              <a:rPr lang="es-ES_tradnl" smtClean="0"/>
              <a:t>31/03/2025</a:t>
            </a:fld>
            <a:endParaRPr lang="es-ES_tradn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52D296-8787-492E-96CD-01130DD1981D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28411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63F9C-36B4-4ECD-BECC-604E57EA70AC}" type="datetime1">
              <a:rPr lang="es-ES" smtClean="0"/>
              <a:t>31/03/2025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D0996-3F59-44A3-A62A-DD95A94764C7}" type="datetime1">
              <a:rPr lang="es-ES" smtClean="0"/>
              <a:t>31/03/2025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120030-6113-4ABE-B7D6-521760BB2F2A}" type="datetime1">
              <a:rPr lang="es-ES" smtClean="0"/>
              <a:t>31/03/2025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D0488-9BF8-4343-A7C8-334439AC023A}" type="datetime1">
              <a:rPr lang="es-ES" smtClean="0"/>
              <a:t>31/03/2025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DCCD4-540D-42E8-A1D5-532A6F28BA54}" type="datetime1">
              <a:rPr lang="es-ES" smtClean="0"/>
              <a:t>31/03/2025</a:t>
            </a:fld>
            <a:endParaRPr lang="es-E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CA53-11C7-4627-936A-79881176CA9F}" type="datetime1">
              <a:rPr lang="es-ES" smtClean="0"/>
              <a:t>31/03/2025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FE5E1-20AD-4F66-9853-038A786E08A1}" type="datetime1">
              <a:rPr lang="es-ES" smtClean="0"/>
              <a:t>31/03/2025</a:t>
            </a:fld>
            <a:endParaRPr lang="es-E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70BC8-43CE-409A-BE0C-FBE54D4B7D7F}" type="datetime1">
              <a:rPr lang="es-ES" smtClean="0"/>
              <a:t>31/03/2025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853D2-8CEB-49C0-B2DA-82EEA4C831AA}" type="datetime1">
              <a:rPr lang="es-ES" smtClean="0"/>
              <a:t>31/03/2025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EFBCE-E3F3-42E3-AA42-D22E0C63B5E5}" type="datetime1">
              <a:rPr lang="es-ES" smtClean="0"/>
              <a:t>31/03/2025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9FFDC-06D8-42F3-B15A-134344304A07}" type="datetime1">
              <a:rPr lang="es-ES" smtClean="0"/>
              <a:t>31/03/2025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55BF71-A5A3-4F60-820F-A4D41CCBAC58}" type="datetime1">
              <a:rPr lang="es-ES" smtClean="0"/>
              <a:t>31/03/2025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28600" y="1517"/>
            <a:ext cx="3816424" cy="68575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1 CuadroTexto"/>
          <p:cNvSpPr txBox="1"/>
          <p:nvPr/>
        </p:nvSpPr>
        <p:spPr>
          <a:xfrm>
            <a:off x="3129897" y="2638266"/>
            <a:ext cx="58446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4000" b="1" dirty="0"/>
              <a:t>Trabajo de Diploma</a:t>
            </a:r>
          </a:p>
        </p:txBody>
      </p:sp>
      <p:sp>
        <p:nvSpPr>
          <p:cNvPr id="8" name="1 CuadroTexto"/>
          <p:cNvSpPr txBox="1"/>
          <p:nvPr/>
        </p:nvSpPr>
        <p:spPr>
          <a:xfrm>
            <a:off x="3008208" y="5346413"/>
            <a:ext cx="61357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/>
              <a:t>Autor: </a:t>
            </a:r>
            <a:r>
              <a:rPr lang="es-ES" sz="2000" dirty="0"/>
              <a:t>Dariel Enmanuel Cabrera López</a:t>
            </a:r>
          </a:p>
          <a:p>
            <a:r>
              <a:rPr lang="es-ES" sz="2000" b="1" dirty="0"/>
              <a:t>Tutor:  </a:t>
            </a:r>
            <a:r>
              <a:rPr lang="es-CU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Dr.C</a:t>
            </a:r>
            <a:r>
              <a:rPr lang="es-CU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s-CU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Dionis</a:t>
            </a:r>
            <a:r>
              <a:rPr lang="es-CU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López Ramos</a:t>
            </a:r>
            <a:r>
              <a:rPr lang="es-CU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</a:p>
          <a:p>
            <a:endParaRPr lang="es-CU" sz="1800" dirty="0">
              <a:solidFill>
                <a:srgbClr val="000000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/>
            <a:r>
              <a:rPr lang="es-CU" dirty="0">
                <a:solidFill>
                  <a:srgbClr val="000000"/>
                </a:solidFill>
                <a:latin typeface="Arial" panose="020B0604020202020204" pitchFamily="34" charset="0"/>
              </a:rPr>
              <a:t>Santiago de Cuba</a:t>
            </a:r>
            <a:endParaRPr lang="es-ES" sz="2000" dirty="0"/>
          </a:p>
          <a:p>
            <a:pPr algn="ctr"/>
            <a:r>
              <a:rPr lang="es-ES" sz="2000" dirty="0"/>
              <a:t>2025</a:t>
            </a:r>
          </a:p>
        </p:txBody>
      </p:sp>
      <p:sp>
        <p:nvSpPr>
          <p:cNvPr id="10" name="1 CuadroTexto"/>
          <p:cNvSpPr txBox="1"/>
          <p:nvPr/>
        </p:nvSpPr>
        <p:spPr>
          <a:xfrm>
            <a:off x="3008208" y="3402690"/>
            <a:ext cx="6088051" cy="17558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U" sz="2400" b="1" dirty="0"/>
              <a:t>Tema:</a:t>
            </a:r>
          </a:p>
          <a:p>
            <a:pPr marL="6350" indent="-6350" algn="just">
              <a:lnSpc>
                <a:spcPct val="146000"/>
              </a:lnSpc>
              <a:spcAft>
                <a:spcPts val="635"/>
              </a:spcAft>
            </a:pPr>
            <a:r>
              <a:rPr lang="es-CU" sz="20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"Sistema Informático para la Gestión del Cálculo del Transporte de Sedimentos en Costas Sur-Orientales" 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060" y="43252"/>
            <a:ext cx="1513539" cy="1513539"/>
          </a:xfrm>
          <a:prstGeom prst="rect">
            <a:avLst/>
          </a:prstGeom>
        </p:spPr>
      </p:pic>
      <p:sp>
        <p:nvSpPr>
          <p:cNvPr id="3" name="Rectángulo 2"/>
          <p:cNvSpPr/>
          <p:nvPr/>
        </p:nvSpPr>
        <p:spPr>
          <a:xfrm>
            <a:off x="3203848" y="1483007"/>
            <a:ext cx="5940151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sz="2000" b="1" dirty="0"/>
              <a:t>Facultad de Ingeniería en </a:t>
            </a:r>
          </a:p>
          <a:p>
            <a:pPr algn="ctr"/>
            <a:r>
              <a:rPr lang="es-ES" sz="2000" b="1" dirty="0"/>
              <a:t>Telecomunicaciones Informática y Biomédica</a:t>
            </a:r>
          </a:p>
          <a:p>
            <a:pPr algn="ctr"/>
            <a:r>
              <a:rPr lang="es-ES" sz="2000" b="1" dirty="0"/>
              <a:t>Departamento de Ingeniería Informática</a:t>
            </a:r>
          </a:p>
        </p:txBody>
      </p:sp>
    </p:spTree>
    <p:extLst>
      <p:ext uri="{BB962C8B-B14F-4D97-AF65-F5344CB8AC3E}">
        <p14:creationId xmlns:p14="http://schemas.microsoft.com/office/powerpoint/2010/main" val="119284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Introducción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2</a:t>
            </a:fld>
            <a:endParaRPr lang="es-E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7E0CA263-A26E-47B3-8939-E857A3B7EEF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5176"/>
            <a:ext cx="4283968" cy="347872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F6420590-6BFE-40D2-81A6-73A5585881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3968" y="3556620"/>
            <a:ext cx="4860430" cy="3301380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95C36BC4-AA33-43B0-A30B-1C63B6E7A7EA}"/>
              </a:ext>
            </a:extLst>
          </p:cNvPr>
          <p:cNvSpPr txBox="1"/>
          <p:nvPr/>
        </p:nvSpPr>
        <p:spPr>
          <a:xfrm>
            <a:off x="0" y="4884144"/>
            <a:ext cx="428396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/>
              <a:t>La erosión costera = la pérdida de la arena de las playas o la disminución de la línea de costa</a:t>
            </a:r>
          </a:p>
        </p:txBody>
      </p:sp>
    </p:spTree>
    <p:extLst>
      <p:ext uri="{BB962C8B-B14F-4D97-AF65-F5344CB8AC3E}">
        <p14:creationId xmlns:p14="http://schemas.microsoft.com/office/powerpoint/2010/main" val="1945789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Introducción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3</a:t>
            </a:fld>
            <a:endParaRPr lang="es-E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84F405F-280E-410D-A83D-4E22032214B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425" y="1076393"/>
            <a:ext cx="4932040" cy="3538375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EE3625EE-4DDB-4F05-AEAB-DE686BC63222}"/>
              </a:ext>
            </a:extLst>
          </p:cNvPr>
          <p:cNvSpPr txBox="1"/>
          <p:nvPr/>
        </p:nvSpPr>
        <p:spPr>
          <a:xfrm>
            <a:off x="0" y="5026962"/>
            <a:ext cx="871740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/>
              <a:t>Transporte de sedimentos es el movimiento de partículas como arena y grava, es crucial para la formación de playas pero también puede contribuir a la erosión costera</a:t>
            </a:r>
            <a:endParaRPr lang="es-CU" sz="2400" dirty="0"/>
          </a:p>
        </p:txBody>
      </p:sp>
    </p:spTree>
    <p:extLst>
      <p:ext uri="{BB962C8B-B14F-4D97-AF65-F5344CB8AC3E}">
        <p14:creationId xmlns:p14="http://schemas.microsoft.com/office/powerpoint/2010/main" val="2806781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Datos Globales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211960" y="1138774"/>
            <a:ext cx="4932040" cy="5719226"/>
          </a:xfrm>
        </p:spPr>
        <p:txBody>
          <a:bodyPr>
            <a:normAutofit/>
          </a:bodyPr>
          <a:lstStyle/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25 % de las costas del paneta tienen nivel de erosión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E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ES" sz="2400" dirty="0"/>
              <a:t>15 de las 20 ciudades con mayor población en el mundo están ubicadas en las costas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endParaRPr lang="es-ES" sz="2400" dirty="0"/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ES" sz="2400" dirty="0"/>
              <a:t>10% de la población mundial vive o trabaja en regiones costeras bajas.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endParaRPr lang="es-ES" sz="2400" dirty="0"/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ES" sz="2400" dirty="0"/>
              <a:t>Se estima que 2050 los niveles de erosión aumentarán un 13% y 25 para 2100. </a:t>
            </a: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4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B84D8CB-4594-485E-9229-CBEA8328BB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56792"/>
            <a:ext cx="4067944" cy="403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8501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Datos Nacionales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211960" y="1138774"/>
            <a:ext cx="4932040" cy="5719226"/>
          </a:xfrm>
        </p:spPr>
        <p:txBody>
          <a:bodyPr>
            <a:normAutofit/>
          </a:bodyPr>
          <a:lstStyle/>
          <a:p>
            <a:pPr marL="571500" marR="0" lvl="0" indent="-57150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85% de las playas arenosas cubanas presentan indicios de erosión: 23 con erosión intensa y 195 con erosión moderada en 2018</a:t>
            </a:r>
          </a:p>
          <a:p>
            <a:pPr marL="571500" marR="0" lvl="0" indent="-57150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lang="es-ES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571500" marR="0" lvl="0" indent="-57150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De 505 playas, se han evaluado 247 y se ha comprobado que 208 (84.2 %) presentan indicios de erosión en 2023</a:t>
            </a: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5</a:t>
            </a:fld>
            <a:endParaRPr lang="es-E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EE0580A-4B01-4315-BBF1-9BF1F9B82F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591099"/>
            <a:ext cx="4211960" cy="426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687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Problema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351833" y="1931186"/>
            <a:ext cx="4644008" cy="4525963"/>
          </a:xfrm>
        </p:spPr>
        <p:txBody>
          <a:bodyPr>
            <a:normAutofit/>
          </a:bodyPr>
          <a:lstStyle/>
          <a:p>
            <a:pPr algn="just">
              <a:spcAft>
                <a:spcPts val="1000"/>
              </a:spcAft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Insuficiente control en la gestión de la información referente al cálculo del transporte de sedimentos en las costas cubanas de la región sur-oriental para garantizar acciones efectivas que prevengan los efectos de la erosión costera.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6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63C1586-EF60-4D2D-A593-94774E29305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6" y="1931186"/>
            <a:ext cx="4392488" cy="3722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129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Objetivo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324642" y="1783166"/>
            <a:ext cx="4824536" cy="4525963"/>
          </a:xfrm>
        </p:spPr>
        <p:txBody>
          <a:bodyPr>
            <a:normAutofit/>
          </a:bodyPr>
          <a:lstStyle/>
          <a:p>
            <a:pPr algn="just"/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Desarrollar un sistema informático para la gestión de la información que permita calcular, editar y almacenar los datos para el cálculo del transporte de sedimentos en la región sur-oriental</a:t>
            </a:r>
            <a:r>
              <a:rPr lang="es-ES" sz="16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.</a:t>
            </a:r>
            <a:r>
              <a:rPr lang="es-ES" sz="16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 </a:t>
            </a:r>
            <a:endParaRPr lang="es-C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7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D9C966-5728-4CDE-95FE-3BFF476F1C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616" y="1829257"/>
            <a:ext cx="4311737" cy="3502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724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Objeto de Estudio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324642" y="1783166"/>
            <a:ext cx="4824536" cy="4525963"/>
          </a:xfrm>
        </p:spPr>
        <p:txBody>
          <a:bodyPr>
            <a:normAutofit/>
          </a:bodyPr>
          <a:lstStyle/>
          <a:p>
            <a:pPr algn="just"/>
            <a:r>
              <a:rPr lang="es-ES" sz="2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E</a:t>
            </a: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l proceso de gestión de la información referente al cálculo del transporte de sedimentos en las costas cubanas de la región sur-oriental atendidas por la empresa GEOCUBA</a:t>
            </a:r>
            <a:endParaRPr lang="es-C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s-C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8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D9C966-5728-4CDE-95FE-3BFF476F1C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616" y="1829257"/>
            <a:ext cx="4311737" cy="3502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455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Campo de Acción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324642" y="1783166"/>
            <a:ext cx="4824536" cy="4525963"/>
          </a:xfrm>
        </p:spPr>
        <p:txBody>
          <a:bodyPr>
            <a:normAutofit/>
          </a:bodyPr>
          <a:lstStyle/>
          <a:p>
            <a:pPr algn="just"/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Los sistemas de gestión de la información asociados al cálculo del transporte de sedimentos en las costas cubanas de la región sur-oriental atendidas por la empresa GEOCUBA </a:t>
            </a:r>
            <a:endParaRPr lang="es-C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s-C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9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D9C966-5728-4CDE-95FE-3BFF476F1C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616" y="1829257"/>
            <a:ext cx="4311737" cy="3502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11299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icin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cin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icin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1347</TotalTime>
  <Words>346</Words>
  <Application>Microsoft Office PowerPoint</Application>
  <PresentationFormat>Presentación en pantalla (4:3)</PresentationFormat>
  <Paragraphs>63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Arial</vt:lpstr>
      <vt:lpstr>Calibri</vt:lpstr>
      <vt:lpstr>Times New Roman</vt:lpstr>
      <vt:lpstr>Wingdings</vt:lpstr>
      <vt:lpstr>Tema de Office</vt:lpstr>
      <vt:lpstr>Presentación de PowerPoint</vt:lpstr>
      <vt:lpstr>Introducción</vt:lpstr>
      <vt:lpstr>Introducción</vt:lpstr>
      <vt:lpstr>Datos Globales</vt:lpstr>
      <vt:lpstr>Datos Nacionales</vt:lpstr>
      <vt:lpstr>Problema</vt:lpstr>
      <vt:lpstr>Objetivo</vt:lpstr>
      <vt:lpstr>Objeto de Estudio</vt:lpstr>
      <vt:lpstr>Campo de Acción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Adán Rául</dc:creator>
  <cp:lastModifiedBy>TitoCode</cp:lastModifiedBy>
  <cp:revision>215</cp:revision>
  <dcterms:created xsi:type="dcterms:W3CDTF">2018-09-07T22:19:46Z</dcterms:created>
  <dcterms:modified xsi:type="dcterms:W3CDTF">2025-03-31T12:47:25Z</dcterms:modified>
</cp:coreProperties>
</file>